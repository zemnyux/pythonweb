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commentAuthors.xml" ContentType="application/vnd.openxmlformats-officedocument.presentationml.commentAuthor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9" r:id="rId6"/>
    <p:sldId id="274" r:id="rId7"/>
    <p:sldId id="752" r:id="rId8"/>
    <p:sldId id="753" r:id="rId9"/>
    <p:sldId id="754" r:id="rId10"/>
    <p:sldId id="755" r:id="rId11"/>
    <p:sldId id="756" r:id="rId12"/>
    <p:sldId id="757" r:id="rId13"/>
    <p:sldId id="758" r:id="rId14"/>
    <p:sldId id="781" r:id="rId15"/>
    <p:sldId id="774" r:id="rId16"/>
    <p:sldId id="759" r:id="rId17"/>
    <p:sldId id="760" r:id="rId18"/>
    <p:sldId id="761" r:id="rId19"/>
    <p:sldId id="762" r:id="rId20"/>
    <p:sldId id="775" r:id="rId21"/>
    <p:sldId id="776" r:id="rId22"/>
    <p:sldId id="777" r:id="rId23"/>
    <p:sldId id="778" r:id="rId24"/>
    <p:sldId id="779" r:id="rId25"/>
    <p:sldId id="780" r:id="rId26"/>
    <p:sldId id="763" r:id="rId27"/>
    <p:sldId id="764" r:id="rId28"/>
    <p:sldId id="765" r:id="rId29"/>
    <p:sldId id="766" r:id="rId30"/>
    <p:sldId id="767" r:id="rId31"/>
    <p:sldId id="768" r:id="rId32"/>
    <p:sldId id="769" r:id="rId33"/>
  </p:sldIdLst>
  <p:sldSz cx="9144000" cy="6858000" type="screen4x3"/>
  <p:notesSz cx="6858000" cy="9144000"/>
  <p:defaultTextStyle>
    <a:defPPr>
      <a:defRPr lang="en-GB"/>
    </a:defPPr>
    <a:lvl1pPr marL="0" lvl="0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Microsoft YaHei" panose="020B0503020204020204" charset="-122"/>
        <a:cs typeface="+mn-cs"/>
      </a:defRPr>
    </a:lvl1pPr>
    <a:lvl2pPr marL="742950" lvl="1" indent="-28575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2pPr>
    <a:lvl3pPr marL="1143000" lvl="2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3pPr>
    <a:lvl4pPr marL="1600200" lvl="3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4pPr>
    <a:lvl5pPr marL="2057400" lvl="4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5pPr>
    <a:lvl6pPr marL="2286000" lvl="5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6pPr>
    <a:lvl7pPr marL="2743200" lvl="6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7pPr>
    <a:lvl8pPr marL="3200400" lvl="7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8pPr>
    <a:lvl9pPr marL="3657600" lvl="8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0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" initials="A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85" d="100"/>
          <a:sy n="85" d="100"/>
        </p:scale>
        <p:origin x="-780" y="-84"/>
      </p:cViewPr>
      <p:guideLst>
        <p:guide orient="horz" pos="2160"/>
        <p:guide pos="2908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gridSpacing cx="45004" cy="45004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18" Type="http://schemas.openxmlformats.org/officeDocument/2006/relationships/slide" Target="slides/slide14.xml"/><Relationship Id="rId13" Type="http://schemas.openxmlformats.org/officeDocument/2006/relationships/slide" Target="slides/slide9.xml"/><Relationship Id="rId39" Type="http://schemas.openxmlformats.org/officeDocument/2006/relationships/customXml" Target="../customXml/item2.xml"/><Relationship Id="rId34" Type="http://schemas.openxmlformats.org/officeDocument/2006/relationships/presProps" Target="presProps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33" Type="http://schemas.openxmlformats.org/officeDocument/2006/relationships/slide" Target="slides/slide29.xml"/><Relationship Id="rId25" Type="http://schemas.openxmlformats.org/officeDocument/2006/relationships/slide" Target="slides/slide21.xml"/><Relationship Id="rId17" Type="http://schemas.openxmlformats.org/officeDocument/2006/relationships/slide" Target="slides/slide13.xml"/><Relationship Id="rId12" Type="http://schemas.openxmlformats.org/officeDocument/2006/relationships/slide" Target="slides/slide8.xml"/><Relationship Id="rId38" Type="http://schemas.openxmlformats.org/officeDocument/2006/relationships/customXml" Target="../customXml/item1.xml"/><Relationship Id="rId29" Type="http://schemas.openxmlformats.org/officeDocument/2006/relationships/slide" Target="slides/slide25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6" Type="http://schemas.openxmlformats.org/officeDocument/2006/relationships/slide" Target="slides/slide12.xml"/><Relationship Id="rId6" Type="http://schemas.openxmlformats.org/officeDocument/2006/relationships/slide" Target="slides/slide2.xml"/><Relationship Id="rId37" Type="http://schemas.openxmlformats.org/officeDocument/2006/relationships/commentAuthors" Target="commentAuthors.xml"/><Relationship Id="rId32" Type="http://schemas.openxmlformats.org/officeDocument/2006/relationships/slide" Target="slides/slide28.xml"/><Relationship Id="rId24" Type="http://schemas.openxmlformats.org/officeDocument/2006/relationships/slide" Target="slides/slide20.xml"/><Relationship Id="rId11" Type="http://schemas.openxmlformats.org/officeDocument/2006/relationships/slide" Target="slides/slide7.xml"/><Relationship Id="rId1" Type="http://schemas.openxmlformats.org/officeDocument/2006/relationships/slideMaster" Target="slideMasters/slideMaster1.xml"/><Relationship Id="rId40" Type="http://schemas.openxmlformats.org/officeDocument/2006/relationships/customXml" Target="../customXml/item3.xml"/><Relationship Id="rId5" Type="http://schemas.openxmlformats.org/officeDocument/2006/relationships/notesMaster" Target="notesMasters/notesMaster1.xml"/><Relationship Id="rId36" Type="http://schemas.openxmlformats.org/officeDocument/2006/relationships/tableStyles" Target="tableStyles.xml"/><Relationship Id="rId28" Type="http://schemas.openxmlformats.org/officeDocument/2006/relationships/slide" Target="slides/slide24.xml"/><Relationship Id="rId23" Type="http://schemas.openxmlformats.org/officeDocument/2006/relationships/slide" Target="slides/slide19.xml"/><Relationship Id="rId15" Type="http://schemas.openxmlformats.org/officeDocument/2006/relationships/slide" Target="slides/slide11.xml"/><Relationship Id="rId31" Type="http://schemas.openxmlformats.org/officeDocument/2006/relationships/slide" Target="slides/slide27.xml"/><Relationship Id="rId19" Type="http://schemas.openxmlformats.org/officeDocument/2006/relationships/slide" Target="slides/slide15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4" Type="http://schemas.openxmlformats.org/officeDocument/2006/relationships/slide" Target="slides/slide1.xml"/><Relationship Id="rId35" Type="http://schemas.openxmlformats.org/officeDocument/2006/relationships/viewProps" Target="viewProps.xml"/><Relationship Id="rId30" Type="http://schemas.openxmlformats.org/officeDocument/2006/relationships/slide" Target="slides/slide26.xml"/><Relationship Id="rId27" Type="http://schemas.openxmlformats.org/officeDocument/2006/relationships/slide" Target="slides/slide23.xml"/><Relationship Id="rId22" Type="http://schemas.openxmlformats.org/officeDocument/2006/relationships/slide" Target="slides/slide18.xml"/><Relationship Id="rId14" Type="http://schemas.openxmlformats.org/officeDocument/2006/relationships/slide" Target="slides/slide10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Rounded Rectangle 3072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3075" name="Rounded Rectangle 3073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3076" name="Text Box 3074"/>
          <p:cNvSpPr txBox="1"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3077" name="Text Box 3075"/>
          <p:cNvSpPr txBox="1"/>
          <p:nvPr/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3078" name="Slide Image Placeholder 3076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68825" cy="3425825"/>
          </a:xfrm>
          <a:prstGeom prst="rect">
            <a:avLst/>
          </a:prstGeom>
          <a:noFill/>
          <a:ln w="9360" cap="sq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9" name="Text Placeholder 3077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endParaRPr lang="en-GB" altLang="en-US"/>
          </a:p>
        </p:txBody>
      </p:sp>
      <p:sp>
        <p:nvSpPr>
          <p:cNvPr id="3080" name="Text Box 3078"/>
          <p:cNvSpPr txBox="1"/>
          <p:nvPr/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2" name="Slide Number Placeholder 3079"/>
          <p:cNvSpPr>
            <a:spLocks noGrp="1"/>
          </p:cNvSpPr>
          <p:nvPr>
            <p:ph type="sldNum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 eaLnBrk="1" fontAlgn="base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strike="noStrike" noProof="1" dirty="0" err="1">
                <a:latin typeface="Times New Roman" panose="02020603050405020304" pitchFamily="16" charset="0"/>
                <a:ea typeface="Arial Unicode MS" charset="-122"/>
                <a:cs typeface="+mn-cs"/>
              </a:rPr>
            </a:fld>
            <a:endParaRPr lang="ru-RU" altLang="x-none" sz="1200" strike="noStrike" noProof="1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1pPr>
    <a:lvl2pPr marL="742950" lvl="1" indent="-28575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2pPr>
    <a:lvl3pPr marL="1143000" lvl="2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3pPr>
    <a:lvl4pPr marL="1600200" lvl="3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4pPr>
    <a:lvl5pPr marL="2057400" lvl="4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5pPr>
    <a:lvl6pPr marL="2286000" lvl="5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6pPr>
    <a:lvl7pPr marL="2743200" lvl="6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7pPr>
    <a:lvl8pPr marL="3200400" lvl="7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8pPr>
    <a:lvl9pPr marL="3657600" lvl="8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solidFill>
                  <a:srgbClr val="000000"/>
                </a:solidFill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solidFill>
                <a:srgbClr val="000000"/>
              </a:solidFill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5123" name="Slide Image Placeholder 78848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5124" name="Text Placeholder 78849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266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1267" name="Slide Image Placeholder 8192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1268" name="Text Placeholder 8192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39939" name="Slide Image Placeholder 972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39940" name="Text Placeholder 972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39939" name="Slide Image Placeholder 972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39940" name="Text Placeholder 972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39939" name="Slide Image Placeholder 972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39940" name="Text Placeholder 972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39939" name="Slide Image Placeholder 972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39940" name="Text Placeholder 972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39939" name="Slide Image Placeholder 972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39940" name="Text Placeholder 972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39939" name="Slide Image Placeholder 972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39940" name="Text Placeholder 972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39939" name="Slide Image Placeholder 972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39940" name="Text Placeholder 972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39939" name="Slide Image Placeholder 972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39940" name="Text Placeholder 972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39939" name="Slide Image Placeholder 972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39940" name="Text Placeholder 972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39939" name="Slide Image Placeholder 972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39940" name="Text Placeholder 972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39939" name="Slide Image Placeholder 972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39940" name="Text Placeholder 972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39939" name="Slide Image Placeholder 972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39940" name="Text Placeholder 972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39939" name="Slide Image Placeholder 972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39940" name="Text Placeholder 972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39939" name="Slide Image Placeholder 972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39940" name="Text Placeholder 972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39939" name="Slide Image Placeholder 972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39940" name="Text Placeholder 972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39939" name="Slide Image Placeholder 972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39940" name="Text Placeholder 972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39939" name="Slide Image Placeholder 972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39940" name="Text Placeholder 972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39939" name="Slide Image Placeholder 972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39940" name="Text Placeholder 972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39939" name="Slide Image Placeholder 972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39940" name="Text Placeholder 972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39939" name="Slide Image Placeholder 972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39940" name="Text Placeholder 972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39939" name="Slide Image Placeholder 972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39940" name="Text Placeholder 972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39939" name="Slide Image Placeholder 972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39940" name="Text Placeholder 972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39939" name="Slide Image Placeholder 972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39940" name="Text Placeholder 972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39939" name="Slide Image Placeholder 972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39940" name="Text Placeholder 972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39939" name="Slide Image Placeholder 972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39940" name="Text Placeholder 972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39939" name="Slide Image Placeholder 972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39940" name="Text Placeholder 972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39939" name="Slide Image Placeholder 972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39940" name="Text Placeholder 972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1024"/>
          <p:cNvGrpSpPr/>
          <p:nvPr/>
        </p:nvGrpSpPr>
        <p:grpSpPr>
          <a:xfrm>
            <a:off x="0" y="152400"/>
            <a:ext cx="8683625" cy="6092825"/>
            <a:chOff x="0" y="96"/>
            <a:chExt cx="5470" cy="3838"/>
          </a:xfrm>
        </p:grpSpPr>
        <p:sp>
          <p:nvSpPr>
            <p:cNvPr id="1027" name="Rounded Rectangle 1025"/>
            <p:cNvSpPr/>
            <p:nvPr/>
          </p:nvSpPr>
          <p:spPr>
            <a:xfrm>
              <a:off x="240" y="336"/>
              <a:ext cx="5230" cy="3598"/>
            </a:xfrm>
            <a:prstGeom prst="roundRect">
              <a:avLst>
                <a:gd name="adj" fmla="val 1372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028" name="Freeform 1026"/>
            <p:cNvSpPr/>
            <p:nvPr/>
          </p:nvSpPr>
          <p:spPr>
            <a:xfrm>
              <a:off x="0" y="96"/>
              <a:ext cx="5374" cy="76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0" y="2"/>
                </a:cxn>
              </a:cxnLst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29" name="Straight Connector 1027"/>
            <p:cNvSpPr/>
            <p:nvPr/>
          </p:nvSpPr>
          <p:spPr>
            <a:xfrm>
              <a:off x="0" y="768"/>
              <a:ext cx="5086" cy="0"/>
            </a:xfrm>
            <a:prstGeom prst="line">
              <a:avLst/>
            </a:prstGeom>
            <a:ln w="381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030" name="Title 1028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altLang="en-US" dirty="0"/>
              <a:t>Для правки текста заголовка щелкните мышью</a:t>
            </a:r>
            <a:endParaRPr lang="en-GB" altLang="en-US" dirty="0"/>
          </a:p>
        </p:txBody>
      </p:sp>
      <p:sp>
        <p:nvSpPr>
          <p:cNvPr id="1031" name="Text Placeholder 1029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altLang="en-US" dirty="0"/>
              <a:t>Для правки структуры щелкните мышью</a:t>
            </a:r>
            <a:endParaRPr lang="en-GB" altLang="en-US" dirty="0"/>
          </a:p>
          <a:p>
            <a:pPr lvl="1"/>
            <a:r>
              <a:rPr lang="en-GB" altLang="en-US" dirty="0"/>
              <a:t>Второй уровень структуры</a:t>
            </a:r>
            <a:endParaRPr lang="en-GB" altLang="en-US" dirty="0"/>
          </a:p>
          <a:p>
            <a:pPr lvl="2"/>
            <a:r>
              <a:rPr lang="en-GB" altLang="en-US" dirty="0"/>
              <a:t>Третий уровень структуры</a:t>
            </a:r>
            <a:endParaRPr lang="en-GB" altLang="en-US" dirty="0"/>
          </a:p>
          <a:p>
            <a:pPr lvl="3"/>
            <a:r>
              <a:rPr lang="en-GB" altLang="en-US" dirty="0"/>
              <a:t>Четвёртый уровень структуры</a:t>
            </a:r>
            <a:endParaRPr lang="en-GB" altLang="en-US" dirty="0"/>
          </a:p>
          <a:p>
            <a:pPr lvl="4"/>
            <a:r>
              <a:rPr lang="en-GB" altLang="en-US" dirty="0"/>
              <a:t>Пятый уровень структуры</a:t>
            </a:r>
            <a:endParaRPr lang="en-GB" altLang="en-US" dirty="0"/>
          </a:p>
          <a:p>
            <a:pPr lvl="4"/>
            <a:r>
              <a:rPr lang="en-GB" altLang="en-US" dirty="0"/>
              <a:t>Шестой уровень структуры</a:t>
            </a:r>
            <a:endParaRPr lang="en-GB" altLang="en-US" dirty="0"/>
          </a:p>
          <a:p>
            <a:pPr lvl="4"/>
            <a:r>
              <a:rPr lang="en-GB" altLang="en-US" dirty="0"/>
              <a:t>Седьмой уровень структуры</a:t>
            </a:r>
            <a:endParaRPr lang="en-GB" altLang="en-US" dirty="0"/>
          </a:p>
          <a:p>
            <a:pPr lvl="4"/>
            <a:r>
              <a:rPr lang="en-GB" altLang="en-US" dirty="0"/>
              <a:t>Восьмой уровень структуры</a:t>
            </a:r>
            <a:endParaRPr lang="en-GB" altLang="en-US" dirty="0"/>
          </a:p>
          <a:p>
            <a:pPr lvl="4"/>
            <a:r>
              <a:rPr lang="en-GB" altLang="en-US" dirty="0"/>
              <a:t>Девятый уровень структуры</a:t>
            </a:r>
            <a:endParaRPr lang="en-GB" altLang="en-US" dirty="0"/>
          </a:p>
        </p:txBody>
      </p:sp>
      <p:sp>
        <p:nvSpPr>
          <p:cNvPr id="1032" name="Text Box 1030"/>
          <p:cNvSpPr txBox="1"/>
          <p:nvPr/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033" name="Text Box 103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1032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>
              <a:buFontTx/>
              <a:defRPr/>
            </a:lvl1pPr>
          </a:lstStyle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Group 2048"/>
          <p:cNvGrpSpPr/>
          <p:nvPr/>
        </p:nvGrpSpPr>
        <p:grpSpPr>
          <a:xfrm>
            <a:off x="0" y="927100"/>
            <a:ext cx="8988425" cy="4492625"/>
            <a:chOff x="0" y="584"/>
            <a:chExt cx="5662" cy="2830"/>
          </a:xfrm>
        </p:grpSpPr>
        <p:sp>
          <p:nvSpPr>
            <p:cNvPr id="2051" name="Rounded Rectangle 2049"/>
            <p:cNvSpPr/>
            <p:nvPr/>
          </p:nvSpPr>
          <p:spPr>
            <a:xfrm>
              <a:off x="432" y="1304"/>
              <a:ext cx="4654" cy="2110"/>
            </a:xfrm>
            <a:prstGeom prst="roundRect">
              <a:avLst>
                <a:gd name="adj" fmla="val 1666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2" name="Rectangles 2050"/>
            <p:cNvSpPr/>
            <p:nvPr/>
          </p:nvSpPr>
          <p:spPr>
            <a:xfrm>
              <a:off x="144" y="584"/>
              <a:ext cx="4510" cy="622"/>
            </a:xfrm>
            <a:prstGeom prst="rect">
              <a:avLst/>
            </a:prstGeom>
            <a:solidFill>
              <a:srgbClr val="FFFFFF"/>
            </a:solidFill>
            <a:ln w="5724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3" name="Freeform 2051"/>
            <p:cNvSpPr/>
            <p:nvPr/>
          </p:nvSpPr>
          <p:spPr>
            <a:xfrm>
              <a:off x="0" y="872"/>
              <a:ext cx="5662" cy="11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902408" y="0"/>
                </a:cxn>
                <a:cxn ang="0">
                  <a:pos x="7685207" y="785242"/>
                </a:cxn>
                <a:cxn ang="0">
                  <a:pos x="6903952" y="1567867"/>
                </a:cxn>
                <a:cxn ang="0">
                  <a:pos x="0" y="1567867"/>
                </a:cxn>
              </a:cxnLst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4" name="Straight Connector 2052"/>
            <p:cNvSpPr/>
            <p:nvPr/>
          </p:nvSpPr>
          <p:spPr>
            <a:xfrm>
              <a:off x="0" y="1928"/>
              <a:ext cx="5230" cy="0"/>
            </a:xfrm>
            <a:prstGeom prst="line">
              <a:avLst/>
            </a:prstGeom>
            <a:ln w="507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2055" name="Title 2053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altLang="en-US" dirty="0"/>
              <a:t>Для правки текста заголовка щелкните мышью</a:t>
            </a:r>
            <a:endParaRPr lang="en-GB" altLang="en-US" dirty="0"/>
          </a:p>
        </p:txBody>
      </p:sp>
      <p:sp>
        <p:nvSpPr>
          <p:cNvPr id="2056" name="Text Placeholder 2054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altLang="en-US" dirty="0"/>
              <a:t>Для правки структуры щелкните мышью</a:t>
            </a:r>
            <a:endParaRPr lang="en-GB" altLang="en-US" dirty="0"/>
          </a:p>
          <a:p>
            <a:pPr lvl="1"/>
            <a:r>
              <a:rPr lang="en-GB" altLang="en-US" dirty="0"/>
              <a:t>Второй уровень структуры</a:t>
            </a:r>
            <a:endParaRPr lang="en-GB" altLang="en-US" dirty="0"/>
          </a:p>
          <a:p>
            <a:pPr lvl="2"/>
            <a:r>
              <a:rPr lang="en-GB" altLang="en-US" dirty="0"/>
              <a:t>Третий уровень структуры</a:t>
            </a:r>
            <a:endParaRPr lang="en-GB" altLang="en-US" dirty="0"/>
          </a:p>
          <a:p>
            <a:pPr lvl="3"/>
            <a:r>
              <a:rPr lang="en-GB" altLang="en-US" dirty="0"/>
              <a:t>Четвёртый уровень структуры</a:t>
            </a:r>
            <a:endParaRPr lang="en-GB" altLang="en-US" dirty="0"/>
          </a:p>
          <a:p>
            <a:pPr lvl="4"/>
            <a:r>
              <a:rPr lang="en-GB" altLang="en-US" dirty="0"/>
              <a:t>Пятый уровень структуры</a:t>
            </a:r>
            <a:endParaRPr lang="en-GB" altLang="en-US" dirty="0"/>
          </a:p>
          <a:p>
            <a:pPr lvl="4"/>
            <a:r>
              <a:rPr lang="en-GB" altLang="en-US" dirty="0"/>
              <a:t>Шестой уровень структуры</a:t>
            </a:r>
            <a:endParaRPr lang="en-GB" altLang="en-US" dirty="0"/>
          </a:p>
          <a:p>
            <a:pPr lvl="4"/>
            <a:r>
              <a:rPr lang="en-GB" altLang="en-US" dirty="0"/>
              <a:t>Седьмой уровень структуры</a:t>
            </a:r>
            <a:endParaRPr lang="en-GB" altLang="en-US" dirty="0"/>
          </a:p>
          <a:p>
            <a:pPr lvl="4"/>
            <a:r>
              <a:rPr lang="en-GB" altLang="en-US" dirty="0"/>
              <a:t>Восьмой уровень структуры</a:t>
            </a:r>
            <a:endParaRPr lang="en-GB" altLang="en-US" dirty="0"/>
          </a:p>
          <a:p>
            <a:pPr lvl="4"/>
            <a:r>
              <a:rPr lang="en-GB" altLang="en-US" dirty="0"/>
              <a:t>Девятый уровень структуры</a:t>
            </a:r>
            <a:endParaRPr lang="en-GB" altLang="en-US" dirty="0"/>
          </a:p>
        </p:txBody>
      </p:sp>
      <p:sp>
        <p:nvSpPr>
          <p:cNvPr id="2057" name="Text Box 2055"/>
          <p:cNvSpPr txBox="1"/>
          <p:nvPr/>
        </p:nvSpPr>
        <p:spPr>
          <a:xfrm>
            <a:off x="457200" y="6248400"/>
            <a:ext cx="2133600" cy="4714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058" name="Text Box 2056"/>
          <p:cNvSpPr txBox="1"/>
          <p:nvPr/>
        </p:nvSpPr>
        <p:spPr>
          <a:xfrm>
            <a:off x="3124200" y="625316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2057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68313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 algn="r">
              <a:buFontTx/>
              <a:defRPr sz="1200">
                <a:latin typeface="Arial Black" panose="020B0A04020102020204" pitchFamily="32" charset="0"/>
                <a:ea typeface="Arial Unicode MS" charset="-122"/>
              </a:defRPr>
            </a:lvl1pPr>
          </a:lstStyle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7.xml"/><Relationship Id="rId3" Type="http://schemas.openxmlformats.org/officeDocument/2006/relationships/hyperlink" Target="https://www.djangoproject.com/" TargetMode="External"/><Relationship Id="rId2" Type="http://schemas.openxmlformats.org/officeDocument/2006/relationships/hyperlink" Target="https://trypyramid.com/" TargetMode="External"/><Relationship Id="rId1" Type="http://schemas.openxmlformats.org/officeDocument/2006/relationships/hyperlink" Target="https://flask.palletsprojects.com/en/stable/installation/#python-version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thub.com/sunmeat/python_mvc1" TargetMode="Externa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hyperlink" Target="https://www.pythonguis.com/pyside6-tutorial/" TargetMode="External"/><Relationship Id="rId8" Type="http://schemas.openxmlformats.org/officeDocument/2006/relationships/hyperlink" Target="https://github.com/sunmeat/python_pyqt" TargetMode="External"/><Relationship Id="rId7" Type="http://schemas.openxmlformats.org/officeDocument/2006/relationships/hyperlink" Target="https://github.com/pyqt/examples" TargetMode="External"/><Relationship Id="rId6" Type="http://schemas.openxmlformats.org/officeDocument/2006/relationships/hyperlink" Target="https://github.com/sunmeat/python_tkinter" TargetMode="External"/><Relationship Id="rId5" Type="http://schemas.openxmlformats.org/officeDocument/2006/relationships/hyperlink" Target="https://docs.python.org/3/library/tkinter.html" TargetMode="External"/><Relationship Id="rId4" Type="http://schemas.openxmlformats.org/officeDocument/2006/relationships/hyperlink" Target="https://github.com/sunmeat/python_textual" TargetMode="External"/><Relationship Id="rId3" Type="http://schemas.openxmlformats.org/officeDocument/2006/relationships/hyperlink" Target="https://textual.textualize.io/" TargetMode="External"/><Relationship Id="rId2" Type="http://schemas.openxmlformats.org/officeDocument/2006/relationships/hyperlink" Target="https://gist.github.com/sunmeat/f4b87f086e2e374af3f0d4e516f12796" TargetMode="External"/><Relationship Id="rId14" Type="http://schemas.openxmlformats.org/officeDocument/2006/relationships/notesSlide" Target="../notesSlides/notesSlide10.xml"/><Relationship Id="rId13" Type="http://schemas.openxmlformats.org/officeDocument/2006/relationships/slideLayout" Target="../slideLayouts/slideLayout7.xml"/><Relationship Id="rId12" Type="http://schemas.openxmlformats.org/officeDocument/2006/relationships/hyperlink" Target="https://github.com/sunmeat/python_flask" TargetMode="External"/><Relationship Id="rId11" Type="http://schemas.openxmlformats.org/officeDocument/2006/relationships/hyperlink" Target="https://github.com/pallets/flask" TargetMode="External"/><Relationship Id="rId10" Type="http://schemas.openxmlformats.org/officeDocument/2006/relationships/hyperlink" Target="https://github.com/sunmeat/python_pyside" TargetMode="External"/><Relationship Id="rId1" Type="http://schemas.openxmlformats.org/officeDocument/2006/relationships/hyperlink" Target="https://github.com/Textualize/rich" TargetMode="Externa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materials.itstep.org/content/c7cdc7cd-7ec1-48eb-9a5f-7694ce06a62f/uk" TargetMode="External"/><Relationship Id="rId1" Type="http://schemas.openxmlformats.org/officeDocument/2006/relationships/hyperlink" Target="https://materials.itstep.org/content/de0459f6-202b-4607-8cf8-8c158ab0a8a1/uk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fastapi.tiangolo.com/#run-it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7.xml"/><Relationship Id="rId4" Type="http://schemas.openxmlformats.org/officeDocument/2006/relationships/hyperlink" Target="https://gist.github.com/sunmeat/37cabef9b4e22d965e9f661d26aef77f" TargetMode="External"/><Relationship Id="rId3" Type="http://schemas.openxmlformats.org/officeDocument/2006/relationships/hyperlink" Target="https://gist.github.com/sunmeat/baaf2670a2874d17f00cefbbcb4d55d0" TargetMode="External"/><Relationship Id="rId2" Type="http://schemas.openxmlformats.org/officeDocument/2006/relationships/hyperlink" Target="https://gist.github.com/sunmeat/bd623d7baefdb05c4a9af295da40f032" TargetMode="External"/><Relationship Id="rId1" Type="http://schemas.openxmlformats.org/officeDocument/2006/relationships/hyperlink" Target="https://gist.github.com/sunmeat/a6f1fe4b53c672f54a5ea1aa9f3beaed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github.com/jacob-y/django-clean-architecture" TargetMode="External"/><Relationship Id="rId1" Type="http://schemas.openxmlformats.org/officeDocument/2006/relationships/hyperlink" Target="https://gist.github.com/sunmeat/a3d8fc8da5231d261da088683c6ce40e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peps.python.org/pep-0020/#the-zen-of-python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a864814aedae5ae838705b3babf493f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Text Box 4096"/>
          <p:cNvSpPr txBox="1"/>
          <p:nvPr/>
        </p:nvSpPr>
        <p:spPr>
          <a:xfrm>
            <a:off x="228600" y="1427163"/>
            <a:ext cx="8591550" cy="160972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5200" dirty="0" err="1">
                <a:solidFill>
                  <a:srgbClr val="FFFFFF"/>
                </a:solidFill>
                <a:latin typeface="Arial" panose="020B0604020202020204" pitchFamily="34" charset="0"/>
              </a:rPr>
              <a:t>MVC / MVT</a:t>
            </a:r>
            <a:endParaRPr lang="en-US" altLang="en-US" sz="5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099" name="Rectangles 4097"/>
          <p:cNvSpPr/>
          <p:nvPr/>
        </p:nvSpPr>
        <p:spPr>
          <a:xfrm>
            <a:off x="5867400" y="44450"/>
            <a:ext cx="3277235" cy="36957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t" anchorCtr="0">
            <a:spAutoFit/>
          </a:bodyPr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Олександр Загоруйко © 202</a:t>
            </a:r>
            <a:r>
              <a:rPr lang="en-US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6</a:t>
            </a:r>
            <a:endParaRPr lang="en-US" altLang="ru-RU" dirty="0" err="1">
              <a:solidFill>
                <a:srgbClr val="F7F7F7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 descr="42b5fa455005b1d9aaf2727139b760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50" y="3834765"/>
            <a:ext cx="3098800" cy="30988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8660" y="3898900"/>
            <a:ext cx="5802630" cy="286639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42" name="Text Box 7169"/>
          <p:cNvSpPr txBox="1"/>
          <p:nvPr/>
        </p:nvSpPr>
        <p:spPr>
          <a:xfrm>
            <a:off x="195580" y="228600"/>
            <a:ext cx="8313420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План </a:t>
            </a:r>
            <a:r>
              <a:rPr lang="uk-UA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цієї </a:t>
            </a: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презентації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- </a:t>
            </a:r>
            <a:r>
              <a:rPr lang="uk-UA" alt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пари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0243" name="Text Box 7170"/>
          <p:cNvSpPr txBox="1"/>
          <p:nvPr/>
        </p:nvSpPr>
        <p:spPr>
          <a:xfrm>
            <a:off x="611188" y="1412875"/>
            <a:ext cx="8208962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39725" indent="-339725" defTabSz="457200">
              <a:spcBef>
                <a:spcPts val="77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Що таке патерн MVC</a:t>
            </a:r>
            <a:endParaRPr lang="en-US" altLang="en-US" sz="24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39725" indent="-339725" defTabSz="457200">
              <a:spcBef>
                <a:spcPts val="77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Цілі та завдання патерну Model-View-Controller</a:t>
            </a:r>
            <a:endParaRPr lang="en-US" altLang="en-US" sz="24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39725" indent="-339725" defTabSz="457200">
              <a:spcBef>
                <a:spcPts val="77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Приклади використання патерну MVC</a:t>
            </a:r>
            <a:endParaRPr lang="en-US" altLang="en-US" sz="24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39725" indent="-339725" defTabSz="457200">
              <a:spcBef>
                <a:spcPts val="77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sym typeface="+mn-ea"/>
              </a:rPr>
              <a:t>Що таке патерн MVT</a:t>
            </a:r>
            <a:endParaRPr lang="en-US" altLang="en-US" sz="24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39725" indent="-339725" defTabSz="457200">
              <a:spcBef>
                <a:spcPts val="77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Цілі та завдання патерну Model-View-Template</a:t>
            </a:r>
            <a:endParaRPr lang="en-US" altLang="en-US" sz="24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39725" indent="-339725" defTabSz="457200">
              <a:spcBef>
                <a:spcPts val="77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Приклади використання патерну MVT</a:t>
            </a:r>
            <a:endParaRPr lang="en-US" altLang="en-US" sz="24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914" name="Text Box 225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Що таке патерн MVC?</a:t>
            </a:r>
            <a:endParaRPr lang="en-US" altLang="en-US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8915" name="Text Box 22529"/>
          <p:cNvSpPr txBox="1"/>
          <p:nvPr/>
        </p:nvSpPr>
        <p:spPr>
          <a:xfrm>
            <a:off x="468630" y="1429385"/>
            <a:ext cx="8135620" cy="447484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800" b="1" dirty="0" err="1">
                <a:solidFill>
                  <a:schemeClr val="tx1"/>
                </a:solidFill>
                <a:latin typeface="Arial" panose="020B0604020202020204" pitchFamily="34" charset="0"/>
              </a:rPr>
              <a:t>Патерн MVC </a:t>
            </a:r>
            <a:r>
              <a:rPr lang="en-US" altLang="en-US" sz="2800" dirty="0" err="1">
                <a:solidFill>
                  <a:schemeClr val="tx1"/>
                </a:solidFill>
                <a:latin typeface="Arial" panose="020B0604020202020204" pitchFamily="34" charset="0"/>
              </a:rPr>
              <a:t>(Model-View-Controller) —            це архітектурний шаблон про</a:t>
            </a:r>
            <a:r>
              <a:rPr lang="uk-UA" altLang="en-US" sz="2800" dirty="0" err="1">
                <a:solidFill>
                  <a:schemeClr val="tx1"/>
                </a:solidFill>
                <a:latin typeface="Arial" panose="020B0604020202020204" pitchFamily="34" charset="0"/>
              </a:rPr>
              <a:t>є</a:t>
            </a:r>
            <a:r>
              <a:rPr lang="en-US" altLang="en-US" sz="2800" dirty="0" err="1">
                <a:solidFill>
                  <a:schemeClr val="tx1"/>
                </a:solidFill>
                <a:latin typeface="Arial" panose="020B0604020202020204" pitchFamily="34" charset="0"/>
              </a:rPr>
              <a:t>ктування, який використовується для організації коду                 в додатках, особливо в веб-розробці. Він розділяє додаток на три основні компоненти: </a:t>
            </a:r>
            <a:r>
              <a:rPr lang="en-US" altLang="en-US" sz="2800" b="1" dirty="0" err="1">
                <a:solidFill>
                  <a:schemeClr val="tx1"/>
                </a:solidFill>
                <a:latin typeface="Arial" panose="020B0604020202020204" pitchFamily="34" charset="0"/>
              </a:rPr>
              <a:t>Model </a:t>
            </a:r>
            <a:r>
              <a:rPr lang="en-US" altLang="en-US" sz="2800" dirty="0" err="1">
                <a:solidFill>
                  <a:schemeClr val="tx1"/>
                </a:solidFill>
                <a:latin typeface="Arial" panose="020B0604020202020204" pitchFamily="34" charset="0"/>
              </a:rPr>
              <a:t>(Модель), </a:t>
            </a:r>
            <a:r>
              <a:rPr lang="en-US" altLang="en-US" sz="2800" b="1" dirty="0" err="1">
                <a:solidFill>
                  <a:schemeClr val="tx1"/>
                </a:solidFill>
                <a:latin typeface="Arial" panose="020B0604020202020204" pitchFamily="34" charset="0"/>
              </a:rPr>
              <a:t>View </a:t>
            </a:r>
            <a:r>
              <a:rPr lang="en-US" altLang="en-US" sz="2800" dirty="0" err="1">
                <a:solidFill>
                  <a:schemeClr val="tx1"/>
                </a:solidFill>
                <a:latin typeface="Arial" panose="020B0604020202020204" pitchFamily="34" charset="0"/>
              </a:rPr>
              <a:t>(</a:t>
            </a:r>
            <a:r>
              <a:rPr lang="uk-UA" altLang="en-US" sz="2800" dirty="0" err="1">
                <a:solidFill>
                  <a:schemeClr val="tx1"/>
                </a:solidFill>
                <a:latin typeface="Arial" panose="020B0604020202020204" pitchFamily="34" charset="0"/>
              </a:rPr>
              <a:t>Подання</a:t>
            </a:r>
            <a:r>
              <a:rPr lang="en-US" altLang="en-US" sz="2800" dirty="0" err="1">
                <a:solidFill>
                  <a:schemeClr val="tx1"/>
                </a:solidFill>
                <a:latin typeface="Arial" panose="020B0604020202020204" pitchFamily="34" charset="0"/>
              </a:rPr>
              <a:t>) і </a:t>
            </a:r>
            <a:r>
              <a:rPr lang="en-US" altLang="en-US" sz="2800" b="1" dirty="0" err="1">
                <a:solidFill>
                  <a:schemeClr val="tx1"/>
                </a:solidFill>
                <a:latin typeface="Arial" panose="020B0604020202020204" pitchFamily="34" charset="0"/>
              </a:rPr>
              <a:t>Controller </a:t>
            </a:r>
            <a:r>
              <a:rPr lang="en-US" altLang="en-US" sz="2800" dirty="0" err="1">
                <a:solidFill>
                  <a:schemeClr val="tx1"/>
                </a:solidFill>
                <a:latin typeface="Arial" panose="020B0604020202020204" pitchFamily="34" charset="0"/>
              </a:rPr>
              <a:t>(Контролер). Це дозволяє розділити логіку даних, інтерфейс користувача та бізнес-логіку, роблячи код більш модульним, легким </a:t>
            </a:r>
            <a:r>
              <a:rPr lang="uk-UA" altLang="en-US" sz="2800" dirty="0" err="1">
                <a:solidFill>
                  <a:schemeClr val="tx1"/>
                </a:solidFill>
                <a:latin typeface="Arial" panose="020B0604020202020204" pitchFamily="34" charset="0"/>
              </a:rPr>
              <a:t>         </a:t>
            </a:r>
            <a:r>
              <a:rPr lang="en-US" altLang="en-US" sz="2800" dirty="0" err="1">
                <a:solidFill>
                  <a:schemeClr val="tx1"/>
                </a:solidFill>
                <a:latin typeface="Arial" panose="020B0604020202020204" pitchFamily="34" charset="0"/>
              </a:rPr>
              <a:t>для підтримки та тестування.</a:t>
            </a:r>
            <a:endParaRPr lang="en-US" altLang="en-US" sz="28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800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914" name="Text Box 225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Яку проблему вирішує </a:t>
            </a:r>
            <a:r>
              <a:rPr lang="en-US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MVC</a:t>
            </a:r>
            <a:endParaRPr lang="en-US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8915" name="Text Box 22529"/>
          <p:cNvSpPr txBox="1"/>
          <p:nvPr/>
        </p:nvSpPr>
        <p:spPr>
          <a:xfrm>
            <a:off x="468630" y="1429385"/>
            <a:ext cx="8135620" cy="447484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dirty="0" err="1">
                <a:solidFill>
                  <a:schemeClr val="tx1"/>
                </a:solidFill>
                <a:latin typeface="Arial" panose="020B0604020202020204" pitchFamily="34" charset="0"/>
              </a:rPr>
              <a:t>MVC вирішує проблему "спагеті-коду", коли логіка даних, інтерфейс і обробка запитів змішані в одному місці, що ускладнює масштабування, відлагодження та співпрацю в команді. Він забезпечує принцип "розділення обов'язків" (Separation of Concerns), дозволяючи розробникам працювати над різними частинами незалежно.</a:t>
            </a:r>
            <a:endParaRPr lang="en-US" altLang="en-US" sz="25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dirty="0" err="1">
                <a:solidFill>
                  <a:schemeClr val="tx1"/>
                </a:solidFill>
                <a:latin typeface="Arial" panose="020B0604020202020204" pitchFamily="34" charset="0"/>
              </a:rPr>
              <a:t>У Python MVC </a:t>
            </a:r>
            <a:r>
              <a:rPr lang="uk-UA" altLang="en-US" sz="2500" dirty="0" err="1">
                <a:solidFill>
                  <a:schemeClr val="tx1"/>
                </a:solidFill>
                <a:latin typeface="Arial" panose="020B0604020202020204" pitchFamily="34" charset="0"/>
              </a:rPr>
              <a:t>можна </a:t>
            </a:r>
            <a:r>
              <a:rPr lang="en-US" altLang="en-US" sz="2500" dirty="0" err="1">
                <a:solidFill>
                  <a:schemeClr val="tx1"/>
                </a:solidFill>
                <a:latin typeface="Arial" panose="020B0604020202020204" pitchFamily="34" charset="0"/>
              </a:rPr>
              <a:t>реалізу</a:t>
            </a:r>
            <a:r>
              <a:rPr lang="uk-UA" altLang="en-US" sz="2500" dirty="0" err="1">
                <a:solidFill>
                  <a:schemeClr val="tx1"/>
                </a:solidFill>
                <a:latin typeface="Arial" panose="020B0604020202020204" pitchFamily="34" charset="0"/>
              </a:rPr>
              <a:t>вати</a:t>
            </a:r>
            <a:r>
              <a:rPr lang="en-US" altLang="en-US" sz="2500" dirty="0" err="1">
                <a:solidFill>
                  <a:schemeClr val="tx1"/>
                </a:solidFill>
                <a:latin typeface="Arial" panose="020B0604020202020204" pitchFamily="34" charset="0"/>
              </a:rPr>
              <a:t> в фреймворках    як </a:t>
            </a:r>
            <a:r>
              <a:rPr lang="en-US" altLang="en-US" sz="2500" dirty="0" err="1">
                <a:solidFill>
                  <a:schemeClr val="tx1"/>
                </a:solidFill>
                <a:latin typeface="Arial" panose="020B0604020202020204" pitchFamily="34" charset="0"/>
                <a:hlinkClick r:id="rId1" action="ppaction://hlinkfile"/>
              </a:rPr>
              <a:t>Flask</a:t>
            </a:r>
            <a:r>
              <a:rPr lang="en-US" altLang="en-US" sz="2500" dirty="0" err="1">
                <a:solidFill>
                  <a:schemeClr val="tx1"/>
                </a:solidFill>
                <a:latin typeface="Arial" panose="020B0604020202020204" pitchFamily="34" charset="0"/>
              </a:rPr>
              <a:t> або </a:t>
            </a:r>
            <a:r>
              <a:rPr lang="en-US" altLang="en-US" sz="2500" dirty="0" err="1">
                <a:solidFill>
                  <a:schemeClr val="tx1"/>
                </a:solidFill>
                <a:latin typeface="Arial" panose="020B0604020202020204" pitchFamily="34" charset="0"/>
                <a:hlinkClick r:id="rId2" action="ppaction://hlinkfile"/>
              </a:rPr>
              <a:t>Pyramid</a:t>
            </a:r>
            <a:r>
              <a:rPr lang="uk-UA" altLang="en-US" sz="2500" dirty="0" err="1">
                <a:solidFill>
                  <a:schemeClr val="tx1"/>
                </a:solidFill>
                <a:latin typeface="Arial" panose="020B0604020202020204" pitchFamily="34" charset="0"/>
              </a:rPr>
              <a:t> (в </a:t>
            </a:r>
            <a:r>
              <a:rPr lang="en-US" altLang="en-US" sz="2500" dirty="0" err="1">
                <a:solidFill>
                  <a:schemeClr val="tx1"/>
                </a:solidFill>
                <a:latin typeface="Arial" panose="020B0604020202020204" pitchFamily="34" charset="0"/>
                <a:hlinkClick r:id="rId3" action="ppaction://hlinkfile"/>
              </a:rPr>
              <a:t>Django</a:t>
            </a:r>
            <a:r>
              <a:rPr lang="en-US" altLang="en-US" sz="2500" dirty="0" err="1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uk-UA" altLang="en-US" sz="2500" dirty="0" err="1">
                <a:solidFill>
                  <a:schemeClr val="tx1"/>
                </a:solidFill>
                <a:latin typeface="Arial" panose="020B0604020202020204" pitchFamily="34" charset="0"/>
              </a:rPr>
              <a:t>буде </a:t>
            </a:r>
            <a:r>
              <a:rPr lang="en-US" altLang="en-US" sz="2500" dirty="0" err="1">
                <a:solidFill>
                  <a:schemeClr val="tx1"/>
                </a:solidFill>
                <a:latin typeface="Arial" panose="020B0604020202020204" pitchFamily="34" charset="0"/>
              </a:rPr>
              <a:t>MVT)</a:t>
            </a:r>
            <a:r>
              <a:rPr lang="uk-UA" altLang="en-US" sz="2500" dirty="0" err="1">
                <a:solidFill>
                  <a:schemeClr val="tx1"/>
                </a:solidFill>
                <a:latin typeface="Arial" panose="020B0604020202020204" pitchFamily="34" charset="0"/>
              </a:rPr>
              <a:t>, але спочатку потренуємося на консольному додатку :)</a:t>
            </a:r>
            <a:endParaRPr lang="uk-UA" altLang="en-US" sz="2500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914" name="Text Box 225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Цілі на завдання </a:t>
            </a:r>
            <a:r>
              <a:rPr lang="en-US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MVC</a:t>
            </a:r>
            <a:endParaRPr lang="en-US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8915" name="Text Box 22529"/>
          <p:cNvSpPr txBox="1"/>
          <p:nvPr/>
        </p:nvSpPr>
        <p:spPr>
          <a:xfrm>
            <a:off x="468630" y="1429385"/>
            <a:ext cx="8135620" cy="447484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latin typeface="Arial" panose="020B0604020202020204" pitchFamily="34" charset="0"/>
              </a:rPr>
              <a:t>Цілі:</a:t>
            </a:r>
            <a:endParaRPr lang="en-US" altLang="en-US" sz="19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latin typeface="Arial" panose="020B0604020202020204" pitchFamily="34" charset="0"/>
              </a:rPr>
              <a:t>Забезпечити чітке розділення компонентів для кращої модульності</a:t>
            </a:r>
            <a:endParaRPr lang="en-US" altLang="en-US" sz="19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latin typeface="Arial" panose="020B0604020202020204" pitchFamily="34" charset="0"/>
              </a:rPr>
              <a:t>Поліпшити тестування: кожен компонент можна тестувати окремо</a:t>
            </a:r>
            <a:endParaRPr lang="en-US" altLang="en-US" sz="19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latin typeface="Arial" panose="020B0604020202020204" pitchFamily="34" charset="0"/>
              </a:rPr>
              <a:t>Збільшити перевикористання коду: моделі та контролери можуть використовуватися в різних </a:t>
            </a:r>
            <a:r>
              <a:rPr lang="uk-UA" altLang="en-US" sz="1900" dirty="0" err="1">
                <a:solidFill>
                  <a:schemeClr val="tx1"/>
                </a:solidFill>
                <a:latin typeface="Arial" panose="020B0604020202020204" pitchFamily="34" charset="0"/>
              </a:rPr>
              <a:t>поданнях</a:t>
            </a:r>
            <a:endParaRPr lang="en-US" altLang="en-US" sz="19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latin typeface="Arial" panose="020B0604020202020204" pitchFamily="34" charset="0"/>
              </a:rPr>
              <a:t>Спростити підтримку: зміни в одній частині не ламають інші</a:t>
            </a:r>
            <a:endParaRPr lang="en-US" altLang="en-US" sz="19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latin typeface="Arial" panose="020B0604020202020204" pitchFamily="34" charset="0"/>
              </a:rPr>
              <a:t>Завдання:</a:t>
            </a:r>
            <a:endParaRPr lang="en-US" altLang="en-US" sz="19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latin typeface="Arial" panose="020B0604020202020204" pitchFamily="34" charset="0"/>
              </a:rPr>
              <a:t>Обробляти дані та бізнес-логіку (Model)</a:t>
            </a:r>
            <a:endParaRPr lang="en-US" altLang="en-US" sz="19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latin typeface="Arial" panose="020B0604020202020204" pitchFamily="34" charset="0"/>
              </a:rPr>
              <a:t>Відображати дані користувачеві (View)</a:t>
            </a:r>
            <a:endParaRPr lang="en-US" altLang="en-US" sz="19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latin typeface="Arial" panose="020B0604020202020204" pitchFamily="34" charset="0"/>
              </a:rPr>
              <a:t>Обробляти запити користувача та координувати Model і View (Controller)</a:t>
            </a:r>
            <a:endParaRPr lang="en-US" altLang="en-US" sz="19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latin typeface="Arial" panose="020B0604020202020204" pitchFamily="34" charset="0"/>
              </a:rPr>
              <a:t>Вирішувати проблеми з монолітним кодом, роблячи додаток гнучким для оновлень, наприклад, при додаванні нових функцій або інтеграції з API</a:t>
            </a:r>
            <a:endParaRPr lang="en-US" altLang="en-US" sz="1900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914" name="Text Box 225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Model</a:t>
            </a:r>
            <a:endParaRPr lang="en-US" alt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8915" name="Text Box 22529"/>
          <p:cNvSpPr txBox="1"/>
          <p:nvPr/>
        </p:nvSpPr>
        <p:spPr>
          <a:xfrm>
            <a:off x="468630" y="1429385"/>
            <a:ext cx="8135620" cy="447484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Model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— це компонент, який відповідає за дані та бізнес-логіку.  Він представляє структуру даних (наприклад, бази даних, файли)   і правила їх обробки, не залежачи від інтерфейсу чи контролера.</a:t>
            </a: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Мета - з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берігати та маніпулювати даними, забезпечуючи їх цілісність і незалежність від UI.</a:t>
            </a: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Завдання:</a:t>
            </a: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Взаємодія з базою даних (CRUD-операції: Create, Read, </a:t>
            </a:r>
            <a:r>
              <a:rPr lang="uk-UA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Update, Delete)</a:t>
            </a: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Валідація даних</a:t>
            </a: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Обчислення бізнес-логіки (наприклад, розрахунки)</a:t>
            </a: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Дані не "забруднюються" UI-логікою, що полегшує міграцію баз даних або інтеграцію з іншими системами</a:t>
            </a: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914" name="Text Box 225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View</a:t>
            </a:r>
            <a:endParaRPr lang="en-US" alt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8915" name="Text Box 22529"/>
          <p:cNvSpPr txBox="1"/>
          <p:nvPr/>
        </p:nvSpPr>
        <p:spPr>
          <a:xfrm>
            <a:off x="468630" y="1429385"/>
            <a:ext cx="8135620" cy="447484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chemeClr val="tx1"/>
                </a:solidFill>
                <a:latin typeface="Arial" panose="020B0604020202020204" pitchFamily="34" charset="0"/>
              </a:rPr>
              <a:t>View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— це компонент, відповідальний за представлення даних користувачеві. Це інтерфейс: HTML-сторінки, форми, графіки тощо. View отримує дані від Model через Controller </a:t>
            </a:r>
            <a:r>
              <a:rPr lang="uk-UA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  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і відображає їх.</a:t>
            </a:r>
            <a:endParaRPr lang="en-US" altLang="en-US" sz="22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Мета - н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адати користувачеві зручний інтерфейс без знання </a:t>
            </a:r>
            <a:r>
              <a:rPr lang="uk-UA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      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про внутрішню логіку даних.</a:t>
            </a:r>
            <a:endParaRPr lang="en-US" altLang="en-US" sz="22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Завдання:</a:t>
            </a:r>
            <a:endParaRPr lang="en-US" altLang="en-US" sz="22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Генерація UI на основі даних з Model</a:t>
            </a:r>
            <a:endParaRPr lang="en-US" altLang="en-US" sz="22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Обробка відображення (рендеринг шаблонів)</a:t>
            </a:r>
            <a:endParaRPr lang="en-US" altLang="en-US" sz="22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Не містит</a:t>
            </a:r>
            <a:r>
              <a:rPr lang="uk-UA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ь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 бізнес-логіку, тільки представлення</a:t>
            </a:r>
            <a:endParaRPr lang="en-US" altLang="en-US" sz="22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З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міни в дизайні (наприклад, адаптація під мобільні пристрої) не впливають на дані чи логіку</a:t>
            </a:r>
            <a:endParaRPr lang="en-US" altLang="en-US" sz="2200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914" name="Text Box 225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Controller</a:t>
            </a:r>
            <a:endParaRPr lang="en-US" alt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8915" name="Text Box 22529"/>
          <p:cNvSpPr txBox="1"/>
          <p:nvPr/>
        </p:nvSpPr>
        <p:spPr>
          <a:xfrm>
            <a:off x="468630" y="1429385"/>
            <a:ext cx="8135620" cy="447484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Controller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— це "посередник", який обробляє запити користувача, взаємодіє з Model для отримання/зміни даних і передає їх у View для відображення.</a:t>
            </a: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Мета - к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оординувати потік даних між Model і View, обробляти вхідні запити.</a:t>
            </a: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Завдання:</a:t>
            </a: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Отримання запитів (наприклад, HTTP-запити)</a:t>
            </a: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Виклик методів Model для обробки даних</a:t>
            </a: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Вибір і рендеринг View</a:t>
            </a: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Обробка помилок і маршрутизація</a:t>
            </a: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Вирішує проблему</a:t>
            </a:r>
            <a:r>
              <a:rPr lang="uk-UA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 ц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ентралізован</a:t>
            </a:r>
            <a:r>
              <a:rPr lang="uk-UA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ої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 обробк</a:t>
            </a:r>
            <a:r>
              <a:rPr lang="uk-UA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и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 логіки, </a:t>
            </a:r>
            <a:r>
              <a:rPr lang="uk-UA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                   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що запобігає дублюванню коду в UI чи даних</a:t>
            </a: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914" name="Text Box 225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Використання для консолі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8915" name="Text Box 22529"/>
          <p:cNvSpPr txBox="1"/>
          <p:nvPr/>
        </p:nvSpPr>
        <p:spPr>
          <a:xfrm>
            <a:off x="468630" y="1429385"/>
            <a:ext cx="8135620" cy="447484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MVC </a:t>
            </a:r>
            <a:r>
              <a:rPr lang="uk-UA" altLang="en-US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можна застосувати </a:t>
            </a: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не тільки у веб-додатках, а й </a:t>
            </a:r>
            <a:r>
              <a:rPr lang="uk-UA" altLang="en-US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у консольних програмах, десктопних GUI (наприклад Tkinter, PyQt, textual), іграх у терміналі, скриптах-утилітах, коли програма стає більшою за 200–300 рядків.</a:t>
            </a:r>
            <a:endParaRPr lang="en-US" altLang="en-US" sz="24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Переваги в консолі (без фреймворків):</a:t>
            </a:r>
            <a:endParaRPr lang="en-US" altLang="en-US" sz="24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Легко додати пізніше графічний інтерфейс (Tkinter, curses, textual тощо) — достатньо замінити View</a:t>
            </a:r>
            <a:endParaRPr lang="en-US" altLang="en-US" sz="24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Код чітко розділений</a:t>
            </a:r>
            <a:r>
              <a:rPr lang="uk-UA" altLang="en-US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, його </a:t>
            </a: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легше тестувати, підтримувати, розширювати</a:t>
            </a:r>
            <a:endParaRPr lang="en-US" altLang="en-US" sz="24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Можна писати unit-тести на Model і Controller </a:t>
            </a:r>
            <a:r>
              <a:rPr lang="uk-UA" altLang="en-US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         </a:t>
            </a: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без виведення в консоль</a:t>
            </a:r>
            <a:endParaRPr lang="en-US" altLang="en-US" sz="2400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6040" y="6356350"/>
            <a:ext cx="897826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2200" b="1">
                <a:highlight>
                  <a:srgbClr val="FFFF00"/>
                </a:highlight>
                <a:hlinkClick r:id="rId1" action="ppaction://hlinkfile"/>
              </a:rPr>
              <a:t>https://github.com/sunmeat/python_mvc1</a:t>
            </a:r>
            <a:endParaRPr lang="en-US" altLang="en-US" sz="2200" b="1">
              <a:highlight>
                <a:srgbClr val="FFFF00"/>
              </a:highlight>
              <a:hlinkClick r:id="rId1" action="ppaction://hlinkfile"/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914" name="Text Box 22528"/>
          <p:cNvSpPr txBox="1"/>
          <p:nvPr/>
        </p:nvSpPr>
        <p:spPr>
          <a:xfrm>
            <a:off x="195580" y="228600"/>
            <a:ext cx="851852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Ще приклади на </a:t>
            </a:r>
            <a:r>
              <a:rPr lang="en-US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MVC</a:t>
            </a:r>
            <a:endParaRPr lang="en-US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8915" name="Text Box 22529"/>
          <p:cNvSpPr txBox="1"/>
          <p:nvPr/>
        </p:nvSpPr>
        <p:spPr>
          <a:xfrm>
            <a:off x="468630" y="1429385"/>
            <a:ext cx="8135620" cy="447484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uk-UA" sz="2400" dirty="0" err="1">
                <a:solidFill>
                  <a:schemeClr val="tx1"/>
                </a:solidFill>
                <a:latin typeface="Arial" panose="020B0604020202020204" pitchFamily="34" charset="0"/>
                <a:hlinkClick r:id="rId1" action="ppaction://hlinkfile"/>
              </a:rPr>
              <a:t>rich</a:t>
            </a:r>
            <a:r>
              <a:rPr lang="en-US" altLang="uk-UA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  <a:hlinkClick r:id="rId2" action="ppaction://hlinkfile"/>
              </a:rPr>
              <a:t>https://gist.github.com/sunmeat/f4b87f086e2e374af3f0d4e516f12796</a:t>
            </a:r>
            <a:endParaRPr lang="en-US" altLang="en-US" sz="24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400" dirty="0" err="1">
                <a:solidFill>
                  <a:schemeClr val="tx1"/>
                </a:solidFill>
                <a:latin typeface="Arial" panose="020B0604020202020204" pitchFamily="34" charset="0"/>
                <a:hlinkClick r:id="rId3" action="ppaction://hlinkfile"/>
              </a:rPr>
              <a:t>textual</a:t>
            </a:r>
            <a:r>
              <a:rPr lang="en-US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  <a:hlinkClick r:id="rId4" action="ppaction://hlinkfile"/>
              </a:rPr>
              <a:t>https://github.com/sunmeat/python_textual</a:t>
            </a:r>
            <a:endParaRPr lang="en-US" altLang="en-US" sz="2400" dirty="0" err="1">
              <a:solidFill>
                <a:schemeClr val="tx1"/>
              </a:solidFill>
              <a:latin typeface="Arial" panose="020B0604020202020204" pitchFamily="34" charset="0"/>
              <a:hlinkClick r:id="rId4" action="ppaction://hlinkfile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400" dirty="0" err="1">
              <a:solidFill>
                <a:schemeClr val="tx1"/>
              </a:solidFill>
              <a:latin typeface="Arial" panose="020B0604020202020204" pitchFamily="34" charset="0"/>
              <a:hlinkClick r:id="rId4" action="ppaction://hlinkfile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  <a:hlinkClick r:id="rId5" action="ppaction://hlinkfile"/>
              </a:rPr>
              <a:t>TKinter</a:t>
            </a: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  <a:hlinkClick r:id="rId6" action="ppaction://hlinkfile"/>
              </a:rPr>
              <a:t>https://github.com/sunmeat/python_tkinter</a:t>
            </a:r>
            <a:endParaRPr lang="en-US" altLang="en-US" sz="24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chemeClr val="tx1"/>
                </a:solidFill>
                <a:sym typeface="+mn-ea"/>
                <a:hlinkClick r:id="rId7" action="ppaction://hlinkfile"/>
              </a:rPr>
              <a:t>PyQt</a:t>
            </a:r>
            <a:r>
              <a:rPr lang="en-US" altLang="en-US" sz="2400" dirty="0" err="1">
                <a:solidFill>
                  <a:schemeClr val="tx1"/>
                </a:solidFill>
                <a:sym typeface="+mn-ea"/>
              </a:rPr>
              <a:t>: </a:t>
            </a: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  <a:sym typeface="+mn-ea"/>
                <a:hlinkClick r:id="rId8" action="ppaction://hlinkfile"/>
              </a:rPr>
              <a:t>https://github.com/sunmeat/python_pyqt</a:t>
            </a:r>
            <a:endParaRPr lang="en-US" altLang="en-US" sz="2400" dirty="0" err="1">
              <a:solidFill>
                <a:schemeClr val="tx1"/>
              </a:solidFill>
              <a:latin typeface="Arial" panose="020B0604020202020204" pitchFamily="34" charset="0"/>
              <a:sym typeface="+mn-ea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uk-UA" sz="2400" dirty="0" err="1">
                <a:solidFill>
                  <a:schemeClr val="tx1"/>
                </a:solidFill>
                <a:latin typeface="Arial" panose="020B0604020202020204" pitchFamily="34" charset="0"/>
                <a:sym typeface="+mn-ea"/>
                <a:hlinkClick r:id="rId9" action="ppaction://hlinkfile"/>
              </a:rPr>
              <a:t>PySide</a:t>
            </a:r>
            <a:r>
              <a:rPr lang="en-US" altLang="uk-UA" sz="2400" dirty="0" err="1">
                <a:solidFill>
                  <a:schemeClr val="tx1"/>
                </a:solidFill>
                <a:latin typeface="Arial" panose="020B0604020202020204" pitchFamily="34" charset="0"/>
                <a:sym typeface="+mn-ea"/>
              </a:rPr>
              <a:t>: </a:t>
            </a: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  <a:sym typeface="+mn-ea"/>
                <a:hlinkClick r:id="rId10" action="ppaction://hlinkfile"/>
              </a:rPr>
              <a:t>https://github.com/sunmeat/python_pyside</a:t>
            </a:r>
            <a:endParaRPr lang="en-US" altLang="en-US" sz="2400" dirty="0" err="1">
              <a:solidFill>
                <a:schemeClr val="tx1"/>
              </a:solidFill>
              <a:latin typeface="Arial" panose="020B0604020202020204" pitchFamily="34" charset="0"/>
              <a:sym typeface="+mn-ea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uk-UA" altLang="en-US" sz="2400" dirty="0" err="1">
              <a:solidFill>
                <a:schemeClr val="tx1"/>
              </a:solidFill>
              <a:latin typeface="Arial" panose="020B0604020202020204" pitchFamily="34" charset="0"/>
              <a:sym typeface="+mn-ea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uk-UA" sz="2400" dirty="0" err="1">
                <a:solidFill>
                  <a:schemeClr val="tx1"/>
                </a:solidFill>
                <a:latin typeface="Arial" panose="020B0604020202020204" pitchFamily="34" charset="0"/>
                <a:sym typeface="+mn-ea"/>
                <a:hlinkClick r:id="rId11" action="ppaction://hlinkfile"/>
              </a:rPr>
              <a:t>Flask</a:t>
            </a:r>
            <a:r>
              <a:rPr lang="en-US" altLang="uk-UA" sz="2400" dirty="0" err="1">
                <a:solidFill>
                  <a:schemeClr val="tx1"/>
                </a:solidFill>
                <a:latin typeface="Arial" panose="020B0604020202020204" pitchFamily="34" charset="0"/>
                <a:sym typeface="+mn-ea"/>
              </a:rPr>
              <a:t>: </a:t>
            </a: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  <a:sym typeface="+mn-ea"/>
                <a:hlinkClick r:id="rId12" action="ppaction://hlinkfile"/>
              </a:rPr>
              <a:t>https://github.com/sunmeat/python_flask</a:t>
            </a:r>
            <a:endParaRPr lang="en-US" altLang="en-US" sz="2400" dirty="0" err="1">
              <a:solidFill>
                <a:schemeClr val="tx1"/>
              </a:solidFill>
              <a:latin typeface="Arial" panose="020B0604020202020204" pitchFamily="34" charset="0"/>
              <a:sym typeface="+mn-ea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uk-UA" altLang="en-US" sz="2400" dirty="0" err="1">
              <a:solidFill>
                <a:schemeClr val="tx1"/>
              </a:solidFill>
              <a:latin typeface="Arial" panose="020B0604020202020204" pitchFamily="34" charset="0"/>
              <a:sym typeface="+mn-ea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uk-UA" altLang="en-US" sz="2400" dirty="0" err="1">
              <a:solidFill>
                <a:schemeClr val="tx1"/>
              </a:solidFill>
              <a:latin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914" name="Text Box 225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Практика на </a:t>
            </a:r>
            <a:r>
              <a:rPr lang="en-US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MV</a:t>
            </a:r>
            <a:r>
              <a:rPr lang="uk-UA" alt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С</a:t>
            </a:r>
            <a:endParaRPr lang="uk-UA" altLang="en-US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8915" name="Text Box 22529"/>
          <p:cNvSpPr txBox="1"/>
          <p:nvPr/>
        </p:nvSpPr>
        <p:spPr>
          <a:xfrm>
            <a:off x="468630" y="1429385"/>
            <a:ext cx="8135620" cy="447484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3200" dirty="0" err="1">
                <a:solidFill>
                  <a:schemeClr val="tx1"/>
                </a:solidFill>
                <a:latin typeface="Arial" panose="020B0604020202020204" pitchFamily="34" charset="0"/>
              </a:rPr>
              <a:t>Виконати на вибір одне з 4 завдань (стаття, фільм, взуття, рецепт):</a:t>
            </a:r>
            <a:endParaRPr lang="uk-UA" sz="32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uk-UA" sz="32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57200" indent="-4572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dirty="0" err="1">
                <a:solidFill>
                  <a:schemeClr val="tx1"/>
                </a:solidFill>
                <a:latin typeface="Arial" panose="020B0604020202020204" pitchFamily="34" charset="0"/>
                <a:hlinkClick r:id="rId1" action="ppaction://hlinkfile"/>
              </a:rPr>
              <a:t>https://materials.itstep.org/content/de0459f6-202b-4607-8cf8-8c158ab0a8a1/uk</a:t>
            </a:r>
            <a:endParaRPr lang="en-US" altLang="en-US" sz="32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57200" indent="-4572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2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57200" indent="-4572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dirty="0" err="1">
                <a:solidFill>
                  <a:schemeClr val="tx1"/>
                </a:solidFill>
                <a:latin typeface="Arial" panose="020B0604020202020204" pitchFamily="34" charset="0"/>
                <a:hlinkClick r:id="rId2" action="ppaction://hlinkfile"/>
              </a:rPr>
              <a:t>https://materials.itstep.org/content/c7cdc7cd-7ec1-48eb-9a5f-7694ce06a62f/uk</a:t>
            </a:r>
            <a:endParaRPr lang="en-US" altLang="en-US" sz="3200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914" name="Text Box 225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Веб-фреймворки та </a:t>
            </a:r>
            <a:r>
              <a:rPr 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MVC</a:t>
            </a:r>
            <a:endParaRPr lang="en-US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8915" name="Text Box 22529"/>
          <p:cNvSpPr txBox="1"/>
          <p:nvPr/>
        </p:nvSpPr>
        <p:spPr>
          <a:xfrm>
            <a:off x="468630" y="1429385"/>
            <a:ext cx="8135620" cy="447484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Наразі,</a:t>
            </a:r>
            <a:r>
              <a:rPr lang="en-US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 реально активних і сучасних варіантів </a:t>
            </a:r>
            <a:r>
              <a:rPr lang="uk-UA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              веб-фреймворків </a:t>
            </a:r>
            <a:r>
              <a:rPr lang="en-US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з чітким класичним MVC дуже мало.</a:t>
            </a:r>
            <a:endParaRPr lang="en-US" altLang="en-US" sz="23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3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~8</a:t>
            </a:r>
            <a:r>
              <a:rPr lang="uk-UA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5</a:t>
            </a:r>
            <a:r>
              <a:rPr lang="en-US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% нових і активних Python веб-проєктів — це або Django (MVT), або </a:t>
            </a:r>
            <a:r>
              <a:rPr lang="en-US" altLang="en-US" sz="2300" dirty="0" err="1">
                <a:solidFill>
                  <a:schemeClr val="tx1"/>
                </a:solidFill>
                <a:latin typeface="Arial" panose="020B0604020202020204" pitchFamily="34" charset="0"/>
                <a:hlinkClick r:id="rId1" action="ppaction://hlinkfile"/>
              </a:rPr>
              <a:t>FastAPI</a:t>
            </a:r>
            <a:r>
              <a:rPr lang="en-US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 (без жорсткого MVC).</a:t>
            </a:r>
            <a:endParaRPr lang="en-US" altLang="en-US" sz="23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3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У Python-екосистемі класичний MVC практично вимирає, бо MVT + мікрофреймворки + async/функціональний стиль виявилися зручнішими та продуктивнішими </a:t>
            </a:r>
            <a:r>
              <a:rPr lang="uk-UA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        </a:t>
            </a:r>
            <a:r>
              <a:rPr lang="en-US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для більшості задач.</a:t>
            </a:r>
            <a:endParaRPr lang="en-US" altLang="en-US" sz="2300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914" name="Text Box 225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Що таке патерн </a:t>
            </a:r>
            <a:r>
              <a:rPr lang="en-US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MVT?</a:t>
            </a:r>
            <a:endParaRPr lang="en-US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8915" name="Text Box 22529"/>
          <p:cNvSpPr txBox="1"/>
          <p:nvPr/>
        </p:nvSpPr>
        <p:spPr>
          <a:xfrm>
            <a:off x="468630" y="1429385"/>
            <a:ext cx="8135620" cy="447484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MVT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(Model-View-Template) — це варіація MVC, адаптована       для веб-фреймворк</a:t>
            </a:r>
            <a:r>
              <a:rPr lang="uk-UA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у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 Django. Тут </a:t>
            </a:r>
            <a:r>
              <a:rPr lang="en-US" altLang="en-US" sz="2000" u="sng" dirty="0" err="1">
                <a:solidFill>
                  <a:schemeClr val="tx1"/>
                </a:solidFill>
                <a:latin typeface="Arial" panose="020B0604020202020204" pitchFamily="34" charset="0"/>
              </a:rPr>
              <a:t>View обробляє логіку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uk-UA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                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(як Controller у MVC), а Template — це окремий компонент </a:t>
            </a:r>
            <a:r>
              <a:rPr lang="uk-UA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        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для рендерингу UI.</a:t>
            </a: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Мета - с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простити розробку веб-додатків, розділивши дані, </a:t>
            </a:r>
            <a:r>
              <a:rPr lang="uk-UA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     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логіку та шаблони для швидкої ітерації.</a:t>
            </a: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Завдання:</a:t>
            </a: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Обробка даних (Model)</a:t>
            </a: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Бізнес-логіка та маршрутизація (View)</a:t>
            </a: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Рендеринг UI (Template)</a:t>
            </a: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У веб-розробці шаблони часто змінюються окремо від логіки, що полегшує роботу дизайнерів і розробників</a:t>
            </a: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914" name="Text Box 225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Model</a:t>
            </a:r>
            <a:endParaRPr lang="en-US" alt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8915" name="Text Box 22529"/>
          <p:cNvSpPr txBox="1"/>
          <p:nvPr/>
        </p:nvSpPr>
        <p:spPr>
          <a:xfrm>
            <a:off x="468630" y="1429385"/>
            <a:ext cx="8135620" cy="447484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chemeClr val="tx1"/>
                </a:solidFill>
                <a:latin typeface="Arial" panose="020B0604020202020204" pitchFamily="34" charset="0"/>
              </a:rPr>
              <a:t>Model </a:t>
            </a:r>
            <a:r>
              <a:rPr lang="en-US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у MVT — те саме, що в MVC: шар даних, який визначає структуру бази даних і бізнес-логіку.</a:t>
            </a:r>
            <a:endParaRPr lang="en-US" altLang="en-US" sz="23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3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Мета - з</a:t>
            </a:r>
            <a:r>
              <a:rPr lang="en-US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абезпечити незалежне управління даними.</a:t>
            </a:r>
            <a:endParaRPr lang="en-US" altLang="en-US" sz="23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3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Завдання:</a:t>
            </a:r>
            <a:endParaRPr lang="en-US" altLang="en-US" sz="23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Опис моделей бази даних (Django ORM автоматично створює таблиці, пише SQL, дає зручний інтерфейс для запитів)</a:t>
            </a:r>
            <a:endParaRPr lang="en-US" altLang="en-US" sz="23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Валідація та маніпуляція даними</a:t>
            </a:r>
            <a:endParaRPr lang="en-US" altLang="en-US" sz="23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Вирішує проблему</a:t>
            </a:r>
            <a:r>
              <a:rPr lang="uk-UA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 а</a:t>
            </a:r>
            <a:r>
              <a:rPr lang="en-US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втоматичн</a:t>
            </a:r>
            <a:r>
              <a:rPr lang="uk-UA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ої</a:t>
            </a:r>
            <a:r>
              <a:rPr lang="en-US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 генераці</a:t>
            </a:r>
            <a:r>
              <a:rPr lang="uk-UA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ї</a:t>
            </a:r>
            <a:r>
              <a:rPr lang="en-US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 SQL, </a:t>
            </a:r>
            <a:r>
              <a:rPr lang="uk-UA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робить </a:t>
            </a:r>
            <a:r>
              <a:rPr lang="en-US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міграції без ручної роботи з БД</a:t>
            </a:r>
            <a:endParaRPr lang="en-US" altLang="en-US" sz="2300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914" name="Text Box 225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View</a:t>
            </a:r>
            <a:endParaRPr lang="en-US" alt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8915" name="Text Box 22529"/>
          <p:cNvSpPr txBox="1"/>
          <p:nvPr/>
        </p:nvSpPr>
        <p:spPr>
          <a:xfrm>
            <a:off x="468630" y="1429385"/>
            <a:ext cx="8135620" cy="447484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chemeClr val="tx1"/>
                </a:solidFill>
                <a:latin typeface="Arial" panose="020B0604020202020204" pitchFamily="34" charset="0"/>
              </a:rPr>
              <a:t>View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у MVT — це функції або класи, які обробляють запити, взаємодіють з Model і повертають відповідь, часто рендерячи Template.</a:t>
            </a:r>
            <a:endParaRPr lang="en-US" altLang="en-US" sz="22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2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Мета - о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бробляти логіку запиту без прив'язки до UI.</a:t>
            </a:r>
            <a:endParaRPr lang="en-US" altLang="en-US" sz="22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Завдання:</a:t>
            </a:r>
            <a:endParaRPr lang="en-US" altLang="en-US" sz="22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Отримання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HTTP-запит</a:t>
            </a:r>
            <a:r>
              <a:rPr lang="uk-UA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ів</a:t>
            </a:r>
            <a:endParaRPr lang="en-US" altLang="en-US" sz="22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Ч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ита</a:t>
            </a:r>
            <a:r>
              <a:rPr lang="uk-UA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ння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/</a:t>
            </a:r>
            <a:r>
              <a:rPr lang="uk-UA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запис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в модель, переві</a:t>
            </a:r>
            <a:r>
              <a:rPr lang="uk-UA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рка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 прав,</a:t>
            </a:r>
            <a:r>
              <a:rPr lang="uk-UA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обчислення</a:t>
            </a:r>
            <a:r>
              <a:rPr lang="uk-UA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endParaRPr lang="uk-UA" altLang="en-US" sz="22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Вибір шаблону для рендерингу</a:t>
            </a:r>
            <a:endParaRPr lang="en-US" altLang="en-US" sz="22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Повернення HTTP-відповіді</a:t>
            </a:r>
            <a:r>
              <a:rPr lang="uk-UA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(найчастіше — відрендерений HTML)</a:t>
            </a:r>
            <a:endParaRPr lang="en-US" altLang="en-US" sz="22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Централізована логіка, незалежна від шаблонів</a:t>
            </a:r>
            <a:endParaRPr lang="en-US" altLang="en-US" sz="2200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914" name="Text Box 225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chemeClr val="bg1"/>
                </a:solidFill>
                <a:sym typeface="+mn-ea"/>
              </a:rPr>
              <a:t>Template</a:t>
            </a:r>
            <a:endParaRPr lang="en-US" altLang="en-US" sz="4200" dirty="0" err="1">
              <a:solidFill>
                <a:schemeClr val="bg1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38915" name="Text Box 22529"/>
          <p:cNvSpPr txBox="1"/>
          <p:nvPr/>
        </p:nvSpPr>
        <p:spPr>
          <a:xfrm>
            <a:off x="468630" y="1429385"/>
            <a:ext cx="8135620" cy="447484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chemeClr val="tx1"/>
                </a:solidFill>
                <a:latin typeface="Arial" panose="020B0604020202020204" pitchFamily="34" charset="0"/>
              </a:rPr>
              <a:t>Template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— це </a:t>
            </a:r>
            <a:r>
              <a:rPr lang="uk-UA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ф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айл з розширенням .html, в якому змішується статичний HTML + спеціальні теги Django), який рендериться </a:t>
            </a:r>
            <a:r>
              <a:rPr lang="uk-UA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з о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трим</a:t>
            </a:r>
            <a:r>
              <a:rPr lang="uk-UA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аними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дан</a:t>
            </a:r>
            <a:r>
              <a:rPr lang="uk-UA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ими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 від View (через словник context). Це </a:t>
            </a:r>
            <a:r>
              <a:rPr lang="uk-UA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відокремлений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аналог View у MVC</a:t>
            </a:r>
            <a:r>
              <a:rPr lang="uk-UA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lang="en-US" altLang="en-US" sz="22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2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Мета - з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абезпечити гнучке представлення даних.</a:t>
            </a:r>
            <a:endParaRPr lang="en-US" altLang="en-US" sz="22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2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Завдання:</a:t>
            </a:r>
            <a:endParaRPr lang="en-US" altLang="en-US" sz="22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Рендеринг динамічного контенту (цикли, умови)</a:t>
            </a:r>
            <a:endParaRPr lang="en-US" altLang="en-US" sz="22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Інтеграція з CSS/JS</a:t>
            </a:r>
            <a:endParaRPr lang="en-US" altLang="en-US" sz="22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Дизайнери можуть працювати з шаблонами </a:t>
            </a:r>
            <a:r>
              <a:rPr lang="uk-UA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                 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без Python-коду</a:t>
            </a:r>
            <a:endParaRPr lang="en-US" altLang="en-US" sz="2200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914" name="Text Box 225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chemeClr val="bg1"/>
                </a:solidFill>
                <a:sym typeface="+mn-ea"/>
              </a:rPr>
              <a:t>Порівняння</a:t>
            </a:r>
            <a:endParaRPr lang="uk-UA" altLang="en-US" sz="4200" dirty="0" err="1">
              <a:solidFill>
                <a:schemeClr val="bg1"/>
              </a:solidFill>
              <a:latin typeface="Arial" panose="020B0604020202020204" pitchFamily="34" charset="0"/>
              <a:sym typeface="+mn-ea"/>
            </a:endParaRPr>
          </a:p>
        </p:txBody>
      </p:sp>
      <p:pic>
        <p:nvPicPr>
          <p:cNvPr id="2" name="Picture 1" descr="Screenshot 2026-02-20 13565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40" y="2124075"/>
            <a:ext cx="9119235" cy="281495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914" name="Text Box 225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Потік роботи (workflow) у MVT</a:t>
            </a:r>
            <a:endParaRPr lang="en-US" altLang="en-US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8915" name="Text Box 22529"/>
          <p:cNvSpPr txBox="1"/>
          <p:nvPr/>
        </p:nvSpPr>
        <p:spPr>
          <a:xfrm>
            <a:off x="468630" y="1429385"/>
            <a:ext cx="8135620" cy="447484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Користувач вводить URL</a:t>
            </a:r>
            <a:r>
              <a:rPr lang="uk-UA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,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 браузер надсилає HTTP-запит</a:t>
            </a:r>
            <a:endParaRPr lang="en-US" altLang="en-US" sz="22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Django URL dispatcher (маршрутизатор) дивиться </a:t>
            </a:r>
            <a:r>
              <a:rPr lang="uk-UA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          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на urls.py і знаходить відповідну функцію/клас View</a:t>
            </a:r>
            <a:endParaRPr lang="en-US" altLang="en-US" sz="22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View отримує об’єкт request</a:t>
            </a:r>
            <a:endParaRPr lang="en-US" altLang="en-US" sz="22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View (за потреби) звертається до Model — читає/змінює дані через ORM</a:t>
            </a:r>
            <a:endParaRPr lang="en-US" altLang="en-US" sz="22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View готує контекст (словник з даними)</a:t>
            </a:r>
            <a:endParaRPr lang="en-US" altLang="en-US" sz="22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View викликає render(request, 'шлях/до/шаблону.html', context)</a:t>
            </a:r>
            <a:endParaRPr lang="en-US" altLang="en-US" sz="22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Django бере Template, підставляє дані з context, виконує всі теги/цикли/умови</a:t>
            </a:r>
            <a:endParaRPr lang="en-US" altLang="en-US" sz="22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Готовий HTML повертається у відповідь браузеру</a:t>
            </a:r>
            <a:endParaRPr lang="en-US" altLang="en-US" sz="2200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3975"/>
            <a:ext cx="8846820" cy="6605905"/>
          </a:xfrm>
          <a:prstGeom prst="rect">
            <a:avLst/>
          </a:prstGeom>
        </p:spPr>
      </p:pic>
      <p:sp>
        <p:nvSpPr>
          <p:cNvPr id="38914" name="Text Box 225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лалала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8915" name="Text Box 22529"/>
          <p:cNvSpPr txBox="1"/>
          <p:nvPr/>
        </p:nvSpPr>
        <p:spPr>
          <a:xfrm>
            <a:off x="468630" y="1429385"/>
            <a:ext cx="8135620" cy="447484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uk-UA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" y="1494155"/>
            <a:ext cx="9144000" cy="389382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095" y="1899285"/>
            <a:ext cx="1557020" cy="7715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7210" y="2033905"/>
            <a:ext cx="2133600" cy="39306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1685" y="4238625"/>
            <a:ext cx="323215" cy="77152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914" name="Text Box 225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Аналогія </a:t>
            </a:r>
            <a:endParaRPr lang="ru-RU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8915" name="Text Box 22529"/>
          <p:cNvSpPr txBox="1"/>
          <p:nvPr/>
        </p:nvSpPr>
        <p:spPr>
          <a:xfrm>
            <a:off x="468630" y="1429385"/>
            <a:ext cx="8135620" cy="447484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Ресторан:</a:t>
            </a: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Model — кухня + склад продуктів (рецепти, інгредієнти, база знань про страви)</a:t>
            </a: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View — офіціант + кухар (приймає замовлення, йде на кухню, готує/збирає страву, вирішує як подати)</a:t>
            </a: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Template — тарілка + оформлення страви (як саме подається, прикрашено, з соусом чи без)</a:t>
            </a: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Клієнт (браузер) спілкується тільки з офіціантом (View).</a:t>
            </a: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Офіціант іде на кухню (Model).</a:t>
            </a: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Потім красиво кладе страву на тарілку (Template) і приносить клієнту.</a:t>
            </a:r>
            <a:endParaRPr lang="en-US" altLang="en-US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914" name="Text Box 225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Переваги п</a:t>
            </a:r>
            <a:r>
              <a:rPr lang="uk-UA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і</a:t>
            </a:r>
            <a:r>
              <a:rPr lang="ru-RU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дходу</a:t>
            </a:r>
            <a:endParaRPr lang="ru-RU" alt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8915" name="Text Box 22529"/>
          <p:cNvSpPr txBox="1"/>
          <p:nvPr/>
        </p:nvSpPr>
        <p:spPr>
          <a:xfrm>
            <a:off x="468630" y="1429385"/>
            <a:ext cx="8135620" cy="447484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dirty="0" err="1">
                <a:solidFill>
                  <a:schemeClr val="tx1"/>
                </a:solidFill>
                <a:latin typeface="Arial" panose="020B0604020202020204" pitchFamily="34" charset="0"/>
              </a:rPr>
              <a:t>чітке розділення відповідальностей (SOLID — Single Responsibility)</a:t>
            </a:r>
            <a:endParaRPr lang="en-US" altLang="en-US" sz="25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dirty="0" err="1">
                <a:solidFill>
                  <a:schemeClr val="tx1"/>
                </a:solidFill>
                <a:latin typeface="Arial" panose="020B0604020202020204" pitchFamily="34" charset="0"/>
              </a:rPr>
              <a:t>моделі можна перевикористовувати в API, консольних командах</a:t>
            </a:r>
            <a:r>
              <a:rPr lang="uk-UA" altLang="en-US" sz="2500" dirty="0" err="1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500" dirty="0" err="1">
                <a:solidFill>
                  <a:schemeClr val="tx1"/>
                </a:solidFill>
                <a:latin typeface="Arial" panose="020B0604020202020204" pitchFamily="34" charset="0"/>
              </a:rPr>
              <a:t>тощо</a:t>
            </a:r>
            <a:endParaRPr lang="en-US" altLang="en-US" sz="25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dirty="0" err="1">
                <a:solidFill>
                  <a:schemeClr val="tx1"/>
                </a:solidFill>
                <a:latin typeface="Arial" panose="020B0604020202020204" pitchFamily="34" charset="0"/>
              </a:rPr>
              <a:t>шаблони легко змінювати дизайнерам (майже </a:t>
            </a:r>
            <a:r>
              <a:rPr lang="uk-UA" altLang="en-US" sz="2500" dirty="0" err="1">
                <a:solidFill>
                  <a:schemeClr val="tx1"/>
                </a:solidFill>
                <a:latin typeface="Arial" panose="020B0604020202020204" pitchFamily="34" charset="0"/>
              </a:rPr>
              <a:t>   </a:t>
            </a:r>
            <a:r>
              <a:rPr lang="en-US" altLang="en-US" sz="2500" dirty="0" err="1">
                <a:solidFill>
                  <a:schemeClr val="tx1"/>
                </a:solidFill>
                <a:latin typeface="Arial" panose="020B0604020202020204" pitchFamily="34" charset="0"/>
              </a:rPr>
              <a:t>без дотику до Python)</a:t>
            </a:r>
            <a:endParaRPr lang="en-US" altLang="en-US" sz="25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dirty="0" err="1">
                <a:solidFill>
                  <a:schemeClr val="tx1"/>
                </a:solidFill>
                <a:latin typeface="Arial" panose="020B0604020202020204" pitchFamily="34" charset="0"/>
              </a:rPr>
              <a:t>views дозволяють писати як функції (просто), </a:t>
            </a:r>
            <a:r>
              <a:rPr lang="uk-UA" altLang="en-US" sz="2500" dirty="0" err="1">
                <a:solidFill>
                  <a:schemeClr val="tx1"/>
                </a:solidFill>
                <a:latin typeface="Arial" panose="020B0604020202020204" pitchFamily="34" charset="0"/>
              </a:rPr>
              <a:t>     </a:t>
            </a:r>
            <a:r>
              <a:rPr lang="en-US" altLang="en-US" sz="2500" dirty="0" err="1">
                <a:solidFill>
                  <a:schemeClr val="tx1"/>
                </a:solidFill>
                <a:latin typeface="Arial" panose="020B0604020202020204" pitchFamily="34" charset="0"/>
              </a:rPr>
              <a:t>так і класи (потужно + перевикористання)</a:t>
            </a:r>
            <a:endParaRPr lang="en-US" altLang="en-US" sz="25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dirty="0" err="1">
                <a:solidFill>
                  <a:schemeClr val="tx1"/>
                </a:solidFill>
                <a:latin typeface="Arial" panose="020B0604020202020204" pitchFamily="34" charset="0"/>
              </a:rPr>
              <a:t>Django бере на себе багато рутинної роботи (маршрути, ORM, CSRF, валідація тощо)</a:t>
            </a:r>
            <a:endParaRPr lang="en-US" altLang="en-US" sz="2500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914" name="Text Box 225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Найпоширеніші непорозумінн</a:t>
            </a:r>
            <a:r>
              <a:rPr lang="uk-UA" alt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я</a:t>
            </a:r>
            <a:endParaRPr lang="uk-UA" altLang="en-US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8915" name="Text Box 22529"/>
          <p:cNvSpPr txBox="1"/>
          <p:nvPr/>
        </p:nvSpPr>
        <p:spPr>
          <a:xfrm>
            <a:off x="468630" y="1429385"/>
            <a:ext cx="8135620" cy="447484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000" b="1" dirty="0" err="1">
                <a:solidFill>
                  <a:schemeClr val="tx1"/>
                </a:solidFill>
                <a:latin typeface="Arial" panose="020B0604020202020204" pitchFamily="34" charset="0"/>
              </a:rPr>
              <a:t>Чому View не малює HTML?</a:t>
            </a:r>
            <a:r>
              <a:rPr lang="en-US" altLang="en-US" sz="3000" dirty="0" err="1">
                <a:solidFill>
                  <a:schemeClr val="tx1"/>
                </a:solidFill>
                <a:latin typeface="Arial" panose="020B0604020202020204" pitchFamily="34" charset="0"/>
              </a:rPr>
              <a:t> → </a:t>
            </a:r>
            <a:r>
              <a:rPr lang="uk-UA" altLang="en-US" sz="3000" dirty="0" err="1">
                <a:solidFill>
                  <a:schemeClr val="tx1"/>
                </a:solidFill>
                <a:latin typeface="Arial" panose="020B0604020202020204" pitchFamily="34" charset="0"/>
              </a:rPr>
              <a:t>             </a:t>
            </a:r>
            <a:r>
              <a:rPr lang="en-US" altLang="en-US" sz="3000" dirty="0" err="1">
                <a:solidFill>
                  <a:schemeClr val="tx1"/>
                </a:solidFill>
                <a:latin typeface="Arial" panose="020B0604020202020204" pitchFamily="34" charset="0"/>
              </a:rPr>
              <a:t>бо в Django це робить Template</a:t>
            </a:r>
            <a:endParaRPr lang="en-US" altLang="en-US" sz="3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000" b="1" dirty="0" err="1">
                <a:solidFill>
                  <a:schemeClr val="tx1"/>
                </a:solidFill>
                <a:latin typeface="Arial" panose="020B0604020202020204" pitchFamily="34" charset="0"/>
              </a:rPr>
              <a:t>Тоді View — це контролер?</a:t>
            </a:r>
            <a:r>
              <a:rPr lang="en-US" altLang="en-US" sz="3000" dirty="0" err="1">
                <a:solidFill>
                  <a:schemeClr val="tx1"/>
                </a:solidFill>
                <a:latin typeface="Arial" panose="020B0604020202020204" pitchFamily="34" charset="0"/>
              </a:rPr>
              <a:t> → </a:t>
            </a:r>
            <a:r>
              <a:rPr lang="uk-UA" altLang="en-US" sz="3000" dirty="0" err="1">
                <a:solidFill>
                  <a:schemeClr val="tx1"/>
                </a:solidFill>
                <a:latin typeface="Arial" panose="020B0604020202020204" pitchFamily="34" charset="0"/>
              </a:rPr>
              <a:t>               </a:t>
            </a:r>
            <a:r>
              <a:rPr lang="en-US" altLang="en-US" sz="3000" dirty="0" err="1">
                <a:solidFill>
                  <a:schemeClr val="tx1"/>
                </a:solidFill>
                <a:latin typeface="Arial" panose="020B0604020202020204" pitchFamily="34" charset="0"/>
              </a:rPr>
              <a:t>за суттю — так</a:t>
            </a:r>
            <a:endParaRPr lang="en-US" altLang="en-US" sz="3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000" b="1" dirty="0" err="1">
                <a:solidFill>
                  <a:schemeClr val="tx1"/>
                </a:solidFill>
                <a:latin typeface="Arial" panose="020B0604020202020204" pitchFamily="34" charset="0"/>
              </a:rPr>
              <a:t>А де тоді контролер?</a:t>
            </a:r>
            <a:r>
              <a:rPr lang="en-US" altLang="en-US" sz="3000" dirty="0" err="1">
                <a:solidFill>
                  <a:schemeClr val="tx1"/>
                </a:solidFill>
                <a:latin typeface="Arial" panose="020B0604020202020204" pitchFamily="34" charset="0"/>
              </a:rPr>
              <a:t> → його роль виконує фреймворк + View</a:t>
            </a:r>
            <a:endParaRPr lang="en-US" altLang="en-US" sz="3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000" b="1" dirty="0" err="1">
                <a:solidFill>
                  <a:schemeClr val="tx1"/>
                </a:solidFill>
                <a:latin typeface="Arial" panose="020B0604020202020204" pitchFamily="34" charset="0"/>
              </a:rPr>
              <a:t>Чи можна називати Django MVC?</a:t>
            </a:r>
            <a:r>
              <a:rPr lang="en-US" altLang="en-US" sz="3000" dirty="0" err="1">
                <a:solidFill>
                  <a:schemeClr val="tx1"/>
                </a:solidFill>
                <a:latin typeface="Arial" panose="020B0604020202020204" pitchFamily="34" charset="0"/>
              </a:rPr>
              <a:t> → технічно так, але краще казати MVT, </a:t>
            </a:r>
            <a:r>
              <a:rPr lang="uk-UA" altLang="en-US" sz="3000" dirty="0" err="1">
                <a:solidFill>
                  <a:schemeClr val="tx1"/>
                </a:solidFill>
                <a:latin typeface="Arial" panose="020B0604020202020204" pitchFamily="34" charset="0"/>
              </a:rPr>
              <a:t>    </a:t>
            </a:r>
            <a:r>
              <a:rPr lang="en-US" altLang="en-US" sz="3000" dirty="0" err="1">
                <a:solidFill>
                  <a:schemeClr val="tx1"/>
                </a:solidFill>
                <a:latin typeface="Arial" panose="020B0604020202020204" pitchFamily="34" charset="0"/>
              </a:rPr>
              <a:t>щоб не плутатися</a:t>
            </a:r>
            <a:endParaRPr lang="en-US" altLang="en-US" sz="3000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914" name="Text Box 225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Приклади коду на </a:t>
            </a:r>
            <a:r>
              <a:rPr lang="en-US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MVT</a:t>
            </a:r>
            <a:endParaRPr lang="en-US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8915" name="Text Box 22529"/>
          <p:cNvSpPr txBox="1"/>
          <p:nvPr/>
        </p:nvSpPr>
        <p:spPr>
          <a:xfrm>
            <a:off x="468630" y="1429385"/>
            <a:ext cx="8135620" cy="447484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dirty="0" err="1">
                <a:solidFill>
                  <a:schemeClr val="tx1"/>
                </a:solidFill>
                <a:latin typeface="Arial" panose="020B0604020202020204" pitchFamily="34" charset="0"/>
                <a:hlinkClick r:id="rId1" action="ppaction://hlinkfile"/>
              </a:rPr>
              <a:t>https://gist.github.com/sunmeat/a6f1fe4b53c672f54a5ea1aa9f3beaed</a:t>
            </a:r>
            <a:r>
              <a:rPr lang="en-US" altLang="en-US" sz="3200" dirty="0" err="1">
                <a:solidFill>
                  <a:schemeClr val="tx1"/>
                </a:solidFill>
                <a:latin typeface="Arial" panose="020B0604020202020204" pitchFamily="34" charset="0"/>
              </a:rPr>
              <a:t> console</a:t>
            </a:r>
            <a:endParaRPr lang="en-US" altLang="en-US" sz="32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dirty="0" err="1">
                <a:solidFill>
                  <a:schemeClr val="tx1"/>
                </a:solidFill>
                <a:latin typeface="Arial" panose="020B0604020202020204" pitchFamily="34" charset="0"/>
                <a:hlinkClick r:id="rId2" action="ppaction://hlinkfile"/>
              </a:rPr>
              <a:t>https://gist.github.com/sunmeat/bd623d7baefdb05c4a9af295da40f032</a:t>
            </a:r>
            <a:r>
              <a:rPr lang="en-US" altLang="en-US" sz="3200" dirty="0" err="1">
                <a:solidFill>
                  <a:schemeClr val="tx1"/>
                </a:solidFill>
                <a:latin typeface="Arial" panose="020B0604020202020204" pitchFamily="34" charset="0"/>
              </a:rPr>
              <a:t> textual</a:t>
            </a:r>
            <a:endParaRPr lang="en-US" altLang="en-US" sz="32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dirty="0" err="1">
                <a:solidFill>
                  <a:schemeClr val="tx1"/>
                </a:solidFill>
                <a:latin typeface="Arial" panose="020B0604020202020204" pitchFamily="34" charset="0"/>
                <a:hlinkClick r:id="rId3" action="ppaction://hlinkfile"/>
              </a:rPr>
              <a:t>https://gist.github.com/sunmeat/baaf2670a2874d17f00cefbbcb4d55d0</a:t>
            </a:r>
            <a:r>
              <a:rPr lang="en-US" altLang="en-US" sz="3200" dirty="0" err="1">
                <a:solidFill>
                  <a:schemeClr val="tx1"/>
                </a:solidFill>
                <a:latin typeface="Arial" panose="020B0604020202020204" pitchFamily="34" charset="0"/>
              </a:rPr>
              <a:t> pyside6</a:t>
            </a:r>
            <a:endParaRPr lang="en-US" altLang="en-US" sz="32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dirty="0" err="1">
                <a:solidFill>
                  <a:schemeClr val="tx1"/>
                </a:solidFill>
                <a:latin typeface="Arial" panose="020B0604020202020204" pitchFamily="34" charset="0"/>
                <a:hlinkClick r:id="rId4" action="ppaction://hlinkfile"/>
              </a:rPr>
              <a:t>https://gist.github.com/sunmeat/37cabef9b4e22d965e9f661d26aef77f</a:t>
            </a:r>
            <a:r>
              <a:rPr lang="en-US" altLang="en-US" sz="3200" dirty="0" err="1">
                <a:solidFill>
                  <a:schemeClr val="tx1"/>
                </a:solidFill>
                <a:latin typeface="Arial" panose="020B0604020202020204" pitchFamily="34" charset="0"/>
              </a:rPr>
              <a:t> flask</a:t>
            </a:r>
            <a:endParaRPr lang="en-US" altLang="en-US" sz="32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2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uk-UA" altLang="en-US" sz="3200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914" name="Text Box 225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Як щодо </a:t>
            </a:r>
            <a:r>
              <a:rPr lang="en-US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Clean Architecture?</a:t>
            </a:r>
            <a:endParaRPr lang="en-US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8915" name="Text Box 22529"/>
          <p:cNvSpPr txBox="1"/>
          <p:nvPr/>
        </p:nvSpPr>
        <p:spPr>
          <a:xfrm>
            <a:off x="468630" y="1429385"/>
            <a:ext cx="8135620" cy="447484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chemeClr val="tx1"/>
                </a:solidFill>
                <a:latin typeface="Arial" panose="020B0604020202020204" pitchFamily="34" charset="0"/>
              </a:rPr>
              <a:t>Clean Architecture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— це підхід, запропонований Робертом Мартіном, де код організований у шари, щоб зробити систему незалежною від фреймворків, баз даних чи UI. Основні шари:</a:t>
            </a:r>
            <a:endParaRPr lang="en-US" altLang="en-US" sz="22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chemeClr val="tx1"/>
                </a:solidFill>
                <a:latin typeface="Arial" panose="020B0604020202020204" pitchFamily="34" charset="0"/>
              </a:rPr>
              <a:t>Entities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(Доменні сутності) - </a:t>
            </a:r>
            <a:r>
              <a:rPr lang="uk-UA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б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ізнес-правила та моделі, незалежні від усього</a:t>
            </a:r>
            <a:endParaRPr lang="en-US" altLang="en-US" sz="22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chemeClr val="tx1"/>
                </a:solidFill>
                <a:latin typeface="Arial" panose="020B0604020202020204" pitchFamily="34" charset="0"/>
              </a:rPr>
              <a:t>Use Cases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(Випадки використання)</a:t>
            </a:r>
            <a:r>
              <a:rPr lang="uk-UA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 - б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ізнес-логіка, </a:t>
            </a:r>
            <a:r>
              <a:rPr lang="uk-UA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      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яка оркеструє </a:t>
            </a:r>
            <a:r>
              <a:rPr lang="uk-UA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сутності</a:t>
            </a:r>
            <a:endParaRPr lang="en-US" altLang="en-US" sz="22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chemeClr val="tx1"/>
                </a:solidFill>
                <a:latin typeface="Arial" panose="020B0604020202020204" pitchFamily="34" charset="0"/>
              </a:rPr>
              <a:t>Adapters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(Адаптери)</a:t>
            </a:r>
            <a:r>
              <a:rPr lang="uk-UA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 - і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нтерфейси для взаємодії </a:t>
            </a:r>
            <a:r>
              <a:rPr lang="uk-UA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               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з зовнішнім світом (наприклад, репозиторії для БД)</a:t>
            </a:r>
            <a:endParaRPr lang="en-US" altLang="en-US" sz="22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chemeClr val="tx1"/>
                </a:solidFill>
                <a:latin typeface="Arial" panose="020B0604020202020204" pitchFamily="34" charset="0"/>
              </a:rPr>
              <a:t>Frameworks &amp; Drivers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 (Фреймворки)</a:t>
            </a:r>
            <a:r>
              <a:rPr lang="uk-UA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 - к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онкретні інструменти, як Django чи Flask, які "підключаються" </a:t>
            </a:r>
            <a:r>
              <a:rPr lang="uk-UA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      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до адаптерів</a:t>
            </a:r>
            <a:endParaRPr lang="en-US" altLang="en-US" sz="2200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914" name="Text Box 225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sym typeface="+mn-ea"/>
              </a:rPr>
              <a:t>Як щодо </a:t>
            </a:r>
            <a:r>
              <a:rPr lang="en-US" altLang="ru-RU" sz="4200" dirty="0" err="1">
                <a:solidFill>
                  <a:srgbClr val="FFFFFF"/>
                </a:solidFill>
                <a:sym typeface="+mn-ea"/>
              </a:rPr>
              <a:t>Clean Architecture?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8915" name="Text Box 22529"/>
          <p:cNvSpPr txBox="1"/>
          <p:nvPr/>
        </p:nvSpPr>
        <p:spPr>
          <a:xfrm>
            <a:off x="468630" y="1429385"/>
            <a:ext cx="8135620" cy="447484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У Django це не є "рідним" підходом, бо фреймворк орієнтований на швидку розробку з "батарейками </a:t>
            </a:r>
            <a:r>
              <a:rPr lang="uk-UA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                  </a:t>
            </a:r>
            <a:r>
              <a:rPr lang="en-US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в комплекті". Але спільнота адаптує Clean Architecture, розділяючи код на шари, подібно до </a:t>
            </a:r>
            <a:r>
              <a:rPr lang="uk-UA" altLang="en-US" sz="2300" dirty="0" err="1">
                <a:solidFill>
                  <a:schemeClr val="tx1"/>
                </a:solidFill>
                <a:latin typeface="Arial" panose="020B0604020202020204" pitchFamily="34" charset="0"/>
                <a:hlinkClick r:id="rId1" action="ppaction://hlinkfile"/>
              </a:rPr>
              <a:t>схеми</a:t>
            </a:r>
            <a:r>
              <a:rPr lang="uk-UA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, але значно простіше</a:t>
            </a:r>
            <a:r>
              <a:rPr lang="en-US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. Наприклад, у Django-про</a:t>
            </a:r>
            <a:r>
              <a:rPr lang="uk-UA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є</a:t>
            </a:r>
            <a:r>
              <a:rPr lang="en-US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ктах з Clean Architecture часто створюють окремі директорії </a:t>
            </a:r>
            <a:r>
              <a:rPr lang="uk-UA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                </a:t>
            </a:r>
            <a:r>
              <a:rPr lang="en-US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для домену, сервісів та інфраструктури, </a:t>
            </a:r>
            <a:r>
              <a:rPr lang="uk-UA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                                  </a:t>
            </a:r>
            <a:r>
              <a:rPr lang="en-US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а не покладаються тільки на стандартну структуру </a:t>
            </a:r>
            <a:r>
              <a:rPr lang="uk-UA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додатк</a:t>
            </a:r>
            <a:r>
              <a:rPr lang="en-US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ів. Є навіть готові </a:t>
            </a:r>
            <a:r>
              <a:rPr lang="en-US" altLang="en-US" sz="2300" dirty="0" err="1">
                <a:solidFill>
                  <a:schemeClr val="tx1"/>
                </a:solidFill>
                <a:latin typeface="Arial" panose="020B0604020202020204" pitchFamily="34" charset="0"/>
                <a:hlinkClick r:id="rId2" action="ppaction://hlinkfile"/>
              </a:rPr>
              <a:t>приклади на GitHub</a:t>
            </a:r>
            <a:r>
              <a:rPr lang="en-US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uk-UA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                   </a:t>
            </a:r>
            <a:r>
              <a:rPr lang="en-US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де payments-система побудована з </a:t>
            </a:r>
            <a:r>
              <a:rPr lang="uk-UA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сутностями </a:t>
            </a:r>
            <a:r>
              <a:rPr lang="en-US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в чистому Python, а Django — тільки як зовнішній шар. Це допомагає з тестуванням і масштабом, але вимагає більше </a:t>
            </a:r>
            <a:r>
              <a:rPr lang="uk-UA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					</a:t>
            </a:r>
            <a:r>
              <a:rPr lang="en-US" altLang="en-US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boilerplate-коду, ніж стандартний Django.</a:t>
            </a:r>
            <a:endParaRPr lang="en-US" altLang="en-US" sz="2300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914" name="Text Box 225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chemeClr val="bg1"/>
                </a:solidFill>
                <a:sym typeface="+mn-ea"/>
              </a:rPr>
              <a:t>П</a:t>
            </a:r>
            <a:r>
              <a:rPr lang="en-US" altLang="en-US" sz="4200" dirty="0" err="1">
                <a:solidFill>
                  <a:schemeClr val="bg1"/>
                </a:solidFill>
                <a:sym typeface="+mn-ea"/>
              </a:rPr>
              <a:t>орівнянн</a:t>
            </a:r>
            <a:r>
              <a:rPr lang="uk-UA" altLang="en-US" sz="4200" dirty="0" err="1">
                <a:solidFill>
                  <a:schemeClr val="bg1"/>
                </a:solidFill>
                <a:sym typeface="+mn-ea"/>
              </a:rPr>
              <a:t>я</a:t>
            </a:r>
            <a:r>
              <a:rPr lang="en-US" altLang="en-US" sz="4200" dirty="0" err="1">
                <a:solidFill>
                  <a:schemeClr val="bg1"/>
                </a:solidFill>
                <a:sym typeface="+mn-ea"/>
              </a:rPr>
              <a:t> з ASP.NET Core</a:t>
            </a:r>
            <a:endParaRPr lang="en-US" altLang="en-US" sz="4200" dirty="0" err="1">
              <a:solidFill>
                <a:schemeClr val="bg1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38915" name="Text Box 22529"/>
          <p:cNvSpPr txBox="1"/>
          <p:nvPr/>
        </p:nvSpPr>
        <p:spPr>
          <a:xfrm>
            <a:off x="468630" y="1429385"/>
            <a:ext cx="8135620" cy="447484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600" dirty="0" err="1">
                <a:solidFill>
                  <a:schemeClr val="tx1"/>
                </a:solidFill>
                <a:latin typeface="Arial" panose="020B0604020202020204" pitchFamily="34" charset="0"/>
              </a:rPr>
              <a:t>У порівнянні з ASP.NET Core, де шари (Presentation, Application, Domain, Infrastructure) чітко розділені </a:t>
            </a:r>
            <a:r>
              <a:rPr lang="uk-UA" altLang="en-US" sz="2600" dirty="0" err="1">
                <a:solidFill>
                  <a:schemeClr val="tx1"/>
                </a:solidFill>
                <a:latin typeface="Arial" panose="020B0604020202020204" pitchFamily="34" charset="0"/>
              </a:rPr>
              <a:t>   </a:t>
            </a:r>
            <a:r>
              <a:rPr lang="en-US" altLang="en-US" sz="2600" dirty="0" err="1">
                <a:solidFill>
                  <a:schemeClr val="tx1"/>
                </a:solidFill>
                <a:latin typeface="Arial" panose="020B0604020202020204" pitchFamily="34" charset="0"/>
              </a:rPr>
              <a:t>в окремих про</a:t>
            </a:r>
            <a:r>
              <a:rPr lang="uk-UA" altLang="en-US" sz="2600" dirty="0" err="1">
                <a:solidFill>
                  <a:schemeClr val="tx1"/>
                </a:solidFill>
                <a:latin typeface="Arial" panose="020B0604020202020204" pitchFamily="34" charset="0"/>
              </a:rPr>
              <a:t>є</a:t>
            </a:r>
            <a:r>
              <a:rPr lang="en-US" altLang="en-US" sz="2600" dirty="0" err="1">
                <a:solidFill>
                  <a:schemeClr val="tx1"/>
                </a:solidFill>
                <a:latin typeface="Arial" panose="020B0604020202020204" pitchFamily="34" charset="0"/>
              </a:rPr>
              <a:t>ктах, Django більш гнучкий, </a:t>
            </a:r>
            <a:r>
              <a:rPr lang="uk-UA" altLang="en-US" sz="2600" dirty="0" err="1">
                <a:solidFill>
                  <a:schemeClr val="tx1"/>
                </a:solidFill>
                <a:latin typeface="Arial" panose="020B0604020202020204" pitchFamily="34" charset="0"/>
              </a:rPr>
              <a:t>         </a:t>
            </a:r>
            <a:r>
              <a:rPr lang="en-US" altLang="en-US" sz="2600" dirty="0" err="1">
                <a:solidFill>
                  <a:schemeClr val="tx1"/>
                </a:solidFill>
                <a:latin typeface="Arial" panose="020B0604020202020204" pitchFamily="34" charset="0"/>
              </a:rPr>
              <a:t>але менш "enterprise-орієнтований". У .NET це природно через DI (Dependency Injection) і EF Core, тоді як у Django </a:t>
            </a:r>
            <a:r>
              <a:rPr lang="uk-UA" altLang="en-US" sz="2600" dirty="0" err="1">
                <a:solidFill>
                  <a:schemeClr val="tx1"/>
                </a:solidFill>
                <a:latin typeface="Arial" panose="020B0604020202020204" pitchFamily="34" charset="0"/>
              </a:rPr>
              <a:t>можна</a:t>
            </a:r>
            <a:r>
              <a:rPr lang="en-US" altLang="en-US" sz="2600" dirty="0" err="1">
                <a:solidFill>
                  <a:schemeClr val="tx1"/>
                </a:solidFill>
                <a:latin typeface="Arial" panose="020B0604020202020204" pitchFamily="34" charset="0"/>
              </a:rPr>
              <a:t> використовувати signals, </a:t>
            </a:r>
            <a:r>
              <a:rPr lang="uk-UA" altLang="en-US" sz="2600" dirty="0" err="1">
                <a:solidFill>
                  <a:schemeClr val="tx1"/>
                </a:solidFill>
                <a:latin typeface="Arial" panose="020B0604020202020204" pitchFamily="34" charset="0"/>
              </a:rPr>
              <a:t>менеджери </a:t>
            </a:r>
            <a:r>
              <a:rPr lang="en-US" altLang="en-US" sz="2600" dirty="0" err="1">
                <a:solidFill>
                  <a:schemeClr val="tx1"/>
                </a:solidFill>
                <a:latin typeface="Arial" panose="020B0604020202020204" pitchFamily="34" charset="0"/>
              </a:rPr>
              <a:t>чи </a:t>
            </a:r>
            <a:r>
              <a:rPr lang="uk-UA" altLang="en-US" sz="2600" dirty="0" err="1">
                <a:solidFill>
                  <a:schemeClr val="tx1"/>
                </a:solidFill>
                <a:latin typeface="Arial" panose="020B0604020202020204" pitchFamily="34" charset="0"/>
              </a:rPr>
              <a:t>сторонні бібліотеки</a:t>
            </a:r>
            <a:r>
              <a:rPr lang="en-US" altLang="en-US" sz="2600" dirty="0" err="1">
                <a:solidFill>
                  <a:schemeClr val="tx1"/>
                </a:solidFill>
                <a:latin typeface="Arial" panose="020B0604020202020204" pitchFamily="34" charset="0"/>
              </a:rPr>
              <a:t> (як django-clean-architecture) для адаптації. Багато розробників радять не "вбивати" сильні сторони Django (наприклад, ORM чи admin), а інтегрувати Clean Architecture прагматично</a:t>
            </a:r>
            <a:r>
              <a:rPr lang="uk-UA" altLang="en-US" sz="2600" dirty="0" err="1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lang="uk-UA" altLang="en-US" sz="2600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914" name="Text Box 225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Чому в </a:t>
            </a:r>
            <a:r>
              <a:rPr lang="en-US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Django 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три папки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8915" name="Text Box 22529"/>
          <p:cNvSpPr txBox="1"/>
          <p:nvPr/>
        </p:nvSpPr>
        <p:spPr>
          <a:xfrm>
            <a:off x="468630" y="1429385"/>
            <a:ext cx="8135620" cy="447484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Стандартна структура Django-</a:t>
            </a:r>
            <a:r>
              <a:rPr lang="uk-UA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додатка буде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 справді проста:</a:t>
            </a:r>
            <a:endParaRPr lang="en-US" altLang="en-US" sz="18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models.py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lang="uk-UA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м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оделі даних (ORM)</a:t>
            </a:r>
            <a:endParaRPr lang="en-US" altLang="en-US" sz="18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views.py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lang="uk-UA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л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огіка обробки запитів (контролери)</a:t>
            </a:r>
            <a:endParaRPr lang="en-US" altLang="en-US" sz="18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7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templates/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lang="uk-UA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ш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аблони для рендерингу (UI)</a:t>
            </a:r>
            <a:endParaRPr lang="en-US" altLang="en-US" sz="18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Це через філософію Django — "don't repeat yourself" (DRY) і швидкий старт. Не потрібно створювати купу шарів з нуля, бо фреймворк вже надає інструменти для всього. Якщо про</a:t>
            </a:r>
            <a:r>
              <a:rPr lang="uk-UA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є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кт простий, "три папки" вистачає </a:t>
            </a:r>
            <a:r>
              <a:rPr lang="uk-UA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    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для MVT. Але для складних додатків спільнота рекомендує розширювати: додавати </a:t>
            </a:r>
            <a:r>
              <a:rPr lang="en-US" altLang="en-US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services.py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 для бізнес-логіки, </a:t>
            </a:r>
            <a:r>
              <a:rPr lang="en-US" altLang="en-US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repositories.py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 для доступу </a:t>
            </a:r>
            <a:r>
              <a:rPr lang="uk-UA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        д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о даних, і навіть розділяти на модулі (наприклад, core/domain, application/services). Чому не більше? </a:t>
            </a:r>
            <a:r>
              <a:rPr lang="en-US" altLang="en-US" sz="1800" u="sng" dirty="0" err="1">
                <a:solidFill>
                  <a:schemeClr val="tx1"/>
                </a:solidFill>
                <a:latin typeface="Arial" panose="020B0604020202020204" pitchFamily="34" charset="0"/>
              </a:rPr>
              <a:t>Python-спільнота любить простоту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 (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  <a:hlinkClick r:id="rId1" action="ppaction://hlinkfile"/>
              </a:rPr>
              <a:t>Zen of Python: "Simple is better than complex"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), тому надмірні шари вважаються over-engineering'ом, якщо не потрібно. </a:t>
            </a:r>
            <a:r>
              <a:rPr lang="uk-UA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Суворе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впровадження Clean Architecture робить Django "менш Django-подібним", </a:t>
            </a:r>
            <a:r>
              <a:rPr lang="uk-UA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                     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але для enterprise-про</a:t>
            </a:r>
            <a:r>
              <a:rPr lang="uk-UA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є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ктів це виправдано.</a:t>
            </a:r>
            <a:endParaRPr lang="en-US" altLang="en-US" sz="1800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914" name="Text Box 225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Якщо дуже хочеться </a:t>
            </a:r>
            <a:r>
              <a:rPr lang="en-US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Clean</a:t>
            </a:r>
            <a:endParaRPr lang="en-US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630" y="1226820"/>
            <a:ext cx="8663940" cy="555752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914" name="Text Box 225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Практика </a:t>
            </a:r>
            <a:r>
              <a:rPr lang="en-US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/ </a:t>
            </a:r>
            <a:r>
              <a:rPr lang="uk-UA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ДЗ на </a:t>
            </a:r>
            <a:r>
              <a:rPr lang="en-US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MVT</a:t>
            </a:r>
            <a:endParaRPr lang="en-US" alt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8915" name="Text Box 22529"/>
          <p:cNvSpPr txBox="1"/>
          <p:nvPr/>
        </p:nvSpPr>
        <p:spPr>
          <a:xfrm>
            <a:off x="468630" y="1429385"/>
            <a:ext cx="8135620" cy="447484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200" b="1" dirty="0" err="1">
              <a:solidFill>
                <a:schemeClr val="tx1"/>
              </a:solidFill>
              <a:latin typeface="Arial" panose="020B0604020202020204" pitchFamily="34" charset="0"/>
              <a:hlinkClick r:id="rId1" action="ppaction://hlinkfile"/>
            </a:endParaRPr>
          </a:p>
          <a:p>
            <a:pPr algn="ctr"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200" b="1" dirty="0" err="1">
              <a:solidFill>
                <a:schemeClr val="tx1"/>
              </a:solidFill>
              <a:latin typeface="Arial" panose="020B0604020202020204" pitchFamily="34" charset="0"/>
              <a:hlinkClick r:id="rId1" action="ppaction://hlinkfile"/>
            </a:endParaRPr>
          </a:p>
          <a:p>
            <a:pPr algn="ctr"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chemeClr val="tx1"/>
                </a:solidFill>
                <a:latin typeface="Arial" panose="020B0604020202020204" pitchFamily="34" charset="0"/>
                <a:hlinkClick r:id="rId1" action="ppaction://hlinkfile"/>
              </a:rPr>
              <a:t>https://gist.github.com/sunmeat/a864814aedae5ae838705b3babf493f7</a:t>
            </a:r>
            <a:endParaRPr lang="en-US" altLang="en-US" sz="3200" b="1" dirty="0" err="1">
              <a:solidFill>
                <a:schemeClr val="tx1"/>
              </a:solidFill>
              <a:latin typeface="Arial" panose="020B0604020202020204" pitchFamily="34" charset="0"/>
              <a:hlinkClick r:id="rId1" action="ppaction://hlinkfile"/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B973167729B9844A7328B341F515C98" ma:contentTypeVersion="12" ma:contentTypeDescription="Создание документа." ma:contentTypeScope="" ma:versionID="d6ee7b10c34e512e5b0e393e1ebaa933">
  <xsd:schema xmlns:xsd="http://www.w3.org/2001/XMLSchema" xmlns:xs="http://www.w3.org/2001/XMLSchema" xmlns:p="http://schemas.microsoft.com/office/2006/metadata/properties" xmlns:ns2="d6ce6581-db8d-4dc6-8601-0a8e8076c593" xmlns:ns3="bbbe7e71-a692-48df-be9d-e5dc64190325" targetNamespace="http://schemas.microsoft.com/office/2006/metadata/properties" ma:root="true" ma:fieldsID="0b92462fc06dbb24bfa1325724e44fec" ns2:_="" ns3:_="">
    <xsd:import namespace="d6ce6581-db8d-4dc6-8601-0a8e8076c593"/>
    <xsd:import namespace="bbbe7e71-a692-48df-be9d-e5dc641903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ce6581-db8d-4dc6-8601-0a8e8076c5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168b2bcd-3960-4df8-afb5-1b38f07337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be7e71-a692-48df-be9d-e5dc6419032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2df2618-9916-4c02-9aa1-42dcc332f6bf}" ma:internalName="TaxCatchAll" ma:showField="CatchAllData" ma:web="bbbe7e71-a692-48df-be9d-e5dc641903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bbe7e71-a692-48df-be9d-e5dc64190325" xsi:nil="true"/>
    <lcf76f155ced4ddcb4097134ff3c332f xmlns="d6ce6581-db8d-4dc6-8601-0a8e8076c59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59D01A6-268B-42B2-BEBE-D13B32E20B5D}"/>
</file>

<file path=customXml/itemProps2.xml><?xml version="1.0" encoding="utf-8"?>
<ds:datastoreItem xmlns:ds="http://schemas.openxmlformats.org/officeDocument/2006/customXml" ds:itemID="{C280DDCF-5510-4677-B9CC-06FCD07DB2C2}"/>
</file>

<file path=customXml/itemProps3.xml><?xml version="1.0" encoding="utf-8"?>
<ds:datastoreItem xmlns:ds="http://schemas.openxmlformats.org/officeDocument/2006/customXml" ds:itemID="{461FF43A-830A-4E17-B947-2C01F7E5669A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11405</Words>
  <Application>WPS Presentation</Application>
  <PresentationFormat/>
  <Paragraphs>231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39" baseType="lpstr">
      <vt:lpstr>Arial</vt:lpstr>
      <vt:lpstr>SimSun</vt:lpstr>
      <vt:lpstr>Wingdings</vt:lpstr>
      <vt:lpstr>Times New Roman</vt:lpstr>
      <vt:lpstr>Microsoft YaHei</vt:lpstr>
      <vt:lpstr>Arial Black</vt:lpstr>
      <vt:lpstr>Arial Unicode MS</vt:lpstr>
      <vt:lpstr>Arial Unicode MS</vt:lpstr>
      <vt:lpstr/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Александр Загор�</cp:lastModifiedBy>
  <cp:revision>25</cp:revision>
  <dcterms:created xsi:type="dcterms:W3CDTF">2005-09-22T16:26:00Z</dcterms:created>
  <dcterms:modified xsi:type="dcterms:W3CDTF">2026-04-20T08:20:30Z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F22F1189AEEE438287263304A0CCCF2C_12</vt:lpwstr>
  </property>
  <property fmtid="{D5CDD505-2E9C-101B-9397-08002B2CF9AE}" pid="3" name="KSOProductBuildVer">
    <vt:lpwstr>1033-12.1.0.25242</vt:lpwstr>
  </property>
  <property fmtid="{D5CDD505-2E9C-101B-9397-08002B2CF9AE}" pid="4" name="ContentTypeId">
    <vt:lpwstr>0x010100CB973167729B9844A7328B341F515C98</vt:lpwstr>
  </property>
</Properties>
</file>