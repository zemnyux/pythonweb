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9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8" r:id="rId12"/>
    <p:sldId id="394" r:id="rId13"/>
    <p:sldId id="753" r:id="rId14"/>
    <p:sldId id="269" r:id="rId15"/>
    <p:sldId id="274" r:id="rId16"/>
    <p:sldId id="395" r:id="rId17"/>
    <p:sldId id="331" r:id="rId18"/>
    <p:sldId id="397" r:id="rId19"/>
    <p:sldId id="402" r:id="rId20"/>
    <p:sldId id="403" r:id="rId21"/>
    <p:sldId id="309" r:id="rId22"/>
    <p:sldId id="404" r:id="rId23"/>
    <p:sldId id="408" r:id="rId24"/>
    <p:sldId id="752" r:id="rId25"/>
    <p:sldId id="310" r:id="rId26"/>
    <p:sldId id="406" r:id="rId27"/>
    <p:sldId id="315" r:id="rId28"/>
    <p:sldId id="410" r:id="rId29"/>
    <p:sldId id="321" r:id="rId30"/>
    <p:sldId id="415" r:id="rId31"/>
    <p:sldId id="419" r:id="rId32"/>
    <p:sldId id="423" r:id="rId33"/>
    <p:sldId id="431" r:id="rId34"/>
    <p:sldId id="440" r:id="rId35"/>
    <p:sldId id="444" r:id="rId36"/>
    <p:sldId id="450" r:id="rId37"/>
    <p:sldId id="457" r:id="rId38"/>
    <p:sldId id="459" r:id="rId39"/>
    <p:sldId id="461" r:id="rId40"/>
    <p:sldId id="471" r:id="rId41"/>
    <p:sldId id="472" r:id="rId42"/>
    <p:sldId id="473" r:id="rId43"/>
    <p:sldId id="484" r:id="rId44"/>
    <p:sldId id="486" r:id="rId45"/>
    <p:sldId id="489" r:id="rId46"/>
    <p:sldId id="490" r:id="rId47"/>
    <p:sldId id="491" r:id="rId48"/>
    <p:sldId id="496" r:id="rId49"/>
    <p:sldId id="504" r:id="rId50"/>
    <p:sldId id="509" r:id="rId51"/>
    <p:sldId id="517" r:id="rId52"/>
    <p:sldId id="518" r:id="rId53"/>
    <p:sldId id="519" r:id="rId54"/>
    <p:sldId id="520" r:id="rId55"/>
    <p:sldId id="521" r:id="rId56"/>
    <p:sldId id="522" r:id="rId57"/>
    <p:sldId id="532" r:id="rId58"/>
    <p:sldId id="533" r:id="rId59"/>
    <p:sldId id="535" r:id="rId60"/>
    <p:sldId id="536" r:id="rId61"/>
    <p:sldId id="537" r:id="rId62"/>
    <p:sldId id="538" r:id="rId63"/>
    <p:sldId id="539" r:id="rId64"/>
    <p:sldId id="540" r:id="rId65"/>
    <p:sldId id="545" r:id="rId66"/>
    <p:sldId id="556" r:id="rId67"/>
    <p:sldId id="557" r:id="rId68"/>
    <p:sldId id="560" r:id="rId69"/>
    <p:sldId id="562" r:id="rId70"/>
    <p:sldId id="563" r:id="rId71"/>
    <p:sldId id="583" r:id="rId72"/>
    <p:sldId id="584" r:id="rId73"/>
    <p:sldId id="589" r:id="rId74"/>
    <p:sldId id="599" r:id="rId75"/>
    <p:sldId id="600" r:id="rId76"/>
    <p:sldId id="603" r:id="rId77"/>
    <p:sldId id="607" r:id="rId78"/>
    <p:sldId id="613" r:id="rId79"/>
    <p:sldId id="615" r:id="rId80"/>
    <p:sldId id="619" r:id="rId81"/>
    <p:sldId id="620" r:id="rId82"/>
    <p:sldId id="623" r:id="rId83"/>
    <p:sldId id="628" r:id="rId84"/>
    <p:sldId id="631" r:id="rId85"/>
    <p:sldId id="632" r:id="rId86"/>
    <p:sldId id="634" r:id="rId87"/>
    <p:sldId id="635" r:id="rId88"/>
    <p:sldId id="636" r:id="rId89"/>
    <p:sldId id="637" r:id="rId90"/>
    <p:sldId id="638" r:id="rId91"/>
    <p:sldId id="639" r:id="rId92"/>
    <p:sldId id="640" r:id="rId93"/>
    <p:sldId id="641" r:id="rId94"/>
    <p:sldId id="642" r:id="rId95"/>
    <p:sldId id="643" r:id="rId96"/>
    <p:sldId id="645" r:id="rId97"/>
    <p:sldId id="646" r:id="rId98"/>
    <p:sldId id="647" r:id="rId99"/>
    <p:sldId id="648" r:id="rId100"/>
    <p:sldId id="663" r:id="rId101"/>
    <p:sldId id="669" r:id="rId102"/>
    <p:sldId id="670" r:id="rId103"/>
    <p:sldId id="671" r:id="rId104"/>
    <p:sldId id="672" r:id="rId105"/>
    <p:sldId id="673" r:id="rId106"/>
    <p:sldId id="676" r:id="rId107"/>
    <p:sldId id="681" r:id="rId108"/>
    <p:sldId id="683" r:id="rId109"/>
    <p:sldId id="684" r:id="rId110"/>
    <p:sldId id="685" r:id="rId111"/>
    <p:sldId id="686" r:id="rId112"/>
    <p:sldId id="687" r:id="rId113"/>
    <p:sldId id="688" r:id="rId114"/>
    <p:sldId id="689" r:id="rId115"/>
    <p:sldId id="690" r:id="rId116"/>
    <p:sldId id="693" r:id="rId117"/>
    <p:sldId id="694" r:id="rId118"/>
    <p:sldId id="695" r:id="rId119"/>
    <p:sldId id="696" r:id="rId120"/>
    <p:sldId id="697" r:id="rId121"/>
    <p:sldId id="698" r:id="rId122"/>
    <p:sldId id="725" r:id="rId123"/>
    <p:sldId id="699" r:id="rId124"/>
    <p:sldId id="700" r:id="rId125"/>
    <p:sldId id="726" r:id="rId126"/>
    <p:sldId id="701" r:id="rId127"/>
    <p:sldId id="702" r:id="rId128"/>
    <p:sldId id="729" r:id="rId129"/>
    <p:sldId id="730" r:id="rId130"/>
    <p:sldId id="731" r:id="rId131"/>
    <p:sldId id="732" r:id="rId132"/>
    <p:sldId id="734" r:id="rId133"/>
    <p:sldId id="735" r:id="rId134"/>
    <p:sldId id="703" r:id="rId135"/>
    <p:sldId id="704" r:id="rId136"/>
    <p:sldId id="705" r:id="rId137"/>
    <p:sldId id="706" r:id="rId138"/>
    <p:sldId id="727" r:id="rId139"/>
    <p:sldId id="728" r:id="rId140"/>
    <p:sldId id="707" r:id="rId141"/>
    <p:sldId id="736" r:id="rId142"/>
    <p:sldId id="737" r:id="rId143"/>
    <p:sldId id="738" r:id="rId144"/>
    <p:sldId id="739" r:id="rId145"/>
    <p:sldId id="740" r:id="rId146"/>
    <p:sldId id="741" r:id="rId147"/>
    <p:sldId id="717" r:id="rId148"/>
    <p:sldId id="718" r:id="rId149"/>
    <p:sldId id="719" r:id="rId150"/>
    <p:sldId id="720" r:id="rId151"/>
    <p:sldId id="721" r:id="rId152"/>
    <p:sldId id="722" r:id="rId153"/>
    <p:sldId id="723" r:id="rId154"/>
    <p:sldId id="724" r:id="rId155"/>
    <p:sldId id="708" r:id="rId156"/>
    <p:sldId id="742" r:id="rId157"/>
    <p:sldId id="743" r:id="rId158"/>
    <p:sldId id="744" r:id="rId159"/>
    <p:sldId id="745" r:id="rId160"/>
    <p:sldId id="746" r:id="rId161"/>
    <p:sldId id="749" r:id="rId162"/>
    <p:sldId id="747" r:id="rId163"/>
    <p:sldId id="751" r:id="rId164"/>
    <p:sldId id="750" r:id="rId165"/>
    <p:sldId id="692" r:id="rId16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160"/>
        <p:guide pos="290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4" cy="45004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84" Type="http://schemas.openxmlformats.org/officeDocument/2006/relationships/slide" Target="slides/slide78.xml"/><Relationship Id="rId63" Type="http://schemas.openxmlformats.org/officeDocument/2006/relationships/slide" Target="slides/slide57.xml"/><Relationship Id="rId42" Type="http://schemas.openxmlformats.org/officeDocument/2006/relationships/slide" Target="slides/slide36.xml"/><Relationship Id="rId21" Type="http://schemas.openxmlformats.org/officeDocument/2006/relationships/slide" Target="slides/slide15.xml"/><Relationship Id="rId159" Type="http://schemas.openxmlformats.org/officeDocument/2006/relationships/slide" Target="slides/slide153.xml"/><Relationship Id="rId138" Type="http://schemas.openxmlformats.org/officeDocument/2006/relationships/slide" Target="slides/slide132.xml"/><Relationship Id="rId170" Type="http://schemas.openxmlformats.org/officeDocument/2006/relationships/commentAuthors" Target="commentAuthors.xml"/><Relationship Id="rId107" Type="http://schemas.openxmlformats.org/officeDocument/2006/relationships/slide" Target="slides/slide101.xml"/><Relationship Id="rId74" Type="http://schemas.openxmlformats.org/officeDocument/2006/relationships/slide" Target="slides/slide68.xml"/><Relationship Id="rId53" Type="http://schemas.openxmlformats.org/officeDocument/2006/relationships/slide" Target="slides/slide47.xml"/><Relationship Id="rId32" Type="http://schemas.openxmlformats.org/officeDocument/2006/relationships/slide" Target="slides/slide26.xml"/><Relationship Id="rId149" Type="http://schemas.openxmlformats.org/officeDocument/2006/relationships/slide" Target="slides/slide143.xml"/><Relationship Id="rId128" Type="http://schemas.openxmlformats.org/officeDocument/2006/relationships/slide" Target="slides/slide122.xml"/><Relationship Id="rId11" Type="http://schemas.openxmlformats.org/officeDocument/2006/relationships/slide" Target="slides/slide5.xml"/><Relationship Id="rId95" Type="http://schemas.openxmlformats.org/officeDocument/2006/relationships/slide" Target="slides/slide89.xml"/><Relationship Id="rId5" Type="http://schemas.openxmlformats.org/officeDocument/2006/relationships/slideMaster" Target="slideMasters/slideMaster4.xml"/><Relationship Id="rId160" Type="http://schemas.openxmlformats.org/officeDocument/2006/relationships/slide" Target="slides/slide154.xml"/><Relationship Id="rId64" Type="http://schemas.openxmlformats.org/officeDocument/2006/relationships/slide" Target="slides/slide58.xml"/><Relationship Id="rId43" Type="http://schemas.openxmlformats.org/officeDocument/2006/relationships/slide" Target="slides/slide37.xml"/><Relationship Id="rId22" Type="http://schemas.openxmlformats.org/officeDocument/2006/relationships/slide" Target="slides/slide16.xml"/><Relationship Id="rId139" Type="http://schemas.openxmlformats.org/officeDocument/2006/relationships/slide" Target="slides/slide133.xml"/><Relationship Id="rId118" Type="http://schemas.openxmlformats.org/officeDocument/2006/relationships/slide" Target="slides/slide112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customXml" Target="../customXml/item1.xml"/><Relationship Id="rId33" Type="http://schemas.openxmlformats.org/officeDocument/2006/relationships/slide" Target="slides/slide27.xml"/><Relationship Id="rId129" Type="http://schemas.openxmlformats.org/officeDocument/2006/relationships/slide" Target="slides/slide123.xml"/><Relationship Id="rId12" Type="http://schemas.openxmlformats.org/officeDocument/2006/relationships/slide" Target="slides/slide6.xml"/><Relationship Id="rId108" Type="http://schemas.openxmlformats.org/officeDocument/2006/relationships/slide" Target="slides/slide102.xml"/><Relationship Id="rId96" Type="http://schemas.openxmlformats.org/officeDocument/2006/relationships/slide" Target="slides/slide90.xml"/><Relationship Id="rId75" Type="http://schemas.openxmlformats.org/officeDocument/2006/relationships/slide" Target="slides/slide69.xml"/><Relationship Id="rId54" Type="http://schemas.openxmlformats.org/officeDocument/2006/relationships/slide" Target="slides/slide48.xml"/><Relationship Id="rId161" Type="http://schemas.openxmlformats.org/officeDocument/2006/relationships/slide" Target="slides/slide155.xml"/><Relationship Id="rId140" Type="http://schemas.openxmlformats.org/officeDocument/2006/relationships/slide" Target="slides/slide134.xml"/><Relationship Id="rId6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49" Type="http://schemas.openxmlformats.org/officeDocument/2006/relationships/slide" Target="slides/slide43.xml"/><Relationship Id="rId28" Type="http://schemas.openxmlformats.org/officeDocument/2006/relationships/slide" Target="slides/slide22.xml"/><Relationship Id="rId23" Type="http://schemas.openxmlformats.org/officeDocument/2006/relationships/slide" Target="slides/slide17.xml"/><Relationship Id="rId119" Type="http://schemas.openxmlformats.org/officeDocument/2006/relationships/slide" Target="slides/slide113.xml"/><Relationship Id="rId114" Type="http://schemas.openxmlformats.org/officeDocument/2006/relationships/slide" Target="slides/slide108.xml"/><Relationship Id="rId86" Type="http://schemas.openxmlformats.org/officeDocument/2006/relationships/slide" Target="slides/slide80.xml"/><Relationship Id="rId81" Type="http://schemas.openxmlformats.org/officeDocument/2006/relationships/slide" Target="slides/slide75.xml"/><Relationship Id="rId65" Type="http://schemas.openxmlformats.org/officeDocument/2006/relationships/slide" Target="slides/slide59.xml"/><Relationship Id="rId60" Type="http://schemas.openxmlformats.org/officeDocument/2006/relationships/slide" Target="slides/slide54.xml"/><Relationship Id="rId44" Type="http://schemas.openxmlformats.org/officeDocument/2006/relationships/slide" Target="slides/slide38.xml"/><Relationship Id="rId156" Type="http://schemas.openxmlformats.org/officeDocument/2006/relationships/slide" Target="slides/slide150.xml"/><Relationship Id="rId151" Type="http://schemas.openxmlformats.org/officeDocument/2006/relationships/slide" Target="slides/slide145.xml"/><Relationship Id="rId135" Type="http://schemas.openxmlformats.org/officeDocument/2006/relationships/slide" Target="slides/slide129.xml"/><Relationship Id="rId130" Type="http://schemas.openxmlformats.org/officeDocument/2006/relationships/slide" Target="slides/slide124.xml"/><Relationship Id="rId172" Type="http://schemas.openxmlformats.org/officeDocument/2006/relationships/customXml" Target="../customXml/item2.xml"/><Relationship Id="rId39" Type="http://schemas.openxmlformats.org/officeDocument/2006/relationships/slide" Target="slides/slide33.xml"/><Relationship Id="rId18" Type="http://schemas.openxmlformats.org/officeDocument/2006/relationships/slide" Target="slides/slide12.xml"/><Relationship Id="rId13" Type="http://schemas.openxmlformats.org/officeDocument/2006/relationships/slide" Target="slides/slide7.xml"/><Relationship Id="rId109" Type="http://schemas.openxmlformats.org/officeDocument/2006/relationships/slide" Target="slides/slide103.xml"/><Relationship Id="rId97" Type="http://schemas.openxmlformats.org/officeDocument/2006/relationships/slide" Target="slides/slide91.xml"/><Relationship Id="rId76" Type="http://schemas.openxmlformats.org/officeDocument/2006/relationships/slide" Target="slides/slide70.xml"/><Relationship Id="rId55" Type="http://schemas.openxmlformats.org/officeDocument/2006/relationships/slide" Target="slides/slide49.xml"/><Relationship Id="rId50" Type="http://schemas.openxmlformats.org/officeDocument/2006/relationships/slide" Target="slides/slide44.xml"/><Relationship Id="rId34" Type="http://schemas.openxmlformats.org/officeDocument/2006/relationships/slide" Target="slides/slide28.xml"/><Relationship Id="rId167" Type="http://schemas.openxmlformats.org/officeDocument/2006/relationships/presProps" Target="presProps.xml"/><Relationship Id="rId146" Type="http://schemas.openxmlformats.org/officeDocument/2006/relationships/slide" Target="slides/slide140.xml"/><Relationship Id="rId141" Type="http://schemas.openxmlformats.org/officeDocument/2006/relationships/slide" Target="slides/slide135.xml"/><Relationship Id="rId125" Type="http://schemas.openxmlformats.org/officeDocument/2006/relationships/slide" Target="slides/slide119.xml"/><Relationship Id="rId120" Type="http://schemas.openxmlformats.org/officeDocument/2006/relationships/slide" Target="slides/slide114.xml"/><Relationship Id="rId104" Type="http://schemas.openxmlformats.org/officeDocument/2006/relationships/slide" Target="slides/slide98.xml"/><Relationship Id="rId92" Type="http://schemas.openxmlformats.org/officeDocument/2006/relationships/slide" Target="slides/slide86.xml"/><Relationship Id="rId71" Type="http://schemas.openxmlformats.org/officeDocument/2006/relationships/slide" Target="slides/slide65.xml"/><Relationship Id="rId7" Type="http://schemas.openxmlformats.org/officeDocument/2006/relationships/notesMaster" Target="notesMasters/notesMaster1.xml"/><Relationship Id="rId162" Type="http://schemas.openxmlformats.org/officeDocument/2006/relationships/slide" Target="slides/slide156.xml"/><Relationship Id="rId29" Type="http://schemas.openxmlformats.org/officeDocument/2006/relationships/slide" Target="slides/slide23.xml"/><Relationship Id="rId2" Type="http://schemas.openxmlformats.org/officeDocument/2006/relationships/theme" Target="theme/theme1.xml"/><Relationship Id="rId87" Type="http://schemas.openxmlformats.org/officeDocument/2006/relationships/slide" Target="slides/slide81.xml"/><Relationship Id="rId66" Type="http://schemas.openxmlformats.org/officeDocument/2006/relationships/slide" Target="slides/slide60.xml"/><Relationship Id="rId45" Type="http://schemas.openxmlformats.org/officeDocument/2006/relationships/slide" Target="slides/slide39.xml"/><Relationship Id="rId40" Type="http://schemas.openxmlformats.org/officeDocument/2006/relationships/slide" Target="slides/slide34.xml"/><Relationship Id="rId24" Type="http://schemas.openxmlformats.org/officeDocument/2006/relationships/slide" Target="slides/slide18.xml"/><Relationship Id="rId157" Type="http://schemas.openxmlformats.org/officeDocument/2006/relationships/slide" Target="slides/slide151.xml"/><Relationship Id="rId136" Type="http://schemas.openxmlformats.org/officeDocument/2006/relationships/slide" Target="slides/slide130.xml"/><Relationship Id="rId131" Type="http://schemas.openxmlformats.org/officeDocument/2006/relationships/slide" Target="slides/slide125.xml"/><Relationship Id="rId115" Type="http://schemas.openxmlformats.org/officeDocument/2006/relationships/slide" Target="slides/slide109.xml"/><Relationship Id="rId110" Type="http://schemas.openxmlformats.org/officeDocument/2006/relationships/slide" Target="slides/slide104.xml"/><Relationship Id="rId82" Type="http://schemas.openxmlformats.org/officeDocument/2006/relationships/slide" Target="slides/slide76.xml"/><Relationship Id="rId61" Type="http://schemas.openxmlformats.org/officeDocument/2006/relationships/slide" Target="slides/slide55.xml"/><Relationship Id="rId152" Type="http://schemas.openxmlformats.org/officeDocument/2006/relationships/slide" Target="slides/slide146.xml"/><Relationship Id="rId173" Type="http://schemas.openxmlformats.org/officeDocument/2006/relationships/customXml" Target="../customXml/item3.xml"/><Relationship Id="rId19" Type="http://schemas.openxmlformats.org/officeDocument/2006/relationships/slide" Target="slides/slide13.xml"/><Relationship Id="rId77" Type="http://schemas.openxmlformats.org/officeDocument/2006/relationships/slide" Target="slides/slide71.xml"/><Relationship Id="rId56" Type="http://schemas.openxmlformats.org/officeDocument/2006/relationships/slide" Target="slides/slide50.xml"/><Relationship Id="rId35" Type="http://schemas.openxmlformats.org/officeDocument/2006/relationships/slide" Target="slides/slide29.xml"/><Relationship Id="rId30" Type="http://schemas.openxmlformats.org/officeDocument/2006/relationships/slide" Target="slides/slide24.xml"/><Relationship Id="rId168" Type="http://schemas.openxmlformats.org/officeDocument/2006/relationships/viewProps" Target="viewProps.xml"/><Relationship Id="rId147" Type="http://schemas.openxmlformats.org/officeDocument/2006/relationships/slide" Target="slides/slide141.xml"/><Relationship Id="rId14" Type="http://schemas.openxmlformats.org/officeDocument/2006/relationships/slide" Target="slides/slide8.xml"/><Relationship Id="rId126" Type="http://schemas.openxmlformats.org/officeDocument/2006/relationships/slide" Target="slides/slide120.xml"/><Relationship Id="rId105" Type="http://schemas.openxmlformats.org/officeDocument/2006/relationships/slide" Target="slides/slide99.xml"/><Relationship Id="rId100" Type="http://schemas.openxmlformats.org/officeDocument/2006/relationships/slide" Target="slides/slide94.xml"/><Relationship Id="rId98" Type="http://schemas.openxmlformats.org/officeDocument/2006/relationships/slide" Target="slides/slide92.xml"/><Relationship Id="rId93" Type="http://schemas.openxmlformats.org/officeDocument/2006/relationships/slide" Target="slides/slide87.xml"/><Relationship Id="rId8" Type="http://schemas.openxmlformats.org/officeDocument/2006/relationships/slide" Target="slides/slide2.xml"/><Relationship Id="rId72" Type="http://schemas.openxmlformats.org/officeDocument/2006/relationships/slide" Target="slides/slide66.xml"/><Relationship Id="rId51" Type="http://schemas.openxmlformats.org/officeDocument/2006/relationships/slide" Target="slides/slide45.xml"/><Relationship Id="rId163" Type="http://schemas.openxmlformats.org/officeDocument/2006/relationships/slide" Target="slides/slide157.xml"/><Relationship Id="rId142" Type="http://schemas.openxmlformats.org/officeDocument/2006/relationships/slide" Target="slides/slide136.xml"/><Relationship Id="rId121" Type="http://schemas.openxmlformats.org/officeDocument/2006/relationships/slide" Target="slides/slide115.xml"/><Relationship Id="rId3" Type="http://schemas.openxmlformats.org/officeDocument/2006/relationships/slideMaster" Target="slideMasters/slideMaster2.xml"/><Relationship Id="rId67" Type="http://schemas.openxmlformats.org/officeDocument/2006/relationships/slide" Target="slides/slide61.xml"/><Relationship Id="rId46" Type="http://schemas.openxmlformats.org/officeDocument/2006/relationships/slide" Target="slides/slide40.xml"/><Relationship Id="rId25" Type="http://schemas.openxmlformats.org/officeDocument/2006/relationships/slide" Target="slides/slide19.xml"/><Relationship Id="rId158" Type="http://schemas.openxmlformats.org/officeDocument/2006/relationships/slide" Target="slides/slide152.xml"/><Relationship Id="rId137" Type="http://schemas.openxmlformats.org/officeDocument/2006/relationships/slide" Target="slides/slide131.xml"/><Relationship Id="rId116" Type="http://schemas.openxmlformats.org/officeDocument/2006/relationships/slide" Target="slides/slide110.xml"/><Relationship Id="rId88" Type="http://schemas.openxmlformats.org/officeDocument/2006/relationships/slide" Target="slides/slide82.xml"/><Relationship Id="rId83" Type="http://schemas.openxmlformats.org/officeDocument/2006/relationships/slide" Target="slides/slide77.xml"/><Relationship Id="rId62" Type="http://schemas.openxmlformats.org/officeDocument/2006/relationships/slide" Target="slides/slide56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153" Type="http://schemas.openxmlformats.org/officeDocument/2006/relationships/slide" Target="slides/slide147.xml"/><Relationship Id="rId132" Type="http://schemas.openxmlformats.org/officeDocument/2006/relationships/slide" Target="slides/slide126.xml"/><Relationship Id="rId111" Type="http://schemas.openxmlformats.org/officeDocument/2006/relationships/slide" Target="slides/slide105.xml"/><Relationship Id="rId57" Type="http://schemas.openxmlformats.org/officeDocument/2006/relationships/slide" Target="slides/slide51.xml"/><Relationship Id="rId36" Type="http://schemas.openxmlformats.org/officeDocument/2006/relationships/slide" Target="slides/slide30.xml"/><Relationship Id="rId15" Type="http://schemas.openxmlformats.org/officeDocument/2006/relationships/slide" Target="slides/slide9.xml"/><Relationship Id="rId127" Type="http://schemas.openxmlformats.org/officeDocument/2006/relationships/slide" Target="slides/slide121.xml"/><Relationship Id="rId106" Type="http://schemas.openxmlformats.org/officeDocument/2006/relationships/slide" Target="slides/slide100.xml"/><Relationship Id="rId99" Type="http://schemas.openxmlformats.org/officeDocument/2006/relationships/slide" Target="slides/slide93.xml"/><Relationship Id="rId94" Type="http://schemas.openxmlformats.org/officeDocument/2006/relationships/slide" Target="slides/slide88.xml"/><Relationship Id="rId78" Type="http://schemas.openxmlformats.org/officeDocument/2006/relationships/slide" Target="slides/slide72.xml"/><Relationship Id="rId73" Type="http://schemas.openxmlformats.org/officeDocument/2006/relationships/slide" Target="slides/slide67.xml"/><Relationship Id="rId52" Type="http://schemas.openxmlformats.org/officeDocument/2006/relationships/slide" Target="slides/slide46.xml"/><Relationship Id="rId31" Type="http://schemas.openxmlformats.org/officeDocument/2006/relationships/slide" Target="slides/slide25.xml"/><Relationship Id="rId169" Type="http://schemas.openxmlformats.org/officeDocument/2006/relationships/tableStyles" Target="tableStyles.xml"/><Relationship Id="rId164" Type="http://schemas.openxmlformats.org/officeDocument/2006/relationships/slide" Target="slides/slide158.xml"/><Relationship Id="rId148" Type="http://schemas.openxmlformats.org/officeDocument/2006/relationships/slide" Target="slides/slide142.xml"/><Relationship Id="rId143" Type="http://schemas.openxmlformats.org/officeDocument/2006/relationships/slide" Target="slides/slide137.xml"/><Relationship Id="rId122" Type="http://schemas.openxmlformats.org/officeDocument/2006/relationships/slide" Target="slides/slide116.xml"/><Relationship Id="rId101" Type="http://schemas.openxmlformats.org/officeDocument/2006/relationships/slide" Target="slides/slide9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4" Type="http://schemas.openxmlformats.org/officeDocument/2006/relationships/slideMaster" Target="slideMasters/slideMaster3.xml"/><Relationship Id="rId26" Type="http://schemas.openxmlformats.org/officeDocument/2006/relationships/slide" Target="slides/slide20.xml"/><Relationship Id="rId89" Type="http://schemas.openxmlformats.org/officeDocument/2006/relationships/slide" Target="slides/slide83.xml"/><Relationship Id="rId68" Type="http://schemas.openxmlformats.org/officeDocument/2006/relationships/slide" Target="slides/slide62.xml"/><Relationship Id="rId47" Type="http://schemas.openxmlformats.org/officeDocument/2006/relationships/slide" Target="slides/slide41.xml"/><Relationship Id="rId154" Type="http://schemas.openxmlformats.org/officeDocument/2006/relationships/slide" Target="slides/slide148.xml"/><Relationship Id="rId133" Type="http://schemas.openxmlformats.org/officeDocument/2006/relationships/slide" Target="slides/slide127.xml"/><Relationship Id="rId112" Type="http://schemas.openxmlformats.org/officeDocument/2006/relationships/slide" Target="slides/slide106.xml"/><Relationship Id="rId16" Type="http://schemas.openxmlformats.org/officeDocument/2006/relationships/slide" Target="slides/slide10.xml"/><Relationship Id="rId79" Type="http://schemas.openxmlformats.org/officeDocument/2006/relationships/slide" Target="slides/slide73.xml"/><Relationship Id="rId58" Type="http://schemas.openxmlformats.org/officeDocument/2006/relationships/slide" Target="slides/slide52.xml"/><Relationship Id="rId37" Type="http://schemas.openxmlformats.org/officeDocument/2006/relationships/slide" Target="slides/slide31.xml"/><Relationship Id="rId144" Type="http://schemas.openxmlformats.org/officeDocument/2006/relationships/slide" Target="slides/slide138.xml"/><Relationship Id="rId123" Type="http://schemas.openxmlformats.org/officeDocument/2006/relationships/slide" Target="slides/slide117.xml"/><Relationship Id="rId102" Type="http://schemas.openxmlformats.org/officeDocument/2006/relationships/slide" Target="slides/slide96.xml"/><Relationship Id="rId90" Type="http://schemas.openxmlformats.org/officeDocument/2006/relationships/slide" Target="slides/slide84.xml"/><Relationship Id="rId165" Type="http://schemas.openxmlformats.org/officeDocument/2006/relationships/slide" Target="slides/slide159.xml"/><Relationship Id="rId69" Type="http://schemas.openxmlformats.org/officeDocument/2006/relationships/slide" Target="slides/slide63.xml"/><Relationship Id="rId48" Type="http://schemas.openxmlformats.org/officeDocument/2006/relationships/slide" Target="slides/slide42.xml"/><Relationship Id="rId27" Type="http://schemas.openxmlformats.org/officeDocument/2006/relationships/slide" Target="slides/slide21.xml"/><Relationship Id="rId134" Type="http://schemas.openxmlformats.org/officeDocument/2006/relationships/slide" Target="slides/slide128.xml"/><Relationship Id="rId113" Type="http://schemas.openxmlformats.org/officeDocument/2006/relationships/slide" Target="slides/slide107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59" Type="http://schemas.openxmlformats.org/officeDocument/2006/relationships/slide" Target="slides/slide53.xml"/><Relationship Id="rId38" Type="http://schemas.openxmlformats.org/officeDocument/2006/relationships/slide" Target="slides/slide32.xml"/><Relationship Id="rId17" Type="http://schemas.openxmlformats.org/officeDocument/2006/relationships/slide" Target="slides/slide11.xml"/><Relationship Id="rId124" Type="http://schemas.openxmlformats.org/officeDocument/2006/relationships/slide" Target="slides/slide118.xml"/><Relationship Id="rId103" Type="http://schemas.openxmlformats.org/officeDocument/2006/relationships/slide" Target="slides/slide97.xml"/><Relationship Id="rId91" Type="http://schemas.openxmlformats.org/officeDocument/2006/relationships/slide" Target="slides/slide85.xml"/><Relationship Id="rId70" Type="http://schemas.openxmlformats.org/officeDocument/2006/relationships/slide" Target="slides/slide64.xml"/><Relationship Id="rId166" Type="http://schemas.openxmlformats.org/officeDocument/2006/relationships/slide" Target="slides/slide160.xml"/><Relationship Id="rId145" Type="http://schemas.openxmlformats.org/officeDocument/2006/relationships/slide" Target="slides/slide1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5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6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7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78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9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 altLang="en-US"/>
          </a:p>
        </p:txBody>
      </p:sp>
      <p:sp>
        <p:nvSpPr>
          <p:cNvPr id="3080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2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5123" name="Slide Image Placeholder 78848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124" name="Text Placeholder 78849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17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17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219" name="Slide Image Placeholder 8089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220" name="Text Placeholder 8089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267" name="Slide Image Placeholder 819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268" name="Text Placeholder 819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3315" name="Slide Image Placeholder 829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3316" name="Text Placeholder 829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7651" name="Slide Image Placeholder 9113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7652" name="Text Placeholder 9113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3555" name="Slide Image Placeholder 8806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3556" name="Text Placeholder 8806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9699" name="Slide Image Placeholder 9216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9700" name="Text Placeholder 9216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9699" name="Slide Image Placeholder 9216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9700" name="Text Placeholder 9216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9939" name="Slide Image Placeholder 972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9940" name="Text Placeholder 972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44035" name="Slide Image Placeholder 9830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44036" name="Text Placeholder 9830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41987" name="Slide Image Placeholder 4710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41988" name="Text Placeholder 4710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50179" name="Slide Image Placeholder 10035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0180" name="Text Placeholder 10035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776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7763" name="Slide Image Placeholder 13209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7764" name="Text Placeholder 13209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776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7763" name="Slide Image Placeholder 13209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7764" name="Text Placeholder 13209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981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9811" name="Slide Image Placeholder 1331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9812" name="Text Placeholder 1331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981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19811" name="Slide Image Placeholder 13312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19812" name="Text Placeholder 13312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85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1859" name="Slide Image Placeholder 1341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1860" name="Text Placeholder 1341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85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1859" name="Slide Image Placeholder 1341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1860" name="Text Placeholder 1341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85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1859" name="Slide Image Placeholder 1341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1860" name="Text Placeholder 1341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85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1859" name="Slide Image Placeholder 1341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1860" name="Text Placeholder 1341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209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32099" name="Slide Image Placeholder 13926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32100" name="Text Placeholder 13926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1858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1859" name="Slide Image Placeholder 1341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1860" name="Text Placeholder 1341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438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44387" name="Slide Image Placeholder 145408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44388" name="Text Placeholder 145409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50179" name="Slide Image Placeholder 7782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0180" name="Text Placeholder 7782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6802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76803" name="Slide Image Placeholder 911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6804" name="Text Placeholder 911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60419" name="Slide Image Placeholder 8294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0420" name="Text Placeholder 8294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23555" name="Slide Image Placeholder 645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3556" name="Text Placeholder 645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294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82947" name="Slide Image Placeholder 9420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2948" name="Text Placeholder 9420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5234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</a:endParaRPr>
          </a:p>
        </p:txBody>
      </p:sp>
      <p:sp>
        <p:nvSpPr>
          <p:cNvPr id="95235" name="Slide Image Placeholder 10137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5236" name="Text Placeholder 10137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36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36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7411" name="Slide Image Placeholder 4198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7412" name="Text Placeholder 4198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3555" name="Slide Image Placeholder 4505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3556" name="Text Placeholder 4505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27651" name="Slide Image Placeholder 471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27652" name="Text Placeholder 471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1747" name="Slide Image Placeholder 4915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1748" name="Text Placeholder 4915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1747" name="Slide Image Placeholder 4915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1748" name="Text Placeholder 4915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1747" name="Slide Image Placeholder 4915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1748" name="Text Placeholder 4915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31747" name="Slide Image Placeholder 4915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31748" name="Text Placeholder 4915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Slide Number Placeholder 1"/>
          <p:cNvSpPr/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5900" algn="r" defTabSz="457200"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54275" name="Slide Image Placeholder 6041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54276" name="Text Placeholder 6041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28673" name="Slide Image Placeholder 2867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674" name="Text Placeholder 2867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28673" name="Slide Image Placeholder 2867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674" name="Text Placeholder 2867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29697" name="Slide Image Placeholder 29696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9698" name="Text Placeholder 29697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37889" name="Slide Image Placeholder 378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890" name="Text Placeholder 378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37889" name="Slide Image Placeholder 378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7890" name="Text Placeholder 378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0530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0531" name="Slide Image Placeholder 148480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0532" name="Text Placeholder 14848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902408" y="0"/>
                </a:cxn>
                <a:cxn ang="0">
                  <a:pos x="7685207" y="785242"/>
                </a:cxn>
                <a:cxn ang="0">
                  <a:pos x="6903952" y="1567867"/>
                </a:cxn>
                <a:cxn ang="0">
                  <a:pos x="0" y="1567867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 sz="1800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altLang="en-US" dirty="0"/>
              <a:t>Для правки текста заголовка щелкните мышью</a:t>
            </a:r>
            <a:endParaRPr lang="en-GB" altLang="en-US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altLang="en-US" dirty="0"/>
              <a:t>Для правки структуры щелкните мышью</a:t>
            </a:r>
            <a:endParaRPr lang="en-GB" altLang="en-US" dirty="0"/>
          </a:p>
          <a:p>
            <a:pPr lvl="1"/>
            <a:r>
              <a:rPr lang="en-GB" altLang="en-US" dirty="0"/>
              <a:t>Второй уровень структуры</a:t>
            </a:r>
            <a:endParaRPr lang="en-GB" altLang="en-US" dirty="0"/>
          </a:p>
          <a:p>
            <a:pPr lvl="2"/>
            <a:r>
              <a:rPr lang="en-GB" altLang="en-US" dirty="0"/>
              <a:t>Третий уровень структуры</a:t>
            </a:r>
            <a:endParaRPr lang="en-GB" altLang="en-US" dirty="0"/>
          </a:p>
          <a:p>
            <a:pPr lvl="3"/>
            <a:r>
              <a:rPr lang="en-GB" altLang="en-US" dirty="0"/>
              <a:t>Четвёртый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Пятый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Шестой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Седьмой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Восьмой уровень структуры</a:t>
            </a:r>
            <a:endParaRPr lang="en-GB" altLang="en-US" dirty="0"/>
          </a:p>
          <a:p>
            <a:pPr lvl="4"/>
            <a:r>
              <a:rPr lang="en-GB" altLang="en-US" dirty="0"/>
              <a:t>Девятый уровень структуры</a:t>
            </a:r>
            <a:endParaRPr lang="en-GB" altLang="en-US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hyperlink" Target="http://sunmeat.site/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hyperlink" Target="https://t.me/sunmea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1" Type="http://schemas.openxmlformats.org/officeDocument/2006/relationships/hyperlink" Target="https://github.com/sunmeat/storage/tree/main/books/python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.png"/><Relationship Id="rId1" Type="http://schemas.openxmlformats.org/officeDocument/2006/relationships/hyperlink" Target="https://www.netacad.com/courses/python-essentials-2?courseLang=en-US" TargetMode="Externa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40.xml"/><Relationship Id="rId4" Type="http://schemas.openxmlformats.org/officeDocument/2006/relationships/hyperlink" Target="https://materials.itstep.org/content/087c6cc7-fed4-4287-9081-a815faf7229b/uk&#13;" TargetMode="External"/><Relationship Id="rId3" Type="http://schemas.openxmlformats.org/officeDocument/2006/relationships/hyperlink" Target="https://materials.itstep.org/content/4e3231f8-bb88-4102-b3e1-063f3079ddde/uk&#13;" TargetMode="External"/><Relationship Id="rId2" Type="http://schemas.openxmlformats.org/officeDocument/2006/relationships/hyperlink" Target="https://materials.itstep.org/content/04c162fd-9837-49e1-8980-2fbceaf88bb8/uk&#13;" TargetMode="External"/><Relationship Id="rId1" Type="http://schemas.openxmlformats.org/officeDocument/2006/relationships/hyperlink" Target="https://materials.itstep.org/content/f22c78e5-1153-4aac-b4e6-e72fbf4d8d2b/uk&#13;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python.org/psf-landing/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9.png"/><Relationship Id="rId1" Type="http://schemas.openxmlformats.org/officeDocument/2006/relationships/hyperlink" Target="https://www.tiobe.com/tiobe-index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0.png"/><Relationship Id="rId1" Type="http://schemas.openxmlformats.org/officeDocument/2006/relationships/hyperlink" Target="https://pythonchik.ru/osnovy/kak-rabotaet-python-interpretator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9.xml"/><Relationship Id="rId1" Type="http://schemas.openxmlformats.org/officeDocument/2006/relationships/hyperlink" Target="https://www.jetbrains.com/pycharm/download/?section=windows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1.png"/><Relationship Id="rId1" Type="http://schemas.openxmlformats.org/officeDocument/2006/relationships/hyperlink" Target="https://www.python.org/downloads/" TargetMode="Externa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0.xml"/><Relationship Id="rId2" Type="http://schemas.openxmlformats.org/officeDocument/2006/relationships/image" Target="../media/image12.png"/><Relationship Id="rId1" Type="http://schemas.openxmlformats.org/officeDocument/2006/relationships/hyperlink" Target="https://www.jetbrains.com/pycharm/download" TargetMode="Externa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hyperlink" Target="https://code.visualstudio.com/downloa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hyperlink" Target="https://gist.github.com/sunmeat/8b9e0c65d724ecc4c4840408d0a47d10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hyperlink" Target="https://gist.github.com/sunmeat/4a4427aec3f3ea079248087dbb3d81a2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fcce46513edd92080dd483144ebcbbf&#13;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f487f46c93767681f57e2fa925c21987&#13;" TargetMode="External"/><Relationship Id="rId1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hyperlink" Target="https://gist.github.com/sunmeat/39597251adedab053f5a26315017b968&#13;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847229ce60b0ea45f818145805319193&#13;" TargetMode="External"/><Relationship Id="rId1" Type="http://schemas.openxmlformats.org/officeDocument/2006/relationships/image" Target="../media/image5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de645957fd9c91b21a080fec776dc4b2&#13;" TargetMode="External"/><Relationship Id="rId1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1" Type="http://schemas.openxmlformats.org/officeDocument/2006/relationships/hyperlink" Target="https://gist.github.com/sunmeat/71e991e02916b46eaf58f0eaa00f5d8c&#13;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7dc6a4f8f2c3f139e1e4649ad326892d&#13;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hyperlink" Target="https://gist.github.com/sunmeat/741a5779029bcbc1d8f2648fe5880fab&#13;" TargetMode="Externa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hyperlink" Target="https://gist.github.com/sunmeat/8f56da7ad612fadaf9f79a2cb04bc71c&#13;" TargetMode="Externa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stdtypes.html#bltin-types&#13;" TargetMode="External"/><Relationship Id="rId3" Type="http://schemas.openxmlformats.org/officeDocument/2006/relationships/hyperlink" Target="https://docs.python.org/3/library/functions.html#built-in-funcs" TargetMode="External"/><Relationship Id="rId2" Type="http://schemas.openxmlformats.org/officeDocument/2006/relationships/hyperlink" Target="https://docs.python.org/3/library/exceptions.html#bltin-exceptions" TargetMode="External"/><Relationship Id="rId1" Type="http://schemas.openxmlformats.org/officeDocument/2006/relationships/hyperlink" Target="https://docs.python.org/3/library/constants.html#built-in-consts" TargetMode="Externa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1" Type="http://schemas.openxmlformats.org/officeDocument/2006/relationships/hyperlink" Target="https://gist.github.com/sunmeat/0ef750573817e4d700e6abe53d00d463&#13;" TargetMode="Externa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st.github.com/sunmeat/b4d25eb4ecf1b1b4c7cae1c770937338&#13;" TargetMode="External"/><Relationship Id="rId1" Type="http://schemas.openxmlformats.org/officeDocument/2006/relationships/image" Target="../media/image73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1" Type="http://schemas.openxmlformats.org/officeDocument/2006/relationships/hyperlink" Target="https://gist.github.com/sunmeat/ea264c06c1b3122e69f4732a6b53d12b&#13;" TargetMode="Externa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1" Type="http://schemas.openxmlformats.org/officeDocument/2006/relationships/hyperlink" Target="https://gist.github.com/sunmeat/faf03791fe6ed5ea636fe23ef8765f7a&#13;" TargetMode="Externa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st.github.com/sunmeat/1a3482048fdb37b3215f9878944ea75d&#13;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st.github.com/sunmeat/0a665a334394edb6fe8c56d1f5382e1b&#13;" TargetMode="Externa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st.github.com/sunmeat/395997cc210f999f30d6ae769fa45cd3&#13;" TargetMode="Externa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st.github.com/sunmeat/d8cbbc57ab4d2e221e1221bfc7ff9f63&#13;" TargetMode="Externa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1.png"/><Relationship Id="rId1" Type="http://schemas.openxmlformats.org/officeDocument/2006/relationships/hyperlink" Target="https://gist.github.com/sunmeat/472c34c26a06a0316d3f3559ee0b28bc&#13;" TargetMode="Externa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st.github.com/sunmeat/0bbbfac121bfd0483d77600d1fb0c526&#13;" TargetMode="Externa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hyperlink" Target="https://gist.github.com/sunmeat/8474782caf92e9c2b6ef64002847b86c&#13;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uk.wikipedia.org/wiki/%D0%A6%D1%96%D0%BB%D1%96%D1%81%D0%BD%D1%96%D1%81%D1%82%D1%8C_%D1%96%D0%BD%D1%84%D0%BE%D1%80%D0%BC%D0%B0%D1%86%D1%96%D1%97" TargetMode="External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1" Type="http://schemas.openxmlformats.org/officeDocument/2006/relationships/hyperlink" Target="https://gist.github.com/sunmeat/c7c354550542e8aa620db1909244ef5a" TargetMode="Externa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1" Type="http://schemas.openxmlformats.org/officeDocument/2006/relationships/hyperlink" Target="https://gist.github.com/sunmeat/8b2edd2bcbfaf0d586efd58a98dde8bc" TargetMode="Externa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1" Type="http://schemas.openxmlformats.org/officeDocument/2006/relationships/hyperlink" Target="https://gist.github.com/sunmeat/739770123c72781a9eb18fc9bb407cca" TargetMode="Externa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1" Type="http://schemas.openxmlformats.org/officeDocument/2006/relationships/hyperlink" Target="https://gist.github.com/sunmeat/fdf3b86e5af866604e5987a1eae38fdf" TargetMode="Externa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eps.python.org/pep-0008/" TargetMode="Externa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1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codeguage.com/v1/courses/python/functions-closures" TargetMode="Externa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3.png"/></Relationships>
</file>

<file path=ppt/slides/_rels/slide1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9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110c9a20c66f3cd0adcb8464c1426ffd&#13;" TargetMode="External"/><Relationship Id="rId1" Type="http://schemas.openxmlformats.org/officeDocument/2006/relationships/image" Target="../media/image94.pn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uk.wikipedia.org/wiki/%D0%90%D1%81%D0%BF%D0%B5%D0%BA%D1%82%D0%BD%D0%BE-%D0%BE%D1%80%D1%96%D1%94%D0%BD%D1%82%D0%BE%D0%B2%D0%B0%D0%BD%D0%B5_%D0%BF%D1%80%D0%BE%D0%B3%D1%80%D0%B0%D0%BC%D1%83%D0%B2%D0%B0%D0%BD%D0%BD%D1%8F" TargetMode="Externa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9af78316c18b326f807cc603ac4ede5" TargetMode="Externa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ext Box 4096"/>
          <p:cNvSpPr txBox="1"/>
          <p:nvPr/>
        </p:nvSpPr>
        <p:spPr>
          <a:xfrm>
            <a:off x="228600" y="1427163"/>
            <a:ext cx="859155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Python Web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s 4097"/>
          <p:cNvSpPr/>
          <p:nvPr/>
        </p:nvSpPr>
        <p:spPr>
          <a:xfrm>
            <a:off x="5867400" y="44450"/>
            <a:ext cx="3277235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Олександр Загоруйко © 202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101" name="Picture 40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0" y="4060825"/>
            <a:ext cx="5897563" cy="2703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 descr="42b5fa455005b1d9aaf2727139b76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" y="3834765"/>
            <a:ext cx="3098800" cy="3098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Викладач</a:t>
            </a:r>
            <a:endParaRPr lang="ru-RU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468313" y="1608138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500" b="1" dirty="0" err="1">
                <a:solidFill>
                  <a:srgbClr val="000000"/>
                </a:solidFill>
                <a:latin typeface="Arial" panose="020B0604020202020204" pitchFamily="34" charset="0"/>
                <a:hlinkClick r:id="rId1"/>
              </a:rPr>
              <a:t>Олександр Загоруйко</a:t>
            </a:r>
            <a:endParaRPr lang="ru-RU" altLang="x-none" sz="45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80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x-none" sz="4500" b="1" dirty="0" err="1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pic>
        <p:nvPicPr>
          <p:cNvPr id="6148" name="Picture 5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2565400"/>
            <a:ext cx="6913562" cy="4206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Комун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кац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</a:t>
            </a:r>
            <a:endParaRPr lang="ru-RU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Text Box 6145"/>
          <p:cNvSpPr txBox="1"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x-none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Ваша учбова телеграм-група</a:t>
            </a:r>
            <a:endParaRPr lang="ru-RU" altLang="x-none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ru-RU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та особист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i </a:t>
            </a:r>
            <a:r>
              <a:rPr lang="ru-RU" altLang="ru-RU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пов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ru-RU" altLang="ru-RU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домлення </a:t>
            </a:r>
            <a:r>
              <a:rPr lang="en-US" altLang="ru-RU" sz="32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@sunmeat</a:t>
            </a:r>
            <a:r>
              <a:rPr lang="ru-RU" altLang="ru-RU" sz="3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ru-RU" altLang="ru-RU" sz="3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8196" name="Picture 61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45" y="2753995"/>
            <a:ext cx="7305040" cy="4110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 Box 7169"/>
          <p:cNvSpPr txBox="1"/>
          <p:nvPr/>
        </p:nvSpPr>
        <p:spPr>
          <a:xfrm>
            <a:off x="195580" y="228600"/>
            <a:ext cx="83134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цієї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презентації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- 4 пари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7170"/>
          <p:cNvSpPr txBox="1"/>
          <p:nvPr/>
        </p:nvSpPr>
        <p:spPr>
          <a:xfrm>
            <a:off x="611188" y="1412875"/>
            <a:ext cx="8208962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Швиденько згадуємо, що таке пайтон :)</a:t>
            </a:r>
            <a:endParaRPr lang="en-US" altLang="en-US" sz="24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Кортежі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Колекції незмінних об'єктів.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Особливості кортежів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Словники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Асоціативні масиви.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Хеш-таблиці.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Створення словника.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Методи словника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Лямбда-функції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Що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це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таке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Цілі та завдання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лямбд.</a:t>
            </a:r>
            <a:endParaRPr lang="uk-UA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Генератори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Замикання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Декоратори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77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Практичні приклади використання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Програма курсу </a:t>
            </a:r>
            <a:r>
              <a:rPr lang="en-US" altLang="x-none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Python</a:t>
            </a:r>
            <a:r>
              <a:rPr lang="ru-RU" altLang="en-US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 (</a:t>
            </a:r>
            <a:r>
              <a:rPr lang="uk-UA" altLang="ru-RU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36</a:t>
            </a:r>
            <a:r>
              <a:rPr lang="en-US" altLang="en-US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ru-RU" altLang="en-US" sz="4100" dirty="0" err="1">
                <a:solidFill>
                  <a:srgbClr val="FFFFFF"/>
                </a:solidFill>
                <a:latin typeface="Arial" panose="020B0604020202020204" pitchFamily="34" charset="0"/>
              </a:rPr>
              <a:t>пар)</a:t>
            </a:r>
            <a:endParaRPr lang="ru-RU" altLang="en-US" sz="41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Text Box 8193"/>
          <p:cNvSpPr txBox="1"/>
          <p:nvPr/>
        </p:nvSpPr>
        <p:spPr>
          <a:xfrm>
            <a:off x="565150" y="13684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Початок роботи з Python. Кортежі. Словники. Лямбда-функції.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Генератори. Замикання. Декоратори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О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ОП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6 пар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Патерн MVC/MVT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2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Фреймворки. Використання Django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2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Views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та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роутинг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Templates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Models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Forms</a:t>
            </a:r>
            <a:r>
              <a:rPr lang="uk-UA" altLang="en-US" sz="2300" dirty="0" err="1">
                <a:solidFill>
                  <a:srgbClr val="000000"/>
                </a:solidFill>
                <a:sym typeface="+mn-ea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sym typeface="+mn-ea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Django REST Framework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4 пари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Іспит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(фінальний проєкт)</a:t>
            </a:r>
            <a:endParaRPr lang="uk-UA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Text Box 1638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Література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по </a:t>
            </a: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Python Web</a:t>
            </a:r>
            <a:endParaRPr lang="en-US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Text Box 16385"/>
          <p:cNvSpPr txBox="1"/>
          <p:nvPr/>
        </p:nvSpPr>
        <p:spPr>
          <a:xfrm>
            <a:off x="609600" y="1557338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https://github.com/sunmeat/storage/tree/main/books/python</a:t>
            </a: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6628" name="Picture 16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5" y="3006725"/>
            <a:ext cx="7706995" cy="4346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Text Box 1331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Курс в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 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Cisco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6395720"/>
            <a:ext cx="9086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chemeClr val="accent6"/>
                </a:solidFill>
                <a:hlinkClick r:id="rId1" action="ppaction://hlinkfile"/>
              </a:rPr>
              <a:t>https://www.netacad.com/courses/python-essentials-2?courseLang=en-US</a:t>
            </a:r>
            <a:endParaRPr lang="en-US" altLang="en-US" b="1">
              <a:solidFill>
                <a:schemeClr val="accent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05" y="1044575"/>
            <a:ext cx="6649720" cy="53073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Уроки від Академії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s 17409"/>
          <p:cNvSpPr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5305" y="1493520"/>
            <a:ext cx="8080375" cy="5534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https://materials.itstep.org/content/f22c78e5-1153-4aac-b4e6-e72fbf4d8d2b/uk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https://materials.itstep.org/content/04c162fd-9837-49e1-8980-2fbceaf88bb8/uk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hlinkClick r:id="rId3" tooltip="" action="ppaction://hlinkfile"/>
              </a:rPr>
              <a:t>https://materials.itstep.org/content/4e3231f8-bb88-4102-b3e1-063f3079ddde/uk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hlinkClick r:id="rId4" tooltip="" action="ppaction://hlinkfile"/>
              </a:rPr>
              <a:t>https://materials.itstep.org/content/087c6cc7-fed4-4287-9081-a815faf7229b/uk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Експрес-курс по пайтону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s 17409"/>
          <p:cNvSpPr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11505" y="1493520"/>
            <a:ext cx="6304915" cy="401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sym typeface="+mn-ea"/>
              </a:rPr>
              <a:t>для тих, хто все забув :)</a:t>
            </a:r>
            <a:endParaRPr lang="uk-UA" sz="3200" dirty="0" err="1">
              <a:solidFill>
                <a:srgbClr val="000000"/>
              </a:solidFill>
              <a:sym typeface="+mn-ea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sz="3200" dirty="0" err="1">
              <a:solidFill>
                <a:srgbClr val="000000"/>
              </a:solidFill>
              <a:sym typeface="+mn-ea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змінні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умови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цикли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списки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функції</a:t>
            </a:r>
            <a:endParaRPr lang="uk-UA"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Трохи історії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Text Box 22529"/>
          <p:cNvSpPr txBox="1"/>
          <p:nvPr/>
        </p:nvSpPr>
        <p:spPr>
          <a:xfrm>
            <a:off x="468630" y="1429385"/>
            <a:ext cx="8135620" cy="447484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Python був створений</a:t>
            </a:r>
            <a:r>
              <a:rPr lang="ru-RU" altLang="x-none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Гвідо ван Россумом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наприкінці 1980-х років, а перша версія, Python 0.9.0, була випущена ще в 1991 році. Мова швидко стала популярною завдяки своїй простоті та гнучкості, а в 2000 році вийшла версія 2.0 з новими функціями, такими як спискові вирази та підтримка юнікоду. У 2001 році була заснована Python Software Foundation для підтримки мови та її спільноти.</a:t>
            </a:r>
            <a:endParaRPr lang="ru-RU" altLang="x-none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У 2008 року вийшла версія Python 3.0, яка включала значні зміни, несумісні з попередніми версіями.</a:t>
            </a:r>
            <a:r>
              <a:rPr lang="en-US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З цього моменту Python 3 став стандартом, і розробники почали активно мігрувати свої проекти.</a:t>
            </a:r>
            <a:endParaRPr lang="ru-RU" altLang="x-none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7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Сьогодні Python продовжує розвиватися, поточна верс</a:t>
            </a:r>
            <a:r>
              <a:rPr lang="en-US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я </a:t>
            </a:r>
            <a:r>
              <a:rPr lang="en-US" altLang="x-none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3.14.3</a:t>
            </a:r>
            <a:r>
              <a:rPr lang="en-US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uk-UA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станом на </a:t>
            </a:r>
            <a:r>
              <a:rPr lang="en-US" altLang="uk-UA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25</a:t>
            </a:r>
            <a:r>
              <a:rPr lang="uk-UA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березня 2026 року). 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Мова широко використовується</a:t>
            </a:r>
            <a:r>
              <a:rPr lang="uk-UA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в різних сферах, включаючи машинне навчання, науку про дані </a:t>
            </a:r>
            <a:r>
              <a:rPr lang="uk-UA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та веб-розробку, що підтверджує її актуальність і популярність </a:t>
            </a:r>
            <a:r>
              <a:rPr lang="uk-UA" altLang="ru-RU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      		</a:t>
            </a:r>
            <a:r>
              <a:rPr lang="ru-RU" altLang="x-none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у сучасному програмуванні.</a:t>
            </a:r>
            <a:endParaRPr lang="ru-RU" altLang="x-none" sz="2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Text Box 2355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b="1" dirty="0" err="1">
                <a:solidFill>
                  <a:schemeClr val="bg1"/>
                </a:solidFill>
                <a:sym typeface="+mn-ea"/>
              </a:rPr>
              <a:t>Гвідо ван Россум</a:t>
            </a:r>
            <a:endParaRPr lang="ru-RU" altLang="x-none" sz="4200" b="1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2" name="Picture 1" descr="Guido_van_Rossum_OSCON_20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7040" y="1089025"/>
            <a:ext cx="4048125" cy="6072505"/>
          </a:xfrm>
          <a:prstGeom prst="rect">
            <a:avLst/>
          </a:prstGeom>
        </p:spPr>
      </p:pic>
      <p:pic>
        <p:nvPicPr>
          <p:cNvPr id="3" name="Picture 2" descr="im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1808480"/>
            <a:ext cx="4144645" cy="37585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Text Box 225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Коротенько про </a:t>
            </a: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Python</a:t>
            </a:r>
            <a:endParaRPr lang="en-US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962" name="Text Box 22529"/>
          <p:cNvSpPr txBox="1"/>
          <p:nvPr/>
        </p:nvSpPr>
        <p:spPr>
          <a:xfrm>
            <a:off x="463550" y="1385888"/>
            <a:ext cx="8069263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2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GB" altLang="x-none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Python 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інтерпретована, динамічно-типізована мова програмування загального призначення. Вона підтримує кілька парадигм програмування, зокрема процедурне, об'єктно-орієнтоване та функціональне програмування. Python відомий своєю простотою </a:t>
            </a:r>
            <a:r>
              <a:rPr lang="uk-UA" altLang="en-GB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та читабельністю коду, що робить його ідеальним вибором для навчання програмуванню. Стандартна бібліотека містить безліч модулів для роботи </a:t>
            </a:r>
            <a:r>
              <a:rPr lang="uk-UA" altLang="en-GB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з даними, веб-розробки, машинного навчання </a:t>
            </a:r>
            <a:r>
              <a:rPr lang="uk-UA" altLang="en-GB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та обробки тексту. Розвитком мови займається 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Python Software Foundation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, що забезпечує активну </a:t>
            </a:r>
            <a:r>
              <a:rPr lang="ru-RU" altLang="en-GB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GB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підтримку та оновлення мови.</a:t>
            </a:r>
            <a:endParaRPr lang="en-GB" altLang="x-none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154" name="Text Box 2560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Рейтинг мов програмування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Rectangles 25601"/>
          <p:cNvSpPr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49156" name="Rectangles 25602"/>
          <p:cNvSpPr/>
          <p:nvPr/>
        </p:nvSpPr>
        <p:spPr>
          <a:xfrm>
            <a:off x="2751138" y="6372225"/>
            <a:ext cx="3641725" cy="3683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dirty="0" err="1">
                <a:solidFill>
                  <a:srgbClr val="CCCCFF"/>
                </a:solidFill>
                <a:latin typeface="Arial" panose="020B0604020202020204" pitchFamily="34" charset="0"/>
                <a:hlinkClick r:id="rId1"/>
              </a:rPr>
              <a:t>https://www.tiobe.com/tiobe-index/</a:t>
            </a:r>
            <a:endParaRPr lang="en-US" altLang="x-none" dirty="0" err="1">
              <a:solidFill>
                <a:srgbClr val="CCCCFF"/>
              </a:solidFill>
              <a:latin typeface="Arial" panose="020B0604020202020204" pitchFamily="34" charset="0"/>
              <a:hlinkClick r:id="rId1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945"/>
            <a:ext cx="9144000" cy="42068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6738" name="Text Box 573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Інтерпретована мова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6739" name="Text Box 5734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Python в першу чергу є інтерпретованою мовою, що означає, </a:t>
            </a:r>
            <a:r>
              <a:rPr lang="uk-UA" altLang="ru-RU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що код виконується інтерпретатором по рядках, без попередньої компіляції в машинний код. Однак варто зазначити, що Python також використовує проміжну компіляцію.</a:t>
            </a:r>
            <a:endParaRPr lang="ru-RU" altLang="x-none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7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x-none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Початковий код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Коли ви пишете код на Python, </a:t>
            </a:r>
            <a:r>
              <a:rPr lang="uk-UA" altLang="ru-RU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він зберігається у файлі з розширенням .py</a:t>
            </a:r>
            <a:endParaRPr lang="ru-RU" altLang="x-none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7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x-none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Компіляція в байт-код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Під час виконання програми інтерпретатор Python компілює початковий код в байт-код, який є проміжним поданням. Цей байт-код зберігається </a:t>
            </a:r>
            <a:r>
              <a:rPr lang="uk-UA" altLang="ru-RU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у файлі з розширенням .pyc</a:t>
            </a:r>
            <a:endParaRPr lang="ru-RU" altLang="x-none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7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ru-RU" altLang="x-none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Інтерпретація байт-коду</a:t>
            </a:r>
            <a:r>
              <a:rPr lang="ru-RU" altLang="x-none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Потім байт-код виконується інтерпретатором Python, який перетворює його в машинний код, зрозумілий процесору</a:t>
            </a:r>
            <a:endParaRPr lang="ru-RU" altLang="x-none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6738" name="Text Box 573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Інтерпретована мова</a:t>
            </a:r>
            <a:endParaRPr lang="en-US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6739" name="Text Box 5734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ru-RU" altLang="x-none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61290" y="6367780"/>
            <a:ext cx="8894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>
                <a:solidFill>
                  <a:schemeClr val="tx1"/>
                </a:solidFill>
                <a:hlinkClick r:id="rId1" action="ppaction://hlinkfile"/>
              </a:rPr>
              <a:t>https://pythonchik.ru/osnovy/kak-rabotaet-python-interpretator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interpret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1477645"/>
            <a:ext cx="7729220" cy="42386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Text Box 583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SDK</a:t>
            </a:r>
            <a:endParaRPr lang="en-US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8787" name="Text Box 58369"/>
          <p:cNvSpPr txBox="1"/>
          <p:nvPr/>
        </p:nvSpPr>
        <p:spPr>
          <a:xfrm>
            <a:off x="609600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75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3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SDK </a:t>
            </a:r>
            <a:r>
              <a:rPr lang="ru-RU" altLang="x-none" sz="3000" dirty="0" err="1">
                <a:solidFill>
                  <a:srgbClr val="000000"/>
                </a:solidFill>
                <a:latin typeface="Arial" panose="020B0604020202020204" pitchFamily="34" charset="0"/>
              </a:rPr>
              <a:t>(від англ. software development kit) - комплект засобів розроблення, що дає змогу фахівцям із програмного забезпечення створювати додатки </a:t>
            </a: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ru-RU" altLang="x-none" sz="30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певного пакета програм, програмного забезпечення базових засобів розроблення, апаратної платформи, комп'ютерної системи, ігрових консолей, операційних систем та інших платформ.</a:t>
            </a:r>
            <a:endParaRPr lang="ru-RU" altLang="x-none" sz="3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Text Box 583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Огляд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IDE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8787" name="Text Box 58369"/>
          <p:cNvSpPr txBox="1"/>
          <p:nvPr/>
        </p:nvSpPr>
        <p:spPr>
          <a:xfrm>
            <a:off x="609600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75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500" b="1" dirty="0" err="1">
                <a:solidFill>
                  <a:srgbClr val="FF0000"/>
                </a:solidFill>
                <a:latin typeface="Arial" panose="020B0604020202020204" pitchFamily="34" charset="0"/>
              </a:rPr>
              <a:t>VS Code</a:t>
            </a:r>
            <a:r>
              <a:rPr lang="ru-RU" altLang="x-none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: легкий, налаштовуваний </a:t>
            </a:r>
            <a:r>
              <a:rPr lang="en-US" altLang="ru-RU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                         </a:t>
            </a:r>
            <a:r>
              <a:rPr lang="ru-RU" altLang="x-none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та універсальний інструмент для розробки Python</a:t>
            </a:r>
            <a:r>
              <a:rPr lang="en-US" altLang="ru-RU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ru-RU" altLang="x-none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 і не тільки. Підходить для більш гнучких </a:t>
            </a:r>
            <a:r>
              <a:rPr lang="en-US" altLang="ru-RU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               </a:t>
            </a:r>
            <a:r>
              <a:rPr lang="ru-RU" altLang="x-none" sz="2500" dirty="0" err="1">
                <a:solidFill>
                  <a:srgbClr val="FF0000"/>
                </a:solidFill>
                <a:latin typeface="Arial" panose="020B0604020202020204" pitchFamily="34" charset="0"/>
              </a:rPr>
              <a:t>та індивідуальних налаштувань</a:t>
            </a:r>
            <a:endParaRPr lang="ru-RU" altLang="x-none" sz="2500" dirty="0" err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75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Visual Studio</a:t>
            </a:r>
            <a:r>
              <a:rPr lang="ru-RU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: більш важкий IDE для комплексних проєктів, де важлива інтеграція з іншими технологіями</a:t>
            </a:r>
            <a:endParaRPr lang="ru-RU" altLang="x-none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75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25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PyCharm</a:t>
            </a:r>
            <a:r>
              <a:rPr lang="ru-RU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: потужн</a:t>
            </a: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а</a:t>
            </a:r>
            <a:r>
              <a:rPr lang="ru-RU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IDE для професійної розробки 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на Python з акцентом на зручність роботи </a:t>
            </a:r>
            <a:r>
              <a:rPr lang="uk-UA" altLang="ru-RU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ru-RU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та інтеграцію з Python-фреймворками (</a:t>
            </a:r>
            <a:r>
              <a:rPr lang="en-US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free trial 30 days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, але в нас буде чіт-код на ліцензію :</a:t>
            </a:r>
            <a:r>
              <a:rPr lang="en-US" altLang="x-none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ru-RU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ru-RU" sz="2500" dirty="0" err="1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Text Box 593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Завантаження 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lang="ru-RU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нтерпр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етатора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0835" name="Text Box 59393"/>
          <p:cNvSpPr txBox="1"/>
          <p:nvPr/>
        </p:nvSpPr>
        <p:spPr>
          <a:xfrm>
            <a:off x="0" y="5657850"/>
            <a:ext cx="912177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https://www.python.org/downloads/</a:t>
            </a:r>
            <a:endParaRPr lang="en-US" altLang="x-none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730"/>
            <a:ext cx="9144000" cy="38119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Text Box 593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Завантаження </a:t>
            </a: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PyCharm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0835" name="Text Box 59393"/>
          <p:cNvSpPr txBox="1"/>
          <p:nvPr/>
        </p:nvSpPr>
        <p:spPr>
          <a:xfrm>
            <a:off x="0" y="6413500"/>
            <a:ext cx="912177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https://www.jetbrains.com/pycharm/download</a:t>
            </a:r>
            <a:endParaRPr lang="en-US" altLang="en-US" sz="18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55" y="1477645"/>
            <a:ext cx="9144000" cy="48933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Text Box 593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Завантаження </a:t>
            </a: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VS Code 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0835" name="Text Box 59393"/>
          <p:cNvSpPr txBox="1"/>
          <p:nvPr/>
        </p:nvSpPr>
        <p:spPr>
          <a:xfrm>
            <a:off x="0" y="6413500"/>
            <a:ext cx="912177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x-none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https://code.visualstudio.com/download</a:t>
            </a:r>
            <a:endParaRPr lang="en-US" altLang="x-none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0" y="1403985"/>
            <a:ext cx="7392035" cy="49428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2345"/>
            <a:ext cx="9144000" cy="48933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Text Box 593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sym typeface="+mn-ea"/>
              </a:rPr>
              <a:t>Python Extension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0835" name="Text Box 59393"/>
          <p:cNvSpPr txBox="1"/>
          <p:nvPr/>
        </p:nvSpPr>
        <p:spPr>
          <a:xfrm>
            <a:off x="0" y="6413500"/>
            <a:ext cx="912177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x-none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 descr="Снимок экрана 2024-10-26 1500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" y="1496695"/>
            <a:ext cx="12068175" cy="4365625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0" y="2573655"/>
            <a:ext cx="566420" cy="4953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4976495" y="3114040"/>
            <a:ext cx="585470" cy="2698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1074" name="Text Box 6451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Перша програма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1075" name="Rectangles 64513"/>
          <p:cNvSpPr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en-US" altLang="zh-CN"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0-26 1511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493520"/>
            <a:ext cx="3638550" cy="1057275"/>
          </a:xfrm>
          <a:prstGeom prst="rect">
            <a:avLst/>
          </a:prstGeom>
        </p:spPr>
      </p:pic>
      <p:pic>
        <p:nvPicPr>
          <p:cNvPr id="3" name="Picture 2" descr="Снимок экрана 2024-10-26 151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245" y="1178560"/>
            <a:ext cx="3914775" cy="1476375"/>
          </a:xfrm>
          <a:prstGeom prst="rect">
            <a:avLst/>
          </a:prstGeom>
        </p:spPr>
      </p:pic>
      <p:pic>
        <p:nvPicPr>
          <p:cNvPr id="4" name="Picture 3" descr="Снимок экрана 2024-10-26 1512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" y="3018790"/>
            <a:ext cx="5781675" cy="3933825"/>
          </a:xfrm>
          <a:prstGeom prst="rect">
            <a:avLst/>
          </a:prstGeom>
        </p:spPr>
      </p:pic>
      <p:pic>
        <p:nvPicPr>
          <p:cNvPr id="5" name="Picture 4" descr="Снимок экрана 2024-10-26 1516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885" y="1673860"/>
            <a:ext cx="2724150" cy="13811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Text Box 593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+mn-ea"/>
              </a:rPr>
              <a:t>Visual Studio 2026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20835" name="Text Box 59393"/>
          <p:cNvSpPr txBox="1"/>
          <p:nvPr/>
        </p:nvSpPr>
        <p:spPr>
          <a:xfrm>
            <a:off x="0" y="6413500"/>
            <a:ext cx="9121775" cy="3651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5000" rIns="90000" bIns="45000" anchor="t" anchorCtr="0"/>
          <a:p>
            <a:pPr algn="ctr"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x-none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Screenshot 2026-02-09 1231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740" y="4418965"/>
            <a:ext cx="5953125" cy="2343150"/>
          </a:xfrm>
          <a:prstGeom prst="rect">
            <a:avLst/>
          </a:prstGeom>
        </p:spPr>
      </p:pic>
      <p:pic>
        <p:nvPicPr>
          <p:cNvPr id="6" name="Picture 5" descr="Screenshot 2026-02-09 1216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075" y="1987550"/>
            <a:ext cx="3486150" cy="2190750"/>
          </a:xfrm>
          <a:prstGeom prst="rect">
            <a:avLst/>
          </a:prstGeom>
        </p:spPr>
      </p:pic>
      <p:pic>
        <p:nvPicPr>
          <p:cNvPr id="7" name="Picture 6" descr="Screenshot 2026-02-09 1216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" y="1448435"/>
            <a:ext cx="4991100" cy="13430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62" name="Text Box 70656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Виведення даних на екран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3363" name="Text Box 70657"/>
          <p:cNvSpPr txBox="1"/>
          <p:nvPr/>
        </p:nvSpPr>
        <p:spPr>
          <a:xfrm>
            <a:off x="679450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100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1000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print(</a:t>
            </a:r>
            <a:r>
              <a:rPr lang="en-US" altLang="en-US" sz="3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"Hello world!\n"</a:t>
            </a:r>
            <a:r>
              <a:rPr lang="en-US" altLang="en-US" sz="3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);</a:t>
            </a: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10865"/>
            <a:ext cx="9144000" cy="20580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266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chemeClr val="bg1"/>
                </a:solidFill>
                <a:latin typeface="Arial" panose="020B0604020202020204" pitchFamily="34" charset="0"/>
              </a:rPr>
              <a:t>Поняття зм</a:t>
            </a:r>
            <a:r>
              <a:rPr lang="en-US" altLang="x-none" sz="4200" dirty="0" err="1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4200" dirty="0" err="1">
                <a:solidFill>
                  <a:schemeClr val="bg1"/>
                </a:solidFill>
                <a:latin typeface="Arial" panose="020B0604020202020204" pitchFamily="34" charset="0"/>
              </a:rPr>
              <a:t>нно</a:t>
            </a:r>
            <a:r>
              <a:rPr lang="ru-RU" altLang="x-none" sz="4200" dirty="0" err="1">
                <a:solidFill>
                  <a:schemeClr val="bg1"/>
                </a:solidFill>
                <a:sym typeface="+mn-ea"/>
              </a:rPr>
              <a:t>ї</a:t>
            </a:r>
            <a:endParaRPr lang="ru-RU" altLang="x-none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49154" name="Text Box 26625"/>
          <p:cNvSpPr txBox="1"/>
          <p:nvPr/>
        </p:nvSpPr>
        <p:spPr>
          <a:xfrm>
            <a:off x="539750" y="1386205"/>
            <a:ext cx="79495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5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ru-RU" altLang="x-none" sz="2600" b="1" dirty="0" err="1">
                <a:solidFill>
                  <a:srgbClr val="FF0000"/>
                </a:solidFill>
                <a:latin typeface="Arial" panose="020B0604020202020204" pitchFamily="34" charset="0"/>
              </a:rPr>
              <a:t>Змінна - це іменована область в оперативній пам'яті, яка може зберігати та змінювати своє значення протягом роботи програми. Значення характеризується типом даних.</a:t>
            </a:r>
            <a:endParaRPr lang="ru-RU" altLang="x-none" sz="2600" b="1" dirty="0" err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65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ru-RU" altLang="x-none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Для того, щоб використовувати змінну в програмі, необхідно її оголосити (створити). Оголошення змінної дасть компілятору зрозуміти, що для цієї змінної необхідно виділити пам'ять, що в не</a:t>
            </a:r>
            <a:r>
              <a:rPr lang="ru-RU" altLang="x-none" sz="2600" dirty="0" err="1">
                <a:solidFill>
                  <a:schemeClr val="tx1"/>
                </a:solidFill>
                <a:sym typeface="+mn-ea"/>
              </a:rPr>
              <a:t>ї </a:t>
            </a:r>
            <a:r>
              <a:rPr lang="ru-RU" altLang="x-none" sz="2600" dirty="0" err="1">
                <a:solidFill>
                  <a:srgbClr val="000000"/>
                </a:solidFill>
                <a:sym typeface="+mn-ea"/>
              </a:rPr>
              <a:t>є певне </a:t>
            </a:r>
            <a:r>
              <a:rPr lang="en-US" altLang="x-none" sz="2600" dirty="0" err="1">
                <a:solidFill>
                  <a:srgbClr val="000000"/>
                </a:solidFill>
                <a:sym typeface="+mn-ea"/>
              </a:rPr>
              <a:t>i</a:t>
            </a:r>
            <a:r>
              <a:rPr lang="ru-RU" altLang="x-none" sz="2600" dirty="0" err="1">
                <a:solidFill>
                  <a:srgbClr val="000000"/>
                </a:solidFill>
                <a:sym typeface="+mn-ea"/>
              </a:rPr>
              <a:t>м</a:t>
            </a:r>
            <a:r>
              <a:rPr lang="en-US" altLang="x-none" sz="2600" dirty="0" err="1">
                <a:solidFill>
                  <a:srgbClr val="000000"/>
                </a:solidFill>
                <a:sym typeface="+mn-ea"/>
              </a:rPr>
              <a:t>’</a:t>
            </a:r>
            <a:r>
              <a:rPr lang="ru-RU" altLang="x-none" sz="2600" dirty="0" err="1">
                <a:solidFill>
                  <a:srgbClr val="000000"/>
                </a:solidFill>
                <a:sym typeface="+mn-ea"/>
              </a:rPr>
              <a:t>я</a:t>
            </a:r>
            <a:r>
              <a:rPr lang="ru-RU" altLang="x-none" sz="2600" dirty="0" err="1">
                <a:solidFill>
                  <a:schemeClr val="tx1"/>
                </a:solidFill>
                <a:latin typeface="Arial" panose="020B0604020202020204" pitchFamily="34" charset="0"/>
              </a:rPr>
              <a:t>, і як із цією змінною працювати надалі.</a:t>
            </a:r>
            <a:endParaRPr lang="ru-RU" altLang="x-none" sz="26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Text Box 39936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Синтаксис створення змінної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5778" name="Text Box 39937"/>
          <p:cNvSpPr txBox="1"/>
          <p:nvPr/>
        </p:nvSpPr>
        <p:spPr>
          <a:xfrm>
            <a:off x="609600" y="145732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дентификатор = </a:t>
            </a:r>
            <a:r>
              <a:rPr lang="en-US" altLang="ru-RU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н</a:t>
            </a:r>
            <a:r>
              <a:rPr lang="en-US" altLang="ru-RU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ц</a:t>
            </a:r>
            <a:r>
              <a:rPr lang="en-US" altLang="ru-RU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ал</a:t>
            </a:r>
            <a:r>
              <a:rPr lang="en-US" altLang="ru-RU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ru-RU" altLang="x-none" sz="3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затор</a:t>
            </a:r>
            <a:endParaRPr lang="en-US" altLang="x-none" sz="3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x-none" sz="25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altLang="x-none" sz="28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1-08 1616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2526665"/>
            <a:ext cx="7543800" cy="30988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8745" y="6309360"/>
            <a:ext cx="7967345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ru-RU" altLang="x-none" sz="2900" dirty="0" err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Text Box 317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Основні типи даних Python</a:t>
            </a:r>
            <a:endParaRPr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9394" name="Text Box 31745"/>
          <p:cNvSpPr txBox="1"/>
          <p:nvPr/>
        </p:nvSpPr>
        <p:spPr>
          <a:xfrm>
            <a:off x="679450" y="1412875"/>
            <a:ext cx="7924800" cy="453548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числові типи (int, float, complex)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рядки (str)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sym typeface="+mn-ea"/>
              </a:rPr>
              <a:t>бул</a:t>
            </a:r>
            <a:r>
              <a:rPr lang="en-US" sz="3200" dirty="0" err="1">
                <a:solidFill>
                  <a:srgbClr val="000000"/>
                </a:solidFill>
                <a:sym typeface="+mn-ea"/>
              </a:rPr>
              <a:t>i</a:t>
            </a:r>
            <a:r>
              <a:rPr sz="3200" dirty="0" err="1">
                <a:solidFill>
                  <a:srgbClr val="000000"/>
                </a:solidFill>
                <a:sym typeface="+mn-ea"/>
              </a:rPr>
              <a:t>в тип (bool)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послідовності (list, tuple, range)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множини (set, frozenset)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словники (dict)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8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відсутність типу (None)</a:t>
            </a:r>
            <a:endParaRPr sz="3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1331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sym typeface="+mn-ea"/>
              </a:rPr>
              <a:t>Ключові слова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мови </a:t>
            </a:r>
            <a:r>
              <a:rPr lang="en-US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Python</a:t>
            </a:r>
            <a:endParaRPr lang="en-US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Text Box 13313"/>
          <p:cNvSpPr txBox="1"/>
          <p:nvPr/>
        </p:nvSpPr>
        <p:spPr>
          <a:xfrm>
            <a:off x="538163" y="1485900"/>
            <a:ext cx="7994650" cy="46069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7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x-none" sz="4000" b="1" dirty="0" err="1">
                <a:solidFill>
                  <a:srgbClr val="7030A0"/>
                </a:solidFill>
                <a:latin typeface="Arial" panose="020B0604020202020204" pitchFamily="34" charset="0"/>
              </a:rPr>
              <a:t>and, as, assert, async, await, break, class, continue, def, del, </a:t>
            </a:r>
            <a:r>
              <a:rPr lang="en-US" altLang="x-none" sz="4000" b="1" dirty="0" err="1">
                <a:solidFill>
                  <a:srgbClr val="7030A0"/>
                </a:solidFill>
                <a:sym typeface="+mn-ea"/>
              </a:rPr>
              <a:t>False,</a:t>
            </a:r>
            <a:r>
              <a:rPr lang="ru-RU" altLang="en-US" sz="4000" b="1" dirty="0" err="1">
                <a:solidFill>
                  <a:srgbClr val="7030A0"/>
                </a:solidFill>
                <a:sym typeface="+mn-ea"/>
              </a:rPr>
              <a:t> </a:t>
            </a:r>
            <a:r>
              <a:rPr lang="en-US" altLang="x-none" sz="4000" b="1" dirty="0" err="1">
                <a:solidFill>
                  <a:srgbClr val="7030A0"/>
                </a:solidFill>
                <a:latin typeface="Arial" panose="020B0604020202020204" pitchFamily="34" charset="0"/>
              </a:rPr>
              <a:t>elif, else, except, finally, for, from, global, if, import, in, is, lambda, </a:t>
            </a:r>
            <a:r>
              <a:rPr lang="en-US" altLang="x-none" sz="4000" b="1" dirty="0" err="1">
                <a:solidFill>
                  <a:srgbClr val="7030A0"/>
                </a:solidFill>
                <a:sym typeface="+mn-ea"/>
              </a:rPr>
              <a:t>None,</a:t>
            </a:r>
            <a:r>
              <a:rPr lang="ru-RU" altLang="en-US" sz="4000" b="1" dirty="0" err="1">
                <a:solidFill>
                  <a:srgbClr val="7030A0"/>
                </a:solidFill>
                <a:sym typeface="+mn-ea"/>
              </a:rPr>
              <a:t> </a:t>
            </a:r>
            <a:r>
              <a:rPr lang="en-US" altLang="x-none" sz="4000" b="1" dirty="0" err="1">
                <a:solidFill>
                  <a:srgbClr val="7030A0"/>
                </a:solidFill>
                <a:latin typeface="Arial" panose="020B0604020202020204" pitchFamily="34" charset="0"/>
              </a:rPr>
              <a:t>nonlocal, not, or, pass, raise, return, </a:t>
            </a:r>
            <a:r>
              <a:rPr lang="en-US" altLang="x-none" sz="4000" b="1" dirty="0" err="1">
                <a:solidFill>
                  <a:srgbClr val="7030A0"/>
                </a:solidFill>
                <a:sym typeface="+mn-ea"/>
              </a:rPr>
              <a:t>True,</a:t>
            </a:r>
            <a:r>
              <a:rPr lang="ru-RU" altLang="en-US" sz="4000" b="1" dirty="0" err="1">
                <a:solidFill>
                  <a:srgbClr val="7030A0"/>
                </a:solidFill>
                <a:sym typeface="+mn-ea"/>
              </a:rPr>
              <a:t> </a:t>
            </a:r>
            <a:r>
              <a:rPr lang="en-US" altLang="x-none" sz="4000" b="1" dirty="0" err="1">
                <a:solidFill>
                  <a:srgbClr val="7030A0"/>
                </a:solidFill>
                <a:latin typeface="Arial" panose="020B0604020202020204" pitchFamily="34" charset="0"/>
              </a:rPr>
              <a:t>try, while, with, yield</a:t>
            </a:r>
            <a:endParaRPr lang="en-US" altLang="x-none" sz="4000" b="1" dirty="0" err="1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Text Box 430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Поняття константи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1922" name="Text Box 43009"/>
          <p:cNvSpPr txBox="1"/>
          <p:nvPr/>
        </p:nvSpPr>
        <p:spPr>
          <a:xfrm>
            <a:off x="609600" y="153035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altLang="x-none" sz="2300" dirty="0" err="1">
                <a:solidFill>
                  <a:srgbClr val="FF0000"/>
                </a:solidFill>
                <a:latin typeface="Arial" panose="020B0604020202020204" pitchFamily="34" charset="0"/>
              </a:rPr>
              <a:t>Константа - це іменована область в оперативній пам'яті, яка може зберігати, АЛЕ НЕ </a:t>
            </a:r>
            <a:r>
              <a:rPr lang="ru-RU" sz="2300" dirty="0" err="1">
                <a:solidFill>
                  <a:srgbClr val="FF0000"/>
                </a:solidFill>
                <a:latin typeface="Arial" panose="020B0604020202020204" pitchFamily="34" charset="0"/>
              </a:rPr>
              <a:t>ПОВИННА </a:t>
            </a:r>
            <a:r>
              <a:rPr altLang="x-none" sz="2300" dirty="0" err="1">
                <a:solidFill>
                  <a:srgbClr val="FF0000"/>
                </a:solidFill>
                <a:latin typeface="Arial" panose="020B0604020202020204" pitchFamily="34" charset="0"/>
              </a:rPr>
              <a:t>змінювати своє значення протягом роботи програми. </a:t>
            </a:r>
            <a:r>
              <a:rPr lang="ru-RU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П</a:t>
            </a:r>
            <a:r>
              <a:rPr altLang="x-none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ід поняття константи можна підвести поняття літерала.</a:t>
            </a:r>
            <a:endParaRPr altLang="x-none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altLang="x-none"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У Python немає вбудованого механізму для створення справжніх констант, як </a:t>
            </a:r>
            <a:r>
              <a:rPr lang="ru-RU" sz="2300" dirty="0" err="1">
                <a:solidFill>
                  <a:schemeClr val="tx1"/>
                </a:solidFill>
                <a:latin typeface="Arial" panose="020B0604020202020204" pitchFamily="34" charset="0"/>
              </a:rPr>
              <a:t>наприклад </a:t>
            </a:r>
            <a:r>
              <a:rPr sz="2300" dirty="0" err="1">
                <a:solidFill>
                  <a:schemeClr val="tx1"/>
                </a:solidFill>
                <a:latin typeface="Arial" panose="020B0604020202020204" pitchFamily="34" charset="0"/>
              </a:rPr>
              <a:t>у C++. Однак є кілька способів позначити змінні, які не повинні змінюватися. Загальноприйнята угода вимагає використовувати великі літери з підкресленнями для позначення констант. Це лише угода, і Python не блокує зміну таких значень.</a:t>
            </a:r>
            <a:endParaRPr sz="23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1-08 162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9280" y="5723255"/>
            <a:ext cx="2760980" cy="11741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Text Box 50176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Введення даних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4210" name="Text Box 50177"/>
          <p:cNvSpPr txBox="1"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52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ru-RU" altLang="x-none" sz="2100" b="1" dirty="0" err="1">
                <a:solidFill>
                  <a:srgbClr val="0070C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https://gist.github.com/sunmeat/8b9e0c65d724ecc4c4840408d0a47d10</a:t>
            </a:r>
            <a:endParaRPr lang="ru-RU" altLang="x-none" sz="21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1-09 14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" y="2391410"/>
            <a:ext cx="7602855" cy="43707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sz="3600" dirty="0"/>
              <a:t>Перехоплення помилки</a:t>
            </a:r>
            <a:endParaRPr lang="ru-RU" sz="3600" dirty="0"/>
          </a:p>
        </p:txBody>
      </p:sp>
      <p:pic>
        <p:nvPicPr>
          <p:cNvPr id="2" name="Picture 1" descr="Снимок экрана 2024-11-09 1420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1493520"/>
            <a:ext cx="7039610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звуж. перетворення</a:t>
            </a:r>
            <a:endParaRPr lang="ru-RU" altLang="ru-RU" dirty="0"/>
          </a:p>
        </p:txBody>
      </p:sp>
      <p:sp>
        <p:nvSpPr>
          <p:cNvPr id="11266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ru-RU" altLang="ru-RU" sz="2500" dirty="0"/>
          </a:p>
        </p:txBody>
      </p:sp>
      <p:pic>
        <p:nvPicPr>
          <p:cNvPr id="2" name="Picture 1" descr="Снимок экрана 2024-11-11 1303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493520"/>
            <a:ext cx="8869680" cy="45256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розш. перетворення</a:t>
            </a:r>
            <a:endParaRPr lang="ru-RU" altLang="ru-RU" dirty="0"/>
          </a:p>
        </p:txBody>
      </p:sp>
      <p:sp>
        <p:nvSpPr>
          <p:cNvPr id="11266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ru-RU" altLang="ru-RU" sz="2500" dirty="0"/>
          </a:p>
        </p:txBody>
      </p:sp>
      <p:pic>
        <p:nvPicPr>
          <p:cNvPr id="3" name="Picture 2" descr="Снимок экрана 2024-11-11 1307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1673860"/>
            <a:ext cx="8810625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неявн. перетворення</a:t>
            </a:r>
            <a:endParaRPr lang="ru-RU" altLang="ru-RU" dirty="0"/>
          </a:p>
        </p:txBody>
      </p:sp>
      <p:sp>
        <p:nvSpPr>
          <p:cNvPr id="11266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ru-RU" altLang="ru-RU" sz="2500" dirty="0"/>
          </a:p>
        </p:txBody>
      </p:sp>
      <p:pic>
        <p:nvPicPr>
          <p:cNvPr id="2" name="Picture 1" descr="Снимок экрана 2024-11-11 131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" y="1583690"/>
            <a:ext cx="8790305" cy="48202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 </a:t>
            </a:r>
            <a:r>
              <a:rPr lang="en-US" altLang="ru-RU" dirty="0"/>
              <a:t>NOT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0820"/>
            <a:ext cx="7921625" cy="45358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Снимок экрана 2024-11-11 132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" y="1539240"/>
            <a:ext cx="8446135" cy="51809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 </a:t>
            </a:r>
            <a:r>
              <a:rPr lang="en-US" altLang="ru-RU" dirty="0"/>
              <a:t>AND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0820"/>
            <a:ext cx="7921625" cy="45358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Снимок экрана 2024-11-11 1325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583690"/>
            <a:ext cx="9144000" cy="39503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 </a:t>
            </a:r>
            <a:r>
              <a:rPr lang="en-US" altLang="ru-RU" dirty="0"/>
              <a:t>OR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0820"/>
            <a:ext cx="7921625" cy="45358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Снимок экрана 2024-11-11 1328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" y="1480820"/>
            <a:ext cx="8939530" cy="451294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 </a:t>
            </a:r>
            <a:r>
              <a:rPr lang="en-US" altLang="ru-RU" dirty="0"/>
              <a:t>if - elif - else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0820"/>
            <a:ext cx="7921625" cy="45358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Снимок экрана 2024-11-11 1353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089025"/>
            <a:ext cx="8495030" cy="57264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335645" cy="911225"/>
          </a:xfrm>
        </p:spPr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</a:t>
            </a:r>
            <a:r>
              <a:rPr lang="en-US" altLang="ru-RU" dirty="0"/>
              <a:t> </a:t>
            </a:r>
            <a:r>
              <a:rPr lang="ru-RU" altLang="ru-RU" dirty="0"/>
              <a:t>тернарний оператор</a:t>
            </a:r>
            <a:endParaRPr lang="ru-RU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0820"/>
            <a:ext cx="7921625" cy="45358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Снимок экрана 2024-11-11 140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230" y="1501140"/>
            <a:ext cx="9230995" cy="45694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335645" cy="911225"/>
          </a:xfrm>
        </p:spPr>
        <p:txBody>
          <a:bodyPr vert="horz" wrap="square" lIns="91440" tIns="45720" rIns="91440" bIns="45720" anchor="ctr" anchorCtr="0"/>
          <a:p>
            <a:r>
              <a:rPr lang="ru-RU" altLang="ru-RU" dirty="0"/>
              <a:t>Приклад </a:t>
            </a:r>
            <a:r>
              <a:rPr lang="en-US" dirty="0"/>
              <a:t>match-case</a:t>
            </a:r>
            <a:endParaRPr lang="en-US" dirty="0"/>
          </a:p>
        </p:txBody>
      </p:sp>
      <p:pic>
        <p:nvPicPr>
          <p:cNvPr id="4" name="Picture 3" descr="Снимок экрана 2024-11-11 142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0" y="1050925"/>
            <a:ext cx="619125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335645" cy="911225"/>
          </a:xfrm>
        </p:spPr>
        <p:txBody>
          <a:bodyPr vert="horz" wrap="square" lIns="91440" tIns="45720" rIns="91440" bIns="45720" anchor="ctr" anchorCtr="0"/>
          <a:p>
            <a:r>
              <a:rPr lang="ru-RU" altLang="ru-RU" dirty="0"/>
              <a:t>Приклад </a:t>
            </a:r>
            <a:r>
              <a:rPr lang="en-US" dirty="0"/>
              <a:t>match-case</a:t>
            </a:r>
            <a:endParaRPr lang="en-US" dirty="0"/>
          </a:p>
        </p:txBody>
      </p:sp>
      <p:pic>
        <p:nvPicPr>
          <p:cNvPr id="2" name="Picture 1" descr="Снимок экрана 2024-11-11 1423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5045" y="1178560"/>
            <a:ext cx="4628515" cy="571627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itle 1"/>
          <p:cNvSpPr>
            <a:spLocks noGrp="1"/>
          </p:cNvSpPr>
          <p:nvPr>
            <p:ph type="title"/>
          </p:nvPr>
        </p:nvSpPr>
        <p:spPr>
          <a:xfrm>
            <a:off x="195580" y="228600"/>
            <a:ext cx="8335645" cy="911225"/>
          </a:xfrm>
        </p:spPr>
        <p:txBody>
          <a:bodyPr vert="horz" wrap="square" lIns="91440" tIns="45720" rIns="91440" bIns="45720" anchor="ctr" anchorCtr="0"/>
          <a:p>
            <a:r>
              <a:rPr lang="ru-RU" altLang="ru-RU" dirty="0"/>
              <a:t>Приклад </a:t>
            </a:r>
            <a:r>
              <a:rPr lang="en-US" dirty="0"/>
              <a:t>match-case</a:t>
            </a:r>
            <a:endParaRPr lang="en-US" dirty="0"/>
          </a:p>
        </p:txBody>
      </p:sp>
      <p:pic>
        <p:nvPicPr>
          <p:cNvPr id="4" name="Picture 3" descr="Снимок экрана 2024-11-11 1426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110" y="1133475"/>
            <a:ext cx="5495925" cy="567118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Як отримати ВЧ у </a:t>
            </a:r>
            <a:r>
              <a:rPr lang="en-US" altLang="ru-RU" dirty="0"/>
              <a:t>Python</a:t>
            </a:r>
            <a:endParaRPr lang="en-US" altLang="ru-RU" dirty="0"/>
          </a:p>
        </p:txBody>
      </p:sp>
      <p:sp>
        <p:nvSpPr>
          <p:cNvPr id="37890" name="Объект 2"/>
          <p:cNvSpPr>
            <a:spLocks noGrp="1"/>
          </p:cNvSpPr>
          <p:nvPr>
            <p:ph idx="1"/>
          </p:nvPr>
        </p:nvSpPr>
        <p:spPr>
          <a:xfrm>
            <a:off x="463550" y="1457325"/>
            <a:ext cx="8140700" cy="4419600"/>
          </a:xfrm>
        </p:spPr>
        <p:txBody>
          <a:bodyPr vert="horz" wrap="square" lIns="91440" tIns="45720" rIns="91440" bIns="45720" anchor="t" anchorCtr="0"/>
          <a:p>
            <a:endParaRPr lang="ru-RU" altLang="ru-RU" sz="3000" dirty="0"/>
          </a:p>
        </p:txBody>
      </p:sp>
      <p:pic>
        <p:nvPicPr>
          <p:cNvPr id="2" name="Picture 1" descr="Снимок экрана 2024-11-11 144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403985"/>
            <a:ext cx="8696325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Види циклів </a:t>
            </a:r>
            <a:r>
              <a:rPr lang="ru-RU" altLang="en-US" dirty="0"/>
              <a:t>у </a:t>
            </a:r>
            <a:r>
              <a:rPr lang="en-US" altLang="en-US" dirty="0"/>
              <a:t>Python</a:t>
            </a:r>
            <a:endParaRPr lang="en-US" altLang="en-US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 мові 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Python </a:t>
            </a:r>
            <a:r>
              <a:rPr kumimoji="0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існує </a:t>
            </a:r>
            <a:r>
              <a:rPr kumimoji="0" lang="ru-RU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основн</a:t>
            </a:r>
            <a:r>
              <a:rPr kumimoji="0" lang="en-US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</a:t>
            </a:r>
            <a:r>
              <a:rPr kumimoji="0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реалізаці</a:t>
            </a:r>
            <a:r>
              <a:rPr lang="ru-RU" altLang="ru-RU" sz="25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ї</a:t>
            </a:r>
            <a:r>
              <a:rPr kumimoji="0" sz="25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циклів:</a:t>
            </a:r>
            <a:endParaRPr kumimoji="0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sz="25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b="1"/>
              <a:t>while </a:t>
            </a:r>
            <a:r>
              <a:rPr lang="en-US" altLang="en-US"/>
              <a:t>— цикл з передумовою</a:t>
            </a:r>
            <a:endParaRPr lang="en-US" altLang="en-US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en-US" b="1"/>
              <a:t>for </a:t>
            </a:r>
            <a:r>
              <a:rPr lang="en-US" altLang="en-US"/>
              <a:t>— цикл для перебору елементів колекцій</a:t>
            </a:r>
            <a:r>
              <a:rPr lang="ru-RU" altLang="en-US"/>
              <a:t> (списк</a:t>
            </a:r>
            <a:r>
              <a:rPr lang="en-US" altLang="en-US"/>
              <a:t>i</a:t>
            </a:r>
            <a:r>
              <a:rPr lang="ru-RU" altLang="en-US"/>
              <a:t>в, кортеж</a:t>
            </a:r>
            <a:r>
              <a:rPr lang="en-US" altLang="en-US"/>
              <a:t>i</a:t>
            </a:r>
            <a:r>
              <a:rPr lang="ru-RU" altLang="en-US"/>
              <a:t>в, множин, рядк</a:t>
            </a:r>
            <a:r>
              <a:rPr lang="en-US" altLang="en-US"/>
              <a:t>i</a:t>
            </a:r>
            <a:r>
              <a:rPr lang="ru-RU" altLang="en-US"/>
              <a:t>в, словник</a:t>
            </a:r>
            <a:r>
              <a:rPr lang="en-US" altLang="en-US"/>
              <a:t>i</a:t>
            </a:r>
            <a:r>
              <a:rPr lang="ru-RU" altLang="en-US"/>
              <a:t>в, диапазон</a:t>
            </a:r>
            <a:r>
              <a:rPr lang="en-US" altLang="en-US"/>
              <a:t>i</a:t>
            </a:r>
            <a:r>
              <a:rPr lang="ru-RU" altLang="en-US"/>
              <a:t>в)</a:t>
            </a:r>
            <a:endParaRPr lang="ru-RU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Приклад циклу </a:t>
            </a:r>
            <a:r>
              <a:rPr lang="en-US" altLang="ru-RU" dirty="0"/>
              <a:t>while</a:t>
            </a:r>
            <a:endParaRPr lang="en-US" altLang="ru-RU" dirty="0"/>
          </a:p>
        </p:txBody>
      </p:sp>
      <p:sp>
        <p:nvSpPr>
          <p:cNvPr id="14338" name="Объект 2"/>
          <p:cNvSpPr>
            <a:spLocks noGrp="1"/>
          </p:cNvSpPr>
          <p:nvPr>
            <p:ph idx="1"/>
          </p:nvPr>
        </p:nvSpPr>
        <p:spPr>
          <a:xfrm>
            <a:off x="116840" y="6354445"/>
            <a:ext cx="8716963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100">
                <a:solidFill>
                  <a:srgbClr val="0070C0"/>
                </a:solidFill>
                <a:hlinkClick r:id="rId1" action="ppaction://hlinkfile"/>
              </a:rPr>
              <a:t>https://gist.github.com/sunmeat/4a4427aec3f3ea079248087dbb3d81a2</a:t>
            </a:r>
            <a:endParaRPr lang="en-US" altLang="en-US" sz="2100">
              <a:solidFill>
                <a:srgbClr val="0070C0"/>
              </a:solidFill>
            </a:endParaRPr>
          </a:p>
        </p:txBody>
      </p:sp>
      <p:pic>
        <p:nvPicPr>
          <p:cNvPr id="2" name="Picture 1" descr="Снимок экрана 2024-11-26 142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1448435"/>
            <a:ext cx="7816215" cy="48685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/>
              <a:t>Приклад циклу </a:t>
            </a:r>
            <a:r>
              <a:rPr lang="en-US" dirty="0"/>
              <a:t>for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09600" y="1385888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/>
              <a:t>Простий цикл від 0 до 4                            (за замовчуванням з кроком </a:t>
            </a:r>
            <a:r>
              <a:rPr lang="ru-RU" altLang="en-US"/>
              <a:t>в </a:t>
            </a:r>
            <a:r>
              <a:rPr lang="en-US" altLang="en-US"/>
              <a:t>1):</a:t>
            </a:r>
            <a:endParaRPr lang="en-US" altLang="en-US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</p:txBody>
      </p:sp>
      <p:pic>
        <p:nvPicPr>
          <p:cNvPr id="3" name="Picture 2" descr="Снимок экрана 2024-11-26 1507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" y="2484120"/>
            <a:ext cx="9164955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/>
              <a:t>Приклад циклу </a:t>
            </a:r>
            <a:r>
              <a:rPr lang="en-US" dirty="0"/>
              <a:t>for 2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09600" y="1385888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/>
              <a:t>Цикл з вказаним початком, кінцем             і кроком:</a:t>
            </a:r>
            <a:endParaRPr lang="en-US" altLang="en-US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</p:txBody>
      </p:sp>
      <p:pic>
        <p:nvPicPr>
          <p:cNvPr id="2" name="Picture 1" descr="Снимок экрана 2024-11-26 1508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73655"/>
            <a:ext cx="9131300" cy="30968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/>
              <a:t>Приклад циклу </a:t>
            </a:r>
            <a:r>
              <a:rPr lang="en-US" dirty="0"/>
              <a:t>for 3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09600" y="1385888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/>
              <a:t>Цикл з від'ємним кроком: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 b="1"/>
          </a:p>
        </p:txBody>
      </p:sp>
      <p:pic>
        <p:nvPicPr>
          <p:cNvPr id="2" name="Picture 1" descr="Снимок экрана 2024-11-26 1509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1943735"/>
            <a:ext cx="774382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Л</a:t>
            </a:r>
            <a:r>
              <a:rPr lang="en-US" altLang="ru-RU" dirty="0"/>
              <a:t>i</a:t>
            </a:r>
            <a:r>
              <a:rPr lang="ru-RU" altLang="ru-RU" dirty="0"/>
              <a:t>н</a:t>
            </a:r>
            <a:r>
              <a:rPr lang="en-US" altLang="ru-RU" dirty="0"/>
              <a:t>i</a:t>
            </a:r>
            <a:r>
              <a:rPr lang="ru-RU" altLang="ru-RU" dirty="0"/>
              <a:t>я з з</a:t>
            </a:r>
            <a:r>
              <a:rPr lang="en-US" altLang="ru-RU" dirty="0"/>
              <a:t>i</a:t>
            </a:r>
            <a:r>
              <a:rPr lang="ru-RU" altLang="ru-RU" dirty="0"/>
              <a:t>рочок **********</a:t>
            </a:r>
            <a:endParaRPr lang="ru-RU" altLang="ru-RU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ru-RU" altLang="ru-RU" dirty="0"/>
          </a:p>
        </p:txBody>
      </p:sp>
      <p:pic>
        <p:nvPicPr>
          <p:cNvPr id="2" name="Picture 1" descr="Снимок экрана 2024-11-26 1511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1448435"/>
            <a:ext cx="8777605" cy="467233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sz="4000" dirty="0"/>
              <a:t>Прямокутник </a:t>
            </a:r>
            <a:r>
              <a:rPr lang="en-US" altLang="ru-RU" sz="4000" dirty="0"/>
              <a:t>i</a:t>
            </a:r>
            <a:r>
              <a:rPr lang="ru-RU" altLang="ru-RU" sz="4000" dirty="0"/>
              <a:t>з з</a:t>
            </a:r>
            <a:r>
              <a:rPr lang="en-US" altLang="ru-RU" sz="4000" dirty="0"/>
              <a:t>i</a:t>
            </a:r>
            <a:r>
              <a:rPr lang="ru-RU" altLang="en-US" sz="4000" dirty="0"/>
              <a:t>рочок</a:t>
            </a:r>
            <a:endParaRPr lang="ru-RU" altLang="en-US" sz="4000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endParaRPr lang="ru-RU" altLang="ru-RU" sz="2700" dirty="0"/>
          </a:p>
        </p:txBody>
      </p:sp>
      <p:pic>
        <p:nvPicPr>
          <p:cNvPr id="2" name="Picture 1" descr="Снимок экрана 2024-11-26 1519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" y="1089025"/>
            <a:ext cx="7182485" cy="571881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Псевдограф</a:t>
            </a:r>
            <a:r>
              <a:rPr lang="en-US" altLang="ru-RU" dirty="0"/>
              <a:t>i</a:t>
            </a:r>
            <a:r>
              <a:rPr lang="ru-RU" altLang="ru-RU" dirty="0"/>
              <a:t>ка</a:t>
            </a:r>
            <a:endParaRPr lang="ru-RU" altLang="ru-RU" dirty="0"/>
          </a:p>
        </p:txBody>
      </p:sp>
      <p:pic>
        <p:nvPicPr>
          <p:cNvPr id="2" name="Picture 1" descr="Снимок экрана 2024-11-26 1523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048385"/>
            <a:ext cx="7458075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Text Box 9216"/>
          <p:cNvSpPr txBox="1"/>
          <p:nvPr/>
        </p:nvSpPr>
        <p:spPr>
          <a:xfrm>
            <a:off x="195263" y="228600"/>
            <a:ext cx="81930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Визначення рядка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338" name="Text Box 9217"/>
          <p:cNvSpPr txBox="1"/>
          <p:nvPr/>
        </p:nvSpPr>
        <p:spPr>
          <a:xfrm>
            <a:off x="609600" y="1452245"/>
            <a:ext cx="7924800" cy="456755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000" b="1" dirty="0" err="1">
                <a:solidFill>
                  <a:srgbClr val="FF0000"/>
                </a:solidFill>
                <a:latin typeface="Arial" panose="020B0604020202020204" pitchFamily="34" charset="0"/>
              </a:rPr>
              <a:t>В Python рядок (тип str) — це незмінний (immutable) об'єкт, що представляє собою послідовність символів.</a:t>
            </a: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         </a:t>
            </a:r>
            <a:r>
              <a:rPr lang="en-US" altLang="en-US" sz="3000" dirty="0" err="1">
                <a:solidFill>
                  <a:schemeClr val="tx1"/>
                </a:solidFill>
                <a:latin typeface="Arial" panose="020B0604020202020204" pitchFamily="34" charset="0"/>
              </a:rPr>
              <a:t>Рядки можуть містити будь-який набір символів, включаючи літери, цифри, пробіли та спеціальні знаки. Рядки використовують Юнікод для представлення символів, що дозволяє працювати з текстами на різних мовах світу.</a:t>
            </a:r>
            <a:endParaRPr lang="en-US" altLang="en-US" sz="30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Приклади створення рядків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386" name="Text Box 10241"/>
          <p:cNvSpPr txBox="1"/>
          <p:nvPr/>
        </p:nvSpPr>
        <p:spPr>
          <a:xfrm>
            <a:off x="566103" y="1538288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162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400" b="1" dirty="0" err="1">
              <a:solidFill>
                <a:srgbClr val="0070C0"/>
              </a:solidFill>
              <a:latin typeface="Arial" panose="020B0604020202020204" pitchFamily="34" charset="0"/>
              <a:ea typeface="Verdana" panose="020B0604030504040204" pitchFamily="32" charset="0"/>
              <a:hlinkClick r:id="rId1" action="ppaction://hlinkfile"/>
            </a:endParaRPr>
          </a:p>
          <a:p>
            <a:pPr algn="ctr" defTabSz="457200">
              <a:spcBef>
                <a:spcPts val="162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400" b="1" dirty="0" err="1">
              <a:solidFill>
                <a:srgbClr val="0070C0"/>
              </a:solidFill>
              <a:latin typeface="Arial" panose="020B0604020202020204" pitchFamily="34" charset="0"/>
              <a:ea typeface="Verdana" panose="020B0604030504040204" pitchFamily="32" charset="0"/>
              <a:hlinkClick r:id="rId1" action="ppaction://hlinkfile"/>
            </a:endParaRPr>
          </a:p>
          <a:p>
            <a:pPr algn="ctr" defTabSz="457200">
              <a:spcBef>
                <a:spcPts val="162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400" b="1" dirty="0" err="1">
                <a:solidFill>
                  <a:srgbClr val="0070C0"/>
                </a:solidFill>
                <a:latin typeface="Arial" panose="020B0604020202020204" pitchFamily="34" charset="0"/>
                <a:ea typeface="Verdana" panose="020B0604030504040204" pitchFamily="32" charset="0"/>
                <a:hlinkClick r:id="rId1" action="ppaction://hlinkfile"/>
              </a:rPr>
              <a:t>https://gist.github.com/sunmeat/ffcce46513edd92080dd483144ebcbbf</a:t>
            </a:r>
            <a:endParaRPr lang="en-US" altLang="en-US" sz="3400" b="1" dirty="0" err="1">
              <a:solidFill>
                <a:srgbClr val="0070C0"/>
              </a:solidFill>
              <a:latin typeface="Arial" panose="020B0604020202020204" pitchFamily="34" charset="0"/>
              <a:ea typeface="Verdana" panose="020B0604030504040204" pitchFamily="32" charset="0"/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1331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Порівняння рядків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Text Box 13313"/>
          <p:cNvSpPr txBox="1"/>
          <p:nvPr/>
        </p:nvSpPr>
        <p:spPr>
          <a:xfrm>
            <a:off x="609600" y="18446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1375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x-none" sz="5500" b="1" dirty="0" err="1">
              <a:solidFill>
                <a:srgbClr val="000000"/>
              </a:solidFill>
              <a:latin typeface="Georgia" panose="02040502050405020303" pitchFamily="1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275" y="1591945"/>
            <a:ext cx="9208135" cy="41001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15361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Конкатенац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 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рядків</a:t>
            </a:r>
            <a:endParaRPr lang="uk-UA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440" y="1089025"/>
            <a:ext cx="6322060" cy="56464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нші методи рядків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15" y="1181735"/>
            <a:ext cx="9262745" cy="39185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66420" y="5318760"/>
            <a:ext cx="8011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https://gist.github.com/sunmeat/f487f46c93767681f57e2fa925c21987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Зріз рядка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0" y="1089025"/>
            <a:ext cx="7030720" cy="57016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Форматування рядків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6420" y="5454015"/>
            <a:ext cx="8011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https://gist.github.com/sunmeat/39597251adedab053f5a26315017b968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4" name="Picture 3" descr="Снимок экрана 2024-12-11 100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" y="1538605"/>
            <a:ext cx="9207500" cy="37312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Модуль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string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2-11 1013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585" y="1493520"/>
            <a:ext cx="9443085" cy="43383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Text Box 2867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 на РВ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250" name="Text Box 28673"/>
          <p:cNvSpPr txBox="1"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1500"/>
              </a:spcBef>
              <a:buClrTx/>
              <a:buSzPct val="80000"/>
              <a:buFontTx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ru-RU" altLang="x-none" sz="6000" b="1" dirty="0" err="1">
              <a:solidFill>
                <a:srgbClr val="000000"/>
              </a:solidFill>
              <a:latin typeface="Georgia" panose="02040502050405020303" pitchFamily="1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35" y="1040765"/>
            <a:ext cx="6878320" cy="49422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1755" y="6398895"/>
            <a:ext cx="8985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https://gist.github.com/sunmeat/847229ce60b0ea45f818145805319193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</a:rPr>
              <a:t>Поняття списку</a:t>
            </a:r>
            <a:endParaRPr lang="uk-UA" sz="4200" dirty="0" err="1">
              <a:solidFill>
                <a:srgbClr val="FFFFFF"/>
              </a:solidFill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609600" y="1440180"/>
            <a:ext cx="7924800" cy="450977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uk-UA" altLang="en-US" sz="2700" dirty="0" err="1">
                <a:solidFill>
                  <a:srgbClr val="000000"/>
                </a:solidFill>
              </a:rPr>
              <a:t>Задля вирішення проблеми зберігання великої кількості елементів</a:t>
            </a:r>
            <a:r>
              <a:rPr lang="en-US" altLang="en-US" sz="2700" dirty="0" err="1">
                <a:solidFill>
                  <a:srgbClr val="000000"/>
                </a:solidFill>
              </a:rPr>
              <a:t> використовуються універсальні структури даних, зокрема </a:t>
            </a:r>
            <a:r>
              <a:rPr lang="en-US" altLang="en-US" sz="2700" b="1" dirty="0" err="1">
                <a:solidFill>
                  <a:srgbClr val="000000"/>
                </a:solidFill>
              </a:rPr>
              <a:t>списки</a:t>
            </a:r>
            <a:r>
              <a:rPr lang="en-US" altLang="en-US" sz="2700" dirty="0" err="1">
                <a:solidFill>
                  <a:srgbClr val="000000"/>
                </a:solidFill>
              </a:rPr>
              <a:t>. </a:t>
            </a:r>
            <a:r>
              <a:rPr lang="en-US" altLang="en-US" sz="2700" b="1" dirty="0" err="1">
                <a:solidFill>
                  <a:srgbClr val="FF0000"/>
                </a:solidFill>
              </a:rPr>
              <a:t>Списки Python є колекціями об'єктів, </a:t>
            </a:r>
            <a:r>
              <a:rPr lang="uk-UA" altLang="en-US" sz="2700" b="1" dirty="0" err="1">
                <a:solidFill>
                  <a:srgbClr val="FF0000"/>
                </a:solidFill>
              </a:rPr>
              <a:t>         </a:t>
            </a:r>
            <a:r>
              <a:rPr lang="en-US" altLang="en-US" sz="2700" b="1" dirty="0" err="1">
                <a:solidFill>
                  <a:srgbClr val="FF0000"/>
                </a:solidFill>
              </a:rPr>
              <a:t>що дозволяють зберігати елементи </a:t>
            </a:r>
            <a:r>
              <a:rPr lang="en-US" altLang="en-US" sz="2700" b="1" u="sng" dirty="0" err="1">
                <a:solidFill>
                  <a:srgbClr val="FF0000"/>
                </a:solidFill>
              </a:rPr>
              <a:t>різних </a:t>
            </a:r>
            <a:r>
              <a:rPr lang="en-US" altLang="en-US" sz="2700" b="1" dirty="0" err="1">
                <a:solidFill>
                  <a:srgbClr val="FF0000"/>
                </a:solidFill>
              </a:rPr>
              <a:t>типів і мають змінний розмір. </a:t>
            </a:r>
            <a:r>
              <a:rPr lang="en-US" altLang="en-US" sz="2700" dirty="0" err="1">
                <a:solidFill>
                  <a:srgbClr val="000000"/>
                </a:solidFill>
              </a:rPr>
              <a:t>Вони забезпечують більшу гнучкість у порівнянні </a:t>
            </a:r>
            <a:r>
              <a:rPr lang="uk-UA" altLang="en-US" sz="2700" dirty="0" err="1">
                <a:solidFill>
                  <a:srgbClr val="000000"/>
                </a:solidFill>
              </a:rPr>
              <a:t>          </a:t>
            </a:r>
            <a:r>
              <a:rPr lang="en-US" altLang="en-US" sz="2700" dirty="0" err="1">
                <a:solidFill>
                  <a:srgbClr val="000000"/>
                </a:solidFill>
              </a:rPr>
              <a:t>з класичними масивами, оскільки можуть автоматично змінювати свій розмір під час додавання або видалення елементів.</a:t>
            </a:r>
            <a:endParaRPr lang="en-US" altLang="en-US" sz="2700" dirty="0" err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</a:rPr>
              <a:t>Розміщення списку у пам’яті</a:t>
            </a:r>
            <a:endParaRPr lang="uk-UA" sz="4200" dirty="0" err="1">
              <a:solidFill>
                <a:srgbClr val="FFFFFF"/>
              </a:solidFill>
            </a:endParaRPr>
          </a:p>
        </p:txBody>
      </p:sp>
      <p:sp>
        <p:nvSpPr>
          <p:cNvPr id="8194" name="Text Box 8193"/>
          <p:cNvSpPr txBox="1"/>
          <p:nvPr/>
        </p:nvSpPr>
        <p:spPr>
          <a:xfrm>
            <a:off x="609600" y="1440180"/>
            <a:ext cx="7924800" cy="450977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0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700" dirty="0" err="1">
              <a:solidFill>
                <a:srgbClr val="000000"/>
              </a:solidFill>
            </a:endParaRPr>
          </a:p>
        </p:txBody>
      </p:sp>
      <p:pic>
        <p:nvPicPr>
          <p:cNvPr id="2" name="Picture 1" descr="Снимок экрана 2024-12-12 1319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" y="1493520"/>
            <a:ext cx="8886825" cy="50387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ext Box 9216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</a:rPr>
              <a:t>Приклад на створення списку</a:t>
            </a:r>
            <a:endParaRPr lang="uk-UA" altLang="ru-RU" sz="4200" dirty="0" err="1">
              <a:solidFill>
                <a:srgbClr val="FFFFFF"/>
              </a:solidFill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207010" y="1538605"/>
            <a:ext cx="8714105" cy="3475355"/>
          </a:xfrm>
          <a:prstGeom prst="rect">
            <a:avLst/>
          </a:prstGeom>
          <a:ln w="9525">
            <a:solidFill>
              <a:srgbClr val="000000"/>
            </a:solidFill>
            <a:miter/>
          </a:ln>
        </p:spPr>
      </p:pic>
      <p:sp>
        <p:nvSpPr>
          <p:cNvPr id="3" name="Text Box 2"/>
          <p:cNvSpPr txBox="1"/>
          <p:nvPr/>
        </p:nvSpPr>
        <p:spPr>
          <a:xfrm>
            <a:off x="15240" y="5373370"/>
            <a:ext cx="9076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action="ppaction://hlinkfile"/>
              </a:rPr>
              <a:t>https://gist.github.com/sunmeat/de645957fd9c91b21a080fec776dc4b2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</a:rPr>
              <a:t>Генератори списків</a:t>
            </a:r>
            <a:endParaRPr lang="uk-UA" sz="4200" dirty="0" err="1">
              <a:solidFill>
                <a:srgbClr val="FFFFFF"/>
              </a:solidFill>
            </a:endParaRPr>
          </a:p>
        </p:txBody>
      </p:sp>
      <p:sp>
        <p:nvSpPr>
          <p:cNvPr id="17410" name="Text Box 17409"/>
          <p:cNvSpPr txBox="1"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uk-UA" sz="3200" dirty="0" err="1">
              <a:solidFill>
                <a:srgbClr val="00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4315" y="6398895"/>
            <a:ext cx="89096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sym typeface="+mn-ea"/>
                <a:hlinkClick r:id="rId1" action="ppaction://hlinkfile"/>
              </a:rPr>
              <a:t>https://gist.github.com/sunmeat/71e991e02916b46eaf58f0eaa00f5d8c</a:t>
            </a:r>
            <a:endParaRPr lang="en-US" altLang="en-US" b="1">
              <a:solidFill>
                <a:srgbClr val="0070C0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1492885"/>
            <a:ext cx="7379970" cy="44259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ext Box 1740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</a:rPr>
              <a:t>Методи списків</a:t>
            </a:r>
            <a:endParaRPr lang="uk-UA" sz="4200" dirty="0" err="1">
              <a:solidFill>
                <a:srgbClr val="FFFFFF"/>
              </a:solidFill>
            </a:endParaRPr>
          </a:p>
        </p:txBody>
      </p:sp>
      <p:sp>
        <p:nvSpPr>
          <p:cNvPr id="17410" name="Text Box 17409"/>
          <p:cNvSpPr txBox="1"/>
          <p:nvPr/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200" b="1" dirty="0" err="1">
              <a:solidFill>
                <a:srgbClr val="0070C0"/>
              </a:solidFill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200" b="1" dirty="0" err="1">
              <a:solidFill>
                <a:srgbClr val="0070C0"/>
              </a:solidFill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hlinkClick r:id="rId1" action="ppaction://hlinkfile"/>
              </a:rPr>
              <a:t>https://gist.github.com/sunmeat/7dc6a4f8f2c3f139e1e4649ad326892d</a:t>
            </a:r>
            <a:endParaRPr lang="en-US" altLang="en-US" sz="3200" b="1" dirty="0" err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Список списків</a:t>
            </a:r>
            <a:endParaRPr lang="uk-UA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4270" y="1043940"/>
            <a:ext cx="6746875" cy="56661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Приклади коду</a:t>
            </a:r>
            <a:endParaRPr lang="uk-UA" altLang="ru-RU" dirty="0"/>
          </a:p>
        </p:txBody>
      </p:sp>
      <p:sp>
        <p:nvSpPr>
          <p:cNvPr id="17411" name="Объект 2"/>
          <p:cNvSpPr>
            <a:spLocks noGrp="1"/>
          </p:cNvSpPr>
          <p:nvPr>
            <p:ph idx="1"/>
          </p:nvPr>
        </p:nvSpPr>
        <p:spPr>
          <a:xfrm>
            <a:off x="4481830" y="3068955"/>
            <a:ext cx="3992880" cy="4416425"/>
          </a:xfrm>
        </p:spPr>
        <p:txBody>
          <a:bodyPr vert="horz" wrap="square" lIns="91440" tIns="45720" rIns="91440" bIns="45720" anchor="t" anchorCtr="0"/>
          <a:p>
            <a:pPr algn="ctr"/>
            <a:r>
              <a:rPr lang="en-US" altLang="en-US" sz="2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https://gist.github.com/sunmeat/741a5779029bcbc1d8f2648fe5880fab</a:t>
            </a:r>
            <a:endParaRPr lang="en-US" altLang="en-US" sz="26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pic>
        <p:nvPicPr>
          <p:cNvPr id="2" name="Picture 1" descr="Снимок экрана 2024-12-15 1352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1448435"/>
            <a:ext cx="4358005" cy="531622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Створення ехе-файлу</a:t>
            </a:r>
            <a:endParaRPr lang="uk-UA" dirty="0"/>
          </a:p>
        </p:txBody>
      </p:sp>
      <p:pic>
        <p:nvPicPr>
          <p:cNvPr id="2" name="Content Placeholder 1" descr="Снимок экрана 2024-12-15 1900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493520"/>
            <a:ext cx="9190355" cy="41897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71550" y="576897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uk-UA" b="1" dirty="0">
                <a:solidFill>
                  <a:schemeClr val="tx1"/>
                </a:solidFill>
                <a:sym typeface="+mn-ea"/>
              </a:rPr>
              <a:t>exe-</a:t>
            </a:r>
            <a:r>
              <a:rPr lang="uk-UA" altLang="uk-UA" b="1" dirty="0">
                <a:solidFill>
                  <a:schemeClr val="tx1"/>
                </a:solidFill>
                <a:sym typeface="+mn-ea"/>
              </a:rPr>
              <a:t>файл буде створено у папці </a:t>
            </a:r>
            <a:r>
              <a:rPr lang="en-US" altLang="ru-RU" b="1" dirty="0">
                <a:solidFill>
                  <a:schemeClr val="tx1"/>
                </a:solidFill>
                <a:sym typeface="+mn-ea"/>
              </a:rPr>
              <a:t>dist</a:t>
            </a:r>
            <a:endParaRPr lang="en-US" altLang="ru-RU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/>
              <a:t>Процедурне програмування</a:t>
            </a:r>
            <a:endParaRPr lang="en-US" altLang="en-US"/>
          </a:p>
        </p:txBody>
      </p:sp>
      <p:sp>
        <p:nvSpPr>
          <p:cNvPr id="11266" name="Объект 2"/>
          <p:cNvSpPr>
            <a:spLocks noGrp="1"/>
          </p:cNvSpPr>
          <p:nvPr>
            <p:ph idx="1"/>
          </p:nvPr>
        </p:nvSpPr>
        <p:spPr>
          <a:xfrm>
            <a:off x="466725" y="1341438"/>
            <a:ext cx="8208963" cy="46069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300" b="1">
                <a:solidFill>
                  <a:srgbClr val="FF0000"/>
                </a:solidFill>
              </a:rPr>
              <a:t>Суть процедурної парадигми - розбиття задачі </a:t>
            </a:r>
            <a:r>
              <a:rPr lang="uk-UA" altLang="en-US" sz="2300" b="1">
                <a:solidFill>
                  <a:srgbClr val="FF0000"/>
                </a:solidFill>
              </a:rPr>
              <a:t>             </a:t>
            </a:r>
            <a:r>
              <a:rPr lang="en-US" altLang="en-US" sz="2300" b="1">
                <a:solidFill>
                  <a:srgbClr val="FF0000"/>
                </a:solidFill>
              </a:rPr>
              <a:t>на підзадачі (ітеративна алгоритмічна декомпозиція)</a:t>
            </a:r>
            <a:r>
              <a:rPr lang="en-US" altLang="en-US" sz="2300"/>
              <a:t>. Згідно з процедурною парадигмою програмування, код програми має ділитися на блоки (процедури). Процедура (іноді також звана підпрограмою, </a:t>
            </a:r>
            <a:r>
              <a:rPr lang="en-US" altLang="en-US" sz="2300" b="1"/>
              <a:t>функцією </a:t>
            </a:r>
            <a:r>
              <a:rPr lang="en-US" altLang="en-US" sz="2300"/>
              <a:t>або методом) - це певна послідовність команд, які слід виконати. Будь-яка процедура може бути викликана на ім'я з будь-якої точки програми, включно з іншими процедурами або з нею самою (т.зв. рекурсивний виклик). </a:t>
            </a:r>
            <a:r>
              <a:rPr lang="en-US" altLang="en-US" sz="2300" b="1">
                <a:solidFill>
                  <a:srgbClr val="FF0000"/>
                </a:solidFill>
              </a:rPr>
              <a:t>Вся робота програми здійснюється в термінах ДІЙ, і основний акцент робиться на складанні правильного алгоритму (послідовності виконання блоків).</a:t>
            </a:r>
            <a:endParaRPr lang="en-US" altLang="en-US" sz="23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/>
              <a:t>Який вигляд має ПП-програма </a:t>
            </a:r>
            <a:endParaRPr lang="en-US" altLang="en-US"/>
          </a:p>
        </p:txBody>
      </p:sp>
      <p:sp>
        <p:nvSpPr>
          <p:cNvPr id="12290" name="Объект 2"/>
          <p:cNvSpPr>
            <a:spLocks noGrp="1"/>
          </p:cNvSpPr>
          <p:nvPr>
            <p:ph idx="1"/>
          </p:nvPr>
        </p:nvSpPr>
        <p:spPr>
          <a:xfrm>
            <a:off x="420370" y="1628775"/>
            <a:ext cx="8328660" cy="46069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600" b="1"/>
              <a:t>def main():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stage_options()  </a:t>
            </a:r>
            <a:r>
              <a:rPr lang="en-US" altLang="en-US" sz="2600" b="1">
                <a:solidFill>
                  <a:srgbClr val="00B050"/>
                </a:solidFill>
              </a:rPr>
              <a:t># налаштування вікна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intro()  </a:t>
            </a:r>
            <a:r>
              <a:rPr lang="en-US" altLang="en-US" sz="2600" b="1">
                <a:solidFill>
                  <a:srgbClr val="00B050"/>
                </a:solidFill>
              </a:rPr>
              <a:t># стартова заставка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show_menu()  </a:t>
            </a:r>
            <a:r>
              <a:rPr lang="en-US" altLang="en-US" sz="2600" b="1">
                <a:solidFill>
                  <a:srgbClr val="00B050"/>
                </a:solidFill>
              </a:rPr>
              <a:t># показ головного меню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generate_level() </a:t>
            </a:r>
            <a:r>
              <a:rPr lang="en-US" altLang="en-US" sz="2600" b="1">
                <a:solidFill>
                  <a:srgbClr val="00B050"/>
                </a:solidFill>
              </a:rPr>
              <a:t> # створення ігрової локації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log_results()  </a:t>
            </a:r>
            <a:r>
              <a:rPr lang="en-US" altLang="en-US" sz="2600" b="1">
                <a:solidFill>
                  <a:srgbClr val="00B050"/>
                </a:solidFill>
              </a:rPr>
              <a:t># запис ігрового прогресу в файл</a:t>
            </a:r>
            <a:endParaRPr lang="en-US" altLang="en-US" sz="2600" b="1"/>
          </a:p>
          <a:p>
            <a:pPr marL="0" indent="0">
              <a:buNone/>
            </a:pPr>
            <a:r>
              <a:rPr lang="en-US" altLang="en-US" sz="2600" b="1"/>
              <a:t>    outro()  </a:t>
            </a:r>
            <a:r>
              <a:rPr lang="en-US" altLang="en-US" sz="2600" b="1">
                <a:solidFill>
                  <a:srgbClr val="00B050"/>
                </a:solidFill>
              </a:rPr>
              <a:t># завершення роботи програми</a:t>
            </a:r>
            <a:endParaRPr lang="en-US" altLang="en-US" sz="2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В</a:t>
            </a:r>
            <a:r>
              <a:rPr lang="uk-UA" altLang="ru-RU" dirty="0"/>
              <a:t>изначення функції</a:t>
            </a:r>
            <a:endParaRPr lang="uk-UA" altLang="ru-RU" dirty="0"/>
          </a:p>
        </p:txBody>
      </p:sp>
      <p:sp>
        <p:nvSpPr>
          <p:cNvPr id="16386" name="Объект 2"/>
          <p:cNvSpPr>
            <a:spLocks noGrp="1"/>
          </p:cNvSpPr>
          <p:nvPr>
            <p:ph idx="1"/>
          </p:nvPr>
        </p:nvSpPr>
        <p:spPr>
          <a:xfrm>
            <a:off x="609600" y="1484313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ru-RU" altLang="en-US" sz="2700" b="1">
                <a:solidFill>
                  <a:srgbClr val="FF0000"/>
                </a:solidFill>
              </a:rPr>
              <a:t>Ф</a:t>
            </a:r>
            <a:r>
              <a:rPr lang="en-US" altLang="en-US" sz="2700" b="1">
                <a:solidFill>
                  <a:srgbClr val="FF0000"/>
                </a:solidFill>
              </a:rPr>
              <a:t>ункція — це іменований фрагмент коду, який містить набір інструкцій і виконує конкретне завдання, і який можна викликати з інших частин програми для повторного використання цього коду</a:t>
            </a:r>
            <a:r>
              <a:rPr lang="en-US" altLang="en-US" sz="2700"/>
              <a:t>. Функції дозволяють організувати код, робити його більш структурованим, модульним і легко підтримуваним. Ідентифікатори для функцій складаються майже за тими ж правилами,      що і для змінних / списків.</a:t>
            </a:r>
            <a:endParaRPr lang="en-US" altLang="en-US" sz="27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>
                <a:sym typeface="+mn-ea"/>
              </a:rPr>
              <a:t>С</a:t>
            </a:r>
            <a:r>
              <a:rPr lang="uk-UA" altLang="ru-RU" dirty="0">
                <a:sym typeface="+mn-ea"/>
              </a:rPr>
              <a:t>творення </a:t>
            </a:r>
            <a:r>
              <a:rPr lang="ru-RU" altLang="ru-RU" dirty="0">
                <a:sym typeface="+mn-ea"/>
              </a:rPr>
              <a:t>функц</a:t>
            </a:r>
            <a:r>
              <a:rPr lang="uk-UA" altLang="ru-RU" dirty="0">
                <a:sym typeface="+mn-ea"/>
              </a:rPr>
              <a:t>ій</a:t>
            </a:r>
            <a:endParaRPr lang="ru-RU" altLang="ru-RU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755" y="1581785"/>
            <a:ext cx="8938260" cy="43548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Обмін значень</a:t>
            </a:r>
            <a:endParaRPr lang="uk-UA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7615" y="1043940"/>
            <a:ext cx="6532245" cy="580961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Повернення значення</a:t>
            </a:r>
            <a:endParaRPr lang="uk-UA" altLang="ru-RU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3095" y="1089025"/>
            <a:ext cx="5128895" cy="619887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Передача </a:t>
            </a:r>
            <a:r>
              <a:rPr lang="uk-UA" altLang="ru-RU" dirty="0"/>
              <a:t>списку </a:t>
            </a:r>
            <a:r>
              <a:rPr lang="ru-RU" altLang="ru-RU" dirty="0"/>
              <a:t>в функц</a:t>
            </a:r>
            <a:r>
              <a:rPr lang="uk-UA" altLang="ru-RU" dirty="0"/>
              <a:t>і</a:t>
            </a:r>
            <a:r>
              <a:rPr lang="ru-RU" altLang="ru-RU" dirty="0"/>
              <a:t>ю</a:t>
            </a:r>
            <a:endParaRPr lang="ru-RU" altLang="ru-RU" dirty="0"/>
          </a:p>
        </p:txBody>
      </p:sp>
      <p:sp>
        <p:nvSpPr>
          <p:cNvPr id="37890" name="Объект 2"/>
          <p:cNvSpPr>
            <a:spLocks noGrp="1"/>
          </p:cNvSpPr>
          <p:nvPr>
            <p:ph idx="1"/>
          </p:nvPr>
        </p:nvSpPr>
        <p:spPr>
          <a:xfrm>
            <a:off x="611188" y="1412875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200"/>
              <a:t>Використання списків як аргументу має особливість — при передаванні списку в функцію відбувається передача його адреси в оперативній пам'яті (посилання на список). Таким чином, функція працює безпосередньо з оригіналом списку, а не з його копією. У Python не потрібно вказувати розмір </a:t>
            </a:r>
            <a:r>
              <a:rPr lang="ru-RU" altLang="en-US" sz="2200"/>
              <a:t>списку </a:t>
            </a:r>
            <a:r>
              <a:rPr lang="en-US" altLang="en-US" sz="2200"/>
              <a:t>або використовувати </a:t>
            </a:r>
            <a:r>
              <a:rPr lang="ru-RU" altLang="en-US" sz="2200"/>
              <a:t>особливий тип для параметра</a:t>
            </a:r>
            <a:r>
              <a:rPr lang="en-US" altLang="en-US" sz="2200"/>
              <a:t>.</a:t>
            </a:r>
            <a:endParaRPr lang="ru-RU" altLang="ru-RU" sz="2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195" y="3563620"/>
            <a:ext cx="4148455" cy="320167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Передача списку списк</a:t>
            </a:r>
            <a:r>
              <a:rPr lang="uk-UA" altLang="ru-RU" dirty="0"/>
              <a:t>ів</a:t>
            </a:r>
            <a:endParaRPr lang="uk-UA" altLang="ru-RU" dirty="0"/>
          </a:p>
        </p:txBody>
      </p:sp>
      <p:pic>
        <p:nvPicPr>
          <p:cNvPr id="2" name="Content Placeholder 1" descr="Снимок экрана 2024-12-17 1402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3555" y="1808480"/>
            <a:ext cx="5475605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Приклад на параметри ЗаЗам</a:t>
            </a:r>
            <a:endParaRPr lang="ru-RU" altLang="ru-RU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6055" y="1089025"/>
            <a:ext cx="6082030" cy="563943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Вбудовані та математичні ф-ції</a:t>
            </a:r>
            <a:endParaRPr lang="uk-UA" altLang="ru-RU" dirty="0"/>
          </a:p>
        </p:txBody>
      </p:sp>
      <p:sp>
        <p:nvSpPr>
          <p:cNvPr id="88066" name="Объект 2"/>
          <p:cNvSpPr>
            <a:spLocks noGrp="1"/>
          </p:cNvSpPr>
          <p:nvPr>
            <p:ph idx="1"/>
          </p:nvPr>
        </p:nvSpPr>
        <p:spPr>
          <a:xfrm>
            <a:off x="521970" y="1448435"/>
            <a:ext cx="7921625" cy="4416425"/>
          </a:xfrm>
        </p:spPr>
        <p:txBody>
          <a:bodyPr vert="horz" wrap="square" lIns="91440" tIns="45720" rIns="91440" bIns="45720" anchor="t" anchorCtr="0"/>
          <a:p>
            <a:pPr marL="0" indent="0" algn="ctr">
              <a:buFont typeface="Arial" panose="020B0604020202020204" pitchFamily="34" charset="0"/>
            </a:pPr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https://gist.github.com/sunmeat/8f56da7ad612fadaf9f79a2cb04bc71c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" y="2528570"/>
            <a:ext cx="8476615" cy="433006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Област</a:t>
            </a:r>
            <a:r>
              <a:rPr lang="uk-UA" altLang="ru-RU" dirty="0"/>
              <a:t>і</a:t>
            </a:r>
            <a:r>
              <a:rPr lang="ru-RU" altLang="ru-RU" dirty="0"/>
              <a:t> видимост</a:t>
            </a:r>
            <a:r>
              <a:rPr lang="uk-UA" altLang="ru-RU" dirty="0"/>
              <a:t>і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66420" y="1493203"/>
            <a:ext cx="8135938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700"/>
              <a:t>Кожна змінна в Python має свою </a:t>
            </a:r>
            <a:r>
              <a:rPr lang="en-US" altLang="en-US" sz="2700" b="1">
                <a:solidFill>
                  <a:srgbClr val="FF0000"/>
                </a:solidFill>
              </a:rPr>
              <a:t>область видимості — це зона, в межах якої можна використовувати змінну</a:t>
            </a:r>
            <a:r>
              <a:rPr lang="en-US" altLang="en-US" sz="2700"/>
              <a:t>. Поза цією зоною змінна недоступна, що запобігає випадковим помилкам або конфліктам. Змінна знаходиться</a:t>
            </a:r>
            <a:r>
              <a:rPr lang="uk-UA" altLang="en-US" sz="2700"/>
              <a:t>  </a:t>
            </a:r>
            <a:r>
              <a:rPr lang="en-US" altLang="en-US" sz="2700"/>
              <a:t> в області видимості, якщо до неї можна звернутися з поточного контексту. </a:t>
            </a:r>
            <a:r>
              <a:rPr lang="en-US" altLang="en-US" sz="2700">
                <a:solidFill>
                  <a:srgbClr val="0070C0"/>
                </a:solidFill>
              </a:rPr>
              <a:t>Усього існує </a:t>
            </a:r>
            <a:r>
              <a:rPr lang="uk-UA" altLang="en-US" sz="2700">
                <a:solidFill>
                  <a:srgbClr val="0070C0"/>
                </a:solidFill>
              </a:rPr>
              <a:t>   </a:t>
            </a:r>
            <a:r>
              <a:rPr lang="en-US" altLang="en-US" sz="2700">
                <a:solidFill>
                  <a:srgbClr val="0070C0"/>
                </a:solidFill>
              </a:rPr>
              <a:t>4 області видимості: вбудована, вкладена, глобальна та локальна</a:t>
            </a:r>
            <a:r>
              <a:rPr lang="en-US" altLang="en-US" sz="2700"/>
              <a:t>. На практиці найчастіше використовується </a:t>
            </a:r>
            <a:r>
              <a:rPr lang="en-US" altLang="en-US" sz="2700" b="1"/>
              <a:t>локальна </a:t>
            </a:r>
            <a:r>
              <a:rPr lang="en-US" altLang="en-US" sz="2700"/>
              <a:t>область видимості.</a:t>
            </a:r>
            <a:endParaRPr lang="en-US" altLang="en-US" sz="27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Локальна область та </a:t>
            </a:r>
            <a:r>
              <a:rPr lang="uk-UA" altLang="ru-RU" dirty="0"/>
              <a:t>її </a:t>
            </a:r>
            <a:r>
              <a:rPr lang="ru-RU" altLang="ru-RU" dirty="0"/>
              <a:t>зм</a:t>
            </a:r>
            <a:r>
              <a:rPr lang="uk-UA" altLang="ru-RU" dirty="0"/>
              <a:t>інні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386205"/>
            <a:ext cx="802703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400" b="1">
                <a:solidFill>
                  <a:srgbClr val="FF0000"/>
                </a:solidFill>
              </a:rPr>
              <a:t>Локальна змінна - це змінна, яка оголошена всередині </a:t>
            </a:r>
            <a:r>
              <a:rPr lang="uk-UA" altLang="en-US" sz="2400" b="1">
                <a:solidFill>
                  <a:srgbClr val="FF0000"/>
                </a:solidFill>
              </a:rPr>
              <a:t>тіла </a:t>
            </a:r>
            <a:r>
              <a:rPr lang="en-US" altLang="en-US" sz="2400" b="1">
                <a:solidFill>
                  <a:srgbClr val="FF0000"/>
                </a:solidFill>
              </a:rPr>
              <a:t>функції та використовується тільки </a:t>
            </a:r>
            <a:r>
              <a:rPr lang="uk-UA" altLang="en-US" sz="2400" b="1">
                <a:solidFill>
                  <a:srgbClr val="FF0000"/>
                </a:solidFill>
              </a:rPr>
              <a:t>       </a:t>
            </a:r>
            <a:r>
              <a:rPr lang="en-US" altLang="en-US" sz="2400" b="1">
                <a:solidFill>
                  <a:srgbClr val="FF0000"/>
                </a:solidFill>
              </a:rPr>
              <a:t>в цій функції.</a:t>
            </a:r>
            <a:r>
              <a:rPr lang="en-US" altLang="en-US" sz="2400"/>
              <a:t> При цьому вона не може бути доступна за межами тіла цієї функції, що запобігає конфліктам</a:t>
            </a:r>
            <a:r>
              <a:rPr lang="uk-UA" altLang="en-US" sz="2400"/>
              <a:t>   </a:t>
            </a:r>
            <a:r>
              <a:rPr lang="en-US" altLang="en-US" sz="2400"/>
              <a:t> і помилкам в інших частинах програми.</a:t>
            </a:r>
            <a:endParaRPr lang="en-US" altLang="en-US" sz="2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en-US" sz="2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400" b="1"/>
              <a:t>Локальна область видимості - це обмежена зона, </a:t>
            </a:r>
            <a:r>
              <a:rPr lang="uk-UA" altLang="en-US" sz="2400" b="1"/>
              <a:t>  </a:t>
            </a:r>
            <a:r>
              <a:rPr lang="en-US" altLang="en-US" sz="2400" b="1"/>
              <a:t>в якій доступна локальна змінна.</a:t>
            </a:r>
            <a:r>
              <a:rPr lang="en-US" altLang="en-US" sz="2400"/>
              <a:t> У Python локальною областю видимості є тіло функції, де було створено змінну. Така ізоляція дозволяє використовувати однакові імена змінних у різних функціях без взаємного впливу.</a:t>
            </a:r>
            <a:endParaRPr lang="en-US" altLang="en-US" sz="24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Приклад локальних змінних</a:t>
            </a:r>
            <a:endParaRPr lang="uk-UA" altLang="ru-RU" dirty="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4-12-18 1307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806575"/>
            <a:ext cx="8895080" cy="35953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Вкладена область </a:t>
            </a:r>
            <a:r>
              <a:rPr lang="uk-UA" altLang="ru-RU" dirty="0"/>
              <a:t>видимості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493520"/>
            <a:ext cx="802703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ru-RU" altLang="en-US" sz="2300" b="1"/>
              <a:t>В</a:t>
            </a:r>
            <a:r>
              <a:rPr lang="en-US" altLang="en-US" sz="2300" b="1"/>
              <a:t>кладена область видимості (або nested scope) —  це область видимості змінних, яка знаходиться всередині іншої області видимості. </a:t>
            </a:r>
            <a:r>
              <a:rPr lang="en-US" altLang="en-US" sz="2300"/>
              <a:t>Вона виникає, коли функція, що містить визначення змінних, визначен</a:t>
            </a:r>
            <a:r>
              <a:rPr lang="ru-RU" altLang="en-US" sz="2300"/>
              <a:t>а</a:t>
            </a:r>
            <a:r>
              <a:rPr lang="en-US" altLang="en-US" sz="2300"/>
              <a:t> всередині іншої функції.</a:t>
            </a:r>
            <a:endParaRPr lang="en-US" altLang="en-US" sz="23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en-US" sz="23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300"/>
              <a:t>В Python області видимості організовані за принципом ієрархії. Кожен блок коду, наприклад, всередині функції, методу, класу</a:t>
            </a:r>
            <a:r>
              <a:rPr lang="ru-RU" altLang="en-US" sz="2300"/>
              <a:t>, умови </a:t>
            </a:r>
            <a:r>
              <a:rPr lang="en-US" altLang="en-US" sz="2300"/>
              <a:t>або циклу, має свою область видимості, де доступні змінні. Якщо одна область видимості вкладена в іншу, </a:t>
            </a:r>
            <a:r>
              <a:rPr lang="ru-RU" altLang="en-US" sz="2300"/>
              <a:t>то</a:t>
            </a:r>
            <a:r>
              <a:rPr lang="en-US" altLang="en-US" sz="2300"/>
              <a:t> </a:t>
            </a:r>
            <a:r>
              <a:rPr lang="en-US" altLang="en-US" sz="2300" b="1"/>
              <a:t>внутрішня область може мати доступ до змінних зовнішньої області.</a:t>
            </a:r>
            <a:endParaRPr lang="en-US" altLang="en-US" sz="2300" b="1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Вкладена область </a:t>
            </a:r>
            <a:r>
              <a:rPr lang="uk-UA" altLang="ru-RU" dirty="0"/>
              <a:t>видимості</a:t>
            </a:r>
            <a:endParaRPr lang="uk-UA" altLang="ru-RU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8415" y="2033905"/>
            <a:ext cx="9217660" cy="3557905"/>
          </a:xfrm>
          <a:prstGeom prst="rect">
            <a:avLst/>
          </a:prstGeom>
        </p:spPr>
      </p:pic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/>
              <a:t>Вкладена зм</a:t>
            </a:r>
            <a:r>
              <a:rPr lang="uk-UA" dirty="0"/>
              <a:t>інна</a:t>
            </a:r>
            <a:endParaRPr lang="uk-UA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493520"/>
            <a:ext cx="802703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400" b="1"/>
              <a:t>Вкладена змінна — це змінна, яка створена </a:t>
            </a:r>
            <a:r>
              <a:rPr lang="uk-UA" altLang="en-US" sz="2400" b="1"/>
              <a:t>            </a:t>
            </a:r>
            <a:r>
              <a:rPr lang="en-US" altLang="en-US" sz="2400" b="1"/>
              <a:t>у зовнішній функції </a:t>
            </a:r>
            <a:r>
              <a:rPr lang="uk-UA" altLang="en-US" sz="2400" b="1"/>
              <a:t>та</a:t>
            </a:r>
            <a:r>
              <a:rPr lang="en-US" altLang="en-US" sz="2400" b="1"/>
              <a:t> доступна для використання у внутрішній функції</a:t>
            </a:r>
            <a:r>
              <a:rPr lang="en-US" altLang="en-US" sz="2400"/>
              <a:t>.</a:t>
            </a:r>
            <a:r>
              <a:rPr lang="uk-UA" altLang="en-US" sz="2400"/>
              <a:t> На читання доступна             без ключових слів, але щ</a:t>
            </a:r>
            <a:r>
              <a:rPr lang="en-US" altLang="en-US" sz="2400"/>
              <a:t>об змінювати її значення, потрібно використовувати </a:t>
            </a:r>
            <a:r>
              <a:rPr lang="en-US" altLang="en-US" sz="2400" b="1"/>
              <a:t>nonlocal</a:t>
            </a:r>
            <a:r>
              <a:rPr lang="uk-UA" altLang="en-US" sz="2400"/>
              <a:t>.</a:t>
            </a:r>
            <a:endParaRPr lang="uk-UA" altLang="en-US" sz="24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450" y="3468370"/>
            <a:ext cx="9271635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Глобальна видимість та змінні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386205"/>
            <a:ext cx="801179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500" b="1"/>
              <a:t>Глобальна змінна — це змінна, яка оголошується поза всіма функціями і доступна                        для використання в будь-якій частині програми. </a:t>
            </a:r>
            <a:endParaRPr lang="en-US" altLang="en-US" sz="25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en-US" sz="25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500" b="1"/>
              <a:t>Глобальна область видимості — це область програми, в якій доступні глобальні змінні.</a:t>
            </a:r>
            <a:r>
              <a:rPr lang="en-US" altLang="en-US" sz="2500"/>
              <a:t> Зазвичай вона охоплює весь код, за винятком локальних областей видимості, наприклад, всередині функцій. Тобто, глобальні змінні доступні в будь-якій функції, якщо їх не приховують локальні змінні з тим самим ім'ям.</a:t>
            </a:r>
            <a:endParaRPr lang="en-US" altLang="en-US" sz="25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Приклад глобальних змінних</a:t>
            </a:r>
            <a:endParaRPr lang="uk-UA" altLang="ru-RU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05410" y="1538605"/>
            <a:ext cx="9402445" cy="4350385"/>
          </a:xfrm>
          <a:prstGeom prst="rect">
            <a:avLst/>
          </a:prstGeom>
        </p:spPr>
      </p:pic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Глобальні змінні небажані!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393700" y="1386205"/>
            <a:ext cx="828611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/>
              <a:t>Глобальна змінна доступна для змін у будь-якому місці програми, що </a:t>
            </a:r>
            <a:r>
              <a:rPr lang="en-US" altLang="en-US" sz="1600" b="1"/>
              <a:t>ускладнює відстеження, де саме вона була змінена</a:t>
            </a:r>
            <a:r>
              <a:rPr lang="en-US" altLang="en-US" sz="1600"/>
              <a:t> і які наслідки це може викликати. Через це програма може стати важкою для підтримки та передбачуваності.</a:t>
            </a:r>
            <a:endParaRPr lang="en-US" altLang="en-US" sz="16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/>
              <a:t>Якщо функція використовує глобальні змінні, це може заплутати інших розробників (або навіть тебе в майбутньому), оскільки </a:t>
            </a:r>
            <a:r>
              <a:rPr lang="en-US" altLang="en-US" sz="1600" b="1"/>
              <a:t>незрозуміло, які саме дані впливають на її роботу</a:t>
            </a:r>
            <a:r>
              <a:rPr lang="en-US" altLang="en-US" sz="1600"/>
              <a:t>. Зазвичай легше зрозуміти функцію, яка отримує свої дані через параметри, а не з глобальної області видимості.</a:t>
            </a:r>
            <a:endParaRPr lang="en-US" altLang="en-US" sz="16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/>
              <a:t>Коли код залежить від глобальних змінних, </a:t>
            </a:r>
            <a:r>
              <a:rPr lang="en-US" altLang="en-US" sz="1600" b="1"/>
              <a:t>тестування окремих частин програми стає складнішим</a:t>
            </a:r>
            <a:r>
              <a:rPr lang="en-US" altLang="en-US" sz="1600"/>
              <a:t>. Наприклад, якщо глобальна змінна зміниться </a:t>
            </a:r>
            <a:r>
              <a:rPr lang="ru-RU" altLang="en-US" sz="1600"/>
              <a:t>        </a:t>
            </a:r>
            <a:r>
              <a:rPr lang="en-US" altLang="en-US" sz="1600"/>
              <a:t>в процесі тесту, це може вплинути на інші тести, спричиняючи небажані побічні ефекти та порушення ізоляції тестів.</a:t>
            </a:r>
            <a:endParaRPr lang="en-US" altLang="en-US" sz="16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/>
              <a:t>Код, що залежить від глобальних змінних, стає менш гнучким. Такий </a:t>
            </a:r>
            <a:r>
              <a:rPr lang="en-US" altLang="en-US" sz="1600" b="1"/>
              <a:t>код складніше адаптувати, оскільки неможливо пере</a:t>
            </a:r>
            <a:r>
              <a:rPr lang="ru-RU" altLang="en-US" sz="1600" b="1"/>
              <a:t>використ</a:t>
            </a:r>
            <a:r>
              <a:rPr lang="en-US" altLang="en-US" sz="1600" b="1"/>
              <a:t>ати функцію</a:t>
            </a:r>
            <a:r>
              <a:rPr lang="en-US" altLang="en-US" sz="1600"/>
              <a:t> </a:t>
            </a:r>
            <a:r>
              <a:rPr lang="ru-RU" altLang="en-US" sz="1600"/>
              <a:t>        </a:t>
            </a:r>
            <a:r>
              <a:rPr lang="en-US" altLang="en-US" sz="1600"/>
              <a:t>в іншому контексті, не побоюючись зустрітися з проблемами, пов'язаними</a:t>
            </a:r>
            <a:r>
              <a:rPr lang="ru-RU" altLang="en-US" sz="1600"/>
              <a:t>           </a:t>
            </a:r>
            <a:r>
              <a:rPr lang="en-US" altLang="en-US" sz="1600"/>
              <a:t> з глобальними змінними.</a:t>
            </a:r>
            <a:endParaRPr lang="en-US" altLang="en-US" sz="16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1600"/>
              <a:t>Коли код стає більшим і складнішим, </a:t>
            </a:r>
            <a:r>
              <a:rPr lang="en-US" altLang="en-US" sz="1600" b="1"/>
              <a:t>використання глобальних змінних збільшує зв'язність між різними частинами програми</a:t>
            </a:r>
            <a:r>
              <a:rPr lang="en-US" altLang="en-US" sz="1600"/>
              <a:t>. Це робить її менш модульною та більш уразливою до помилок при розширенні функціональності.</a:t>
            </a:r>
            <a:endParaRPr lang="en-US" altLang="en-US" sz="16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/>
              <a:t>Вбудована </a:t>
            </a:r>
            <a:r>
              <a:rPr lang="uk-UA" altLang="ru-RU" dirty="0"/>
              <a:t>видимість та змінні</a:t>
            </a:r>
            <a:endParaRPr lang="uk-UA" altLang="ru-RU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386205"/>
            <a:ext cx="801179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200" b="1"/>
              <a:t>Вбудована змінна — це змінна, яка оголошується </a:t>
            </a:r>
            <a:r>
              <a:rPr lang="ru-RU" altLang="en-US" sz="2200" b="1"/>
              <a:t>         </a:t>
            </a:r>
            <a:r>
              <a:rPr lang="en-US" altLang="en-US" sz="2200" b="1"/>
              <a:t>в стандартних бібліотеках мови програмування               та є доступною для використання без необхідності її попереднього оголошення або імпорту</a:t>
            </a:r>
            <a:r>
              <a:rPr lang="en-US" altLang="en-US" sz="2200"/>
              <a:t>. Такі змінні часто надають базову функціональність, необхідну для роботи</a:t>
            </a:r>
            <a:r>
              <a:rPr lang="ru-RU" altLang="en-US" sz="2200"/>
              <a:t>.</a:t>
            </a:r>
            <a:endParaRPr lang="en-US" altLang="en-US" sz="22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en-US" sz="22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200" b="1"/>
              <a:t>Вбудована область видимості — це область програми, де доступні вбудовані змінні та функції. </a:t>
            </a:r>
            <a:r>
              <a:rPr lang="en-US" altLang="en-US" sz="2200"/>
              <a:t>Вона охоплює всі частини коду, що працюють із стандартною бібліотекою Python. Змінні вбудованої області видимості доступні </a:t>
            </a:r>
            <a:r>
              <a:rPr lang="uk-UA" altLang="en-US" sz="2200"/>
              <a:t>      </a:t>
            </a:r>
            <a:r>
              <a:rPr lang="en-US" altLang="en-US" sz="2200"/>
              <a:t>для використання в будь-якому місці програми без явного імпорту або оголошення, </a:t>
            </a:r>
            <a:r>
              <a:rPr lang="uk-UA" altLang="en-US" sz="2200"/>
              <a:t>це </a:t>
            </a:r>
            <a:r>
              <a:rPr lang="en-US" altLang="en-US" sz="2200"/>
              <a:t>наприклад, функції типу print</a:t>
            </a:r>
            <a:r>
              <a:rPr lang="uk-UA" altLang="en-US" sz="2200"/>
              <a:t>.</a:t>
            </a:r>
            <a:endParaRPr lang="uk-UA" altLang="en-US" sz="22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/>
              <a:t>Вбудован</a:t>
            </a:r>
            <a:r>
              <a:rPr lang="uk-UA" altLang="uk-UA" dirty="0"/>
              <a:t>і сутності</a:t>
            </a:r>
            <a:endParaRPr lang="uk-UA" altLang="uk-UA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386205"/>
            <a:ext cx="801179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uk-UA" sz="2200" b="1"/>
              <a:t>константи</a:t>
            </a:r>
            <a:r>
              <a:rPr lang="uk-UA" altLang="en-US" sz="2200"/>
              <a:t>: </a:t>
            </a:r>
            <a:r>
              <a:rPr lang="en-US" altLang="en-US" sz="2200"/>
              <a:t>None, True, False, NotImplemented ... </a:t>
            </a:r>
            <a:r>
              <a:rPr lang="en-US" altLang="en-US" sz="2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https://docs.python.org/3/library/constants.html#built-in-consts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uk-UA" altLang="en-US" sz="2200" b="1"/>
              <a:t>виключення</a:t>
            </a:r>
            <a:r>
              <a:rPr lang="uk-UA" altLang="en-US" sz="2200"/>
              <a:t>: </a:t>
            </a:r>
            <a:r>
              <a:rPr lang="en-US" altLang="en-US" sz="2200"/>
              <a:t>Exception</a:t>
            </a:r>
            <a:r>
              <a:rPr lang="uk-UA" altLang="en-US" sz="2200"/>
              <a:t>, </a:t>
            </a:r>
            <a:r>
              <a:rPr lang="en-US" altLang="en-US" sz="2200"/>
              <a:t>TypeError</a:t>
            </a:r>
            <a:r>
              <a:rPr lang="uk-UA" altLang="en-US" sz="2200"/>
              <a:t>, </a:t>
            </a:r>
            <a:r>
              <a:rPr lang="en-US" altLang="en-US" sz="2200"/>
              <a:t>ValueError</a:t>
            </a:r>
            <a:r>
              <a:rPr lang="uk-UA" altLang="en-US" sz="2200"/>
              <a:t>, </a:t>
            </a:r>
            <a:r>
              <a:rPr lang="en-US" altLang="en-US" sz="2200"/>
              <a:t>IndexError</a:t>
            </a:r>
            <a:r>
              <a:rPr lang="uk-UA" altLang="en-US" sz="2200"/>
              <a:t>, </a:t>
            </a:r>
            <a:r>
              <a:rPr lang="en-US" altLang="en-US" sz="2200"/>
              <a:t>SyntaxError ... </a:t>
            </a:r>
            <a:r>
              <a:rPr lang="en-US" altLang="en-US" sz="2200" b="1">
                <a:solidFill>
                  <a:srgbClr val="0070C0"/>
                </a:solidFill>
                <a:hlinkClick r:id="rId2" action="ppaction://hlinkfile"/>
              </a:rPr>
              <a:t>https://docs.python.org/3/library/exceptions.html#bltin-exceptions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uk-UA" altLang="en-US" sz="2200" b="1"/>
              <a:t>функції</a:t>
            </a:r>
            <a:r>
              <a:rPr lang="uk-UA" altLang="en-US" sz="2200"/>
              <a:t>: </a:t>
            </a:r>
            <a:r>
              <a:rPr lang="en-US" altLang="en-US" sz="2200"/>
              <a:t>abs</a:t>
            </a:r>
            <a:r>
              <a:rPr lang="uk-UA" altLang="en-US" sz="2200"/>
              <a:t>, </a:t>
            </a:r>
            <a:r>
              <a:rPr lang="en-US" altLang="en-US" sz="2200"/>
              <a:t>len</a:t>
            </a:r>
            <a:r>
              <a:rPr lang="uk-UA" altLang="en-US" sz="2200"/>
              <a:t>, </a:t>
            </a:r>
            <a:r>
              <a:rPr lang="en-US" altLang="en-US" sz="2200"/>
              <a:t>min, max, print, input ... </a:t>
            </a:r>
            <a:r>
              <a:rPr lang="en-US" altLang="en-US" sz="2200" b="1">
                <a:solidFill>
                  <a:srgbClr val="0070C0"/>
                </a:solidFill>
                <a:hlinkClick r:id="rId3" action="ppaction://hlinkfile"/>
              </a:rPr>
              <a:t>https://docs.python.org/3/library/functions.html#built-in-funcs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uk-UA" altLang="en-US" sz="2200" b="1"/>
              <a:t>типи</a:t>
            </a:r>
            <a:r>
              <a:rPr lang="uk-UA" altLang="en-US" sz="2200"/>
              <a:t>: </a:t>
            </a:r>
            <a:r>
              <a:rPr lang="en-US" altLang="en-US" sz="2200"/>
              <a:t>int, float, str, list, set, dict ... </a:t>
            </a:r>
            <a:r>
              <a:rPr lang="en-US" altLang="en-US" sz="2200" b="1">
                <a:solidFill>
                  <a:srgbClr val="0070C0"/>
                </a:solidFill>
                <a:hlinkClick r:id="rId4" action="ppaction://hlinkfile"/>
              </a:rPr>
              <a:t>https://docs.python.org/3/library/stdtypes.html#bltin-types</a:t>
            </a:r>
            <a:endParaRPr lang="en-US" altLang="en-US" sz="2200" b="1">
              <a:solidFill>
                <a:srgbClr val="0070C0"/>
              </a:solidFill>
            </a:endParaRPr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/>
              <a:t>Правило </a:t>
            </a:r>
            <a:r>
              <a:rPr lang="en-US" dirty="0"/>
              <a:t>LEGB</a:t>
            </a:r>
            <a:endParaRPr lang="en-US" dirty="0"/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>
          <a:xfrm>
            <a:off x="539750" y="1386205"/>
            <a:ext cx="8011795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defRPr/>
            </a:pPr>
            <a:r>
              <a:rPr lang="en-US" altLang="en-US" sz="1500" b="1"/>
              <a:t>Правило LEGB — це порядок, в якому Python шукає ім’я</a:t>
            </a:r>
            <a:r>
              <a:rPr lang="en-US" altLang="en-US" sz="1500"/>
              <a:t> (змінну, функцію і тд) </a:t>
            </a:r>
            <a:r>
              <a:rPr lang="uk-UA" altLang="en-US" sz="1500"/>
              <a:t>      </a:t>
            </a:r>
            <a:r>
              <a:rPr lang="en-US" altLang="en-US" sz="1500"/>
              <a:t>під час його використання. Це абревіатура, яка позначає 4 області видимості, які Python перевіряє на наявність шуканого імені:</a:t>
            </a:r>
            <a:endParaRPr lang="en-US" altLang="en-US" sz="15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1500" b="1"/>
              <a:t>L — Local</a:t>
            </a:r>
            <a:r>
              <a:rPr lang="en-US" altLang="en-US" sz="1500"/>
              <a:t> (локальна область видимості) - область видимості всередині поточної функції. Коли Python шукає змінну, спочатку він перевіряє, чи є вона в локальному контексті функції, де викликається вираз чи інструкція</a:t>
            </a:r>
            <a:endParaRPr lang="en-US" altLang="en-US" sz="15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1500" b="1"/>
              <a:t>E — Enclosing</a:t>
            </a:r>
            <a:r>
              <a:rPr lang="en-US" altLang="en-US" sz="1500"/>
              <a:t> (вкладена область видимості) - </a:t>
            </a:r>
            <a:r>
              <a:rPr lang="uk-UA" altLang="en-US" sz="1500"/>
              <a:t>я</a:t>
            </a:r>
            <a:r>
              <a:rPr lang="en-US" altLang="en-US" sz="1500"/>
              <a:t>кщо ім’я не знайдено в локальній області видимості, Python перевіряє вкладені функції. Це області видимості            для функцій, які містять інші функції (вкладені функції). Наприклад, якщо всередині функції A визначена функція B, то Python шукатиме ім’я спочатку в функції B (локально), потім у функції A (вкладена область видимості)</a:t>
            </a:r>
            <a:endParaRPr lang="en-US" altLang="en-US" sz="15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1500" b="1"/>
              <a:t>G — Global</a:t>
            </a:r>
            <a:r>
              <a:rPr lang="en-US" altLang="en-US" sz="1500"/>
              <a:t> (глобальна область видимості)</a:t>
            </a:r>
            <a:r>
              <a:rPr lang="uk-UA" altLang="en-US" sz="1500"/>
              <a:t> - я</a:t>
            </a:r>
            <a:r>
              <a:rPr lang="en-US" altLang="en-US" sz="1500"/>
              <a:t>кщо ім’я не знайдено в локальній </a:t>
            </a:r>
            <a:r>
              <a:rPr lang="uk-UA" altLang="en-US" sz="1500"/>
              <a:t>     </a:t>
            </a:r>
            <a:r>
              <a:rPr lang="en-US" altLang="en-US" sz="1500"/>
              <a:t>та вкладеній областях видимості, Python перевіряє глобальну область видимості. Це область видимості, яка включає глобальні змінні, що були визначені поза всіма функціями, в основному тілі програми або модулях, імпортованих до програми</a:t>
            </a:r>
            <a:endParaRPr lang="en-US" altLang="en-US" sz="15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1500" b="1"/>
              <a:t>B — Built-in</a:t>
            </a:r>
            <a:r>
              <a:rPr lang="en-US" altLang="en-US" sz="1500"/>
              <a:t> (вбудована область видимості)</a:t>
            </a:r>
            <a:r>
              <a:rPr lang="uk-UA" altLang="en-US" sz="1500"/>
              <a:t> - я</a:t>
            </a:r>
            <a:r>
              <a:rPr lang="en-US" altLang="en-US" sz="1500"/>
              <a:t>кщо ім’я не знайдено в попередніх областях, Python звертається до вбудованої області видимості, яка містить </a:t>
            </a:r>
            <a:r>
              <a:rPr lang="uk-UA" altLang="en-US" sz="1500"/>
              <a:t>           </a:t>
            </a:r>
            <a:r>
              <a:rPr lang="en-US" altLang="en-US" sz="1500"/>
              <a:t>усі стандартні функції та змінні Python, такі як print(), abs(), None, True та інші</a:t>
            </a:r>
            <a:endParaRPr lang="en-US" altLang="en-US" sz="1500"/>
          </a:p>
        </p:txBody>
      </p:sp>
      <p:sp>
        <p:nvSpPr>
          <p:cNvPr id="27651" name="Прямоугольник 1"/>
          <p:cNvSpPr/>
          <p:nvPr/>
        </p:nvSpPr>
        <p:spPr>
          <a:xfrm>
            <a:off x="2940050" y="6383338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ru-RU" altLang="ru-RU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en-US" dirty="0"/>
              <a:t>Розширені прийоми</a:t>
            </a:r>
            <a:endParaRPr lang="uk-UA" altLang="en-US" dirty="0"/>
          </a:p>
        </p:txBody>
      </p:sp>
      <p:sp>
        <p:nvSpPr>
          <p:cNvPr id="52226" name="Объект 2"/>
          <p:cNvSpPr>
            <a:spLocks noGrp="1"/>
          </p:cNvSpPr>
          <p:nvPr>
            <p:ph idx="1"/>
          </p:nvPr>
        </p:nvSpPr>
        <p:spPr>
          <a:xfrm>
            <a:off x="521970" y="1448435"/>
            <a:ext cx="7966710" cy="450469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uk-UA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https://gist.github.com/sunmeat/0ef750573817e4d700e6abe53d00d46</a:t>
            </a:r>
            <a:endParaRPr lang="uk-UA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75" y="3608705"/>
            <a:ext cx="7658100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Розпаковка та упаковка</a:t>
            </a:r>
            <a:endParaRPr lang="uk-UA" dirty="0"/>
          </a:p>
        </p:txBody>
      </p:sp>
      <p:sp>
        <p:nvSpPr>
          <p:cNvPr id="52226" name="Объект 2"/>
          <p:cNvSpPr>
            <a:spLocks noGrp="1"/>
          </p:cNvSpPr>
          <p:nvPr>
            <p:ph idx="1"/>
          </p:nvPr>
        </p:nvSpPr>
        <p:spPr>
          <a:xfrm>
            <a:off x="521970" y="1448435"/>
            <a:ext cx="7966710" cy="450469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000" b="1"/>
              <a:t>Розпаковка та упаковка аргументів в Python — це методи передачі множинних значень в функцію або з функції </a:t>
            </a:r>
            <a:r>
              <a:rPr lang="uk-UA" altLang="en-US" sz="2000" b="1"/>
              <a:t>          </a:t>
            </a:r>
            <a:r>
              <a:rPr lang="en-US" altLang="en-US" sz="2000" b="1"/>
              <a:t>за допомогою *args та **kwargs</a:t>
            </a:r>
            <a:r>
              <a:rPr lang="uk-UA" altLang="en-US" sz="2000" b="1"/>
              <a:t> (</a:t>
            </a:r>
            <a:r>
              <a:rPr lang="en-US" altLang="uk-UA" sz="2000" b="1"/>
              <a:t>keyword arguments)</a:t>
            </a:r>
            <a:r>
              <a:rPr lang="en-US" altLang="en-US" sz="2000" b="1"/>
              <a:t>.</a:t>
            </a:r>
            <a:endParaRPr lang="en-US" altLang="en-US" sz="2000" b="1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/>
              <a:t>Упаковка аргументів означає передачу множинних значень у функцію</a:t>
            </a:r>
            <a:r>
              <a:rPr lang="en-US" altLang="en-US" sz="2000"/>
              <a:t> </a:t>
            </a:r>
            <a:r>
              <a:rPr lang="en-US" altLang="en-US" sz="2000" b="1"/>
              <a:t>за допомогою * або **</a:t>
            </a:r>
            <a:r>
              <a:rPr lang="en-US" altLang="en-US" sz="2000"/>
              <a:t>.</a:t>
            </a:r>
            <a:r>
              <a:rPr lang="uk-UA" altLang="en-US" sz="2000"/>
              <a:t> </a:t>
            </a:r>
            <a:r>
              <a:rPr lang="en-US" altLang="en-US" sz="2000"/>
              <a:t>*args використовується для пакування позиційних аргументів </a:t>
            </a:r>
            <a:r>
              <a:rPr lang="uk-UA" altLang="en-US" sz="2000"/>
              <a:t>           </a:t>
            </a:r>
            <a:r>
              <a:rPr lang="en-US" altLang="en-US" sz="2000"/>
              <a:t>у кортеж.</a:t>
            </a:r>
            <a:r>
              <a:rPr lang="uk-UA" altLang="en-US" sz="2000"/>
              <a:t> </a:t>
            </a:r>
            <a:r>
              <a:rPr lang="en-US" altLang="en-US" sz="2000"/>
              <a:t>**kwargs використовується для пакування іменованих аргументів у словник</a:t>
            </a:r>
            <a:endParaRPr lang="en-US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/>
              <a:t>Розпаковка аргументів відбувається, коли ми передаємо на місце зірочки (розпакування) множину значень — кортежі або словники, а Python самостійно розпаковує їх у відповідні параметри функції.</a:t>
            </a:r>
            <a:r>
              <a:rPr lang="uk-UA" altLang="en-US" sz="2000"/>
              <a:t> </a:t>
            </a:r>
            <a:r>
              <a:rPr lang="en-US" altLang="en-US" sz="2000"/>
              <a:t>* перед кортежем </a:t>
            </a:r>
            <a:r>
              <a:rPr lang="uk-UA" altLang="en-US" sz="2000"/>
              <a:t>            </a:t>
            </a:r>
            <a:r>
              <a:rPr lang="en-US" altLang="en-US" sz="2000"/>
              <a:t>або списком розпаковує його на окремі елементи.</a:t>
            </a:r>
            <a:r>
              <a:rPr lang="uk-UA" altLang="en-US" sz="2000"/>
              <a:t> </a:t>
            </a:r>
            <a:r>
              <a:rPr lang="en-US" altLang="en-US" sz="2000"/>
              <a:t>** перед словником розпаковує його на окремі пари "ключ-значення".</a:t>
            </a:r>
            <a:endParaRPr lang="en-US" altLang="en-US" sz="20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Упаковка та розпаковка</a:t>
            </a:r>
            <a:endParaRPr lang="uk-UA" altLang="uk-UA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7780" y="1448435"/>
            <a:ext cx="9191625" cy="529145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Аргументи-ключі</a:t>
            </a:r>
            <a:endParaRPr lang="uk-UA" altLang="uk-UA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9685" y="2124075"/>
            <a:ext cx="9180195" cy="344995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/>
              <a:t>Ієрархія типів винятків</a:t>
            </a:r>
            <a:endParaRPr lang="en-US" altLang="en-US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15875" y="2680335"/>
            <a:ext cx="9168765" cy="41656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90855" y="1448435"/>
            <a:ext cx="8085455" cy="2340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32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2" action="ppaction://hlinkfile"/>
              </a:rPr>
              <a:t>https://gist.github.com/sunmeat/b4d25eb4ecf1b1b4c7cae1c770937338</a:t>
            </a:r>
            <a:endParaRPr lang="en-US" altLang="en-US" sz="32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Д</a:t>
            </a:r>
            <a:r>
              <a:rPr lang="uk-UA" altLang="ru-RU" dirty="0"/>
              <a:t>ілення на нуль</a:t>
            </a:r>
            <a:endParaRPr lang="uk-UA" altLang="ru-RU" dirty="0"/>
          </a:p>
        </p:txBody>
      </p:sp>
      <p:pic>
        <p:nvPicPr>
          <p:cNvPr id="3" name="Content Placeholder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6470" y="1089025"/>
            <a:ext cx="703072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І</a:t>
            </a:r>
            <a:r>
              <a:rPr lang="ru-RU" altLang="ru-RU" dirty="0"/>
              <a:t>деальн</a:t>
            </a:r>
            <a:r>
              <a:rPr lang="uk-UA" altLang="ru-RU" dirty="0"/>
              <a:t>и</a:t>
            </a:r>
            <a:r>
              <a:rPr lang="ru-RU" altLang="ru-RU" dirty="0"/>
              <a:t>й </a:t>
            </a:r>
            <a:r>
              <a:rPr lang="en-US" altLang="ru-RU" dirty="0"/>
              <a:t>except </a:t>
            </a:r>
            <a:r>
              <a:rPr lang="uk-UA" altLang="en-US" dirty="0"/>
              <a:t>:)</a:t>
            </a:r>
            <a:endParaRPr lang="uk-UA" altLang="en-US" dirty="0"/>
          </a:p>
        </p:txBody>
      </p:sp>
      <p:sp>
        <p:nvSpPr>
          <p:cNvPr id="31746" name="Объект 2"/>
          <p:cNvSpPr>
            <a:spLocks noGrp="1"/>
          </p:cNvSpPr>
          <p:nvPr>
            <p:ph idx="1"/>
          </p:nvPr>
        </p:nvSpPr>
        <p:spPr>
          <a:xfrm>
            <a:off x="609600" y="6335713"/>
            <a:ext cx="7924800" cy="4419600"/>
          </a:xfrm>
        </p:spPr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en-US" altLang="en-US" sz="18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https://gist.github.com/sunmeat/ea264c06c1b3122e69f4732a6b53d12b</a:t>
            </a:r>
            <a:endParaRPr lang="en-US" altLang="en-US" sz="1800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" y="1493520"/>
            <a:ext cx="7541260" cy="481711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Декілька </a:t>
            </a:r>
            <a:r>
              <a:rPr lang="en-US" altLang="ru-RU" dirty="0"/>
              <a:t>except</a:t>
            </a:r>
            <a:endParaRPr lang="en-US" altLang="ru-RU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6840" y="1489075"/>
            <a:ext cx="8872855" cy="515874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Вкладеність </a:t>
            </a:r>
            <a:r>
              <a:rPr lang="en-US" altLang="uk-UA" dirty="0"/>
              <a:t>try...except</a:t>
            </a:r>
            <a:endParaRPr lang="en-US" altLang="uk-UA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4810" y="1177925"/>
            <a:ext cx="8271510" cy="560578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Трасування </a:t>
            </a:r>
            <a:r>
              <a:rPr lang="ru-RU" altLang="ru-RU" dirty="0"/>
              <a:t>стека</a:t>
            </a:r>
            <a:endParaRPr lang="ru-RU" altLang="ru-RU" dirty="0"/>
          </a:p>
        </p:txBody>
      </p:sp>
      <p:pic>
        <p:nvPicPr>
          <p:cNvPr id="2" name="Picture 1" descr="Снимок экрана 2024-12-19 1407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15870"/>
            <a:ext cx="9144000" cy="4149090"/>
          </a:xfrm>
          <a:prstGeom prst="rect">
            <a:avLst/>
          </a:prstGeom>
        </p:spPr>
      </p:pic>
      <p:pic>
        <p:nvPicPr>
          <p:cNvPr id="3" name="Content Placeholder 2" descr="Снимок экрана 2024-12-19 14073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410" y="1448435"/>
            <a:ext cx="5375910" cy="294005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Визначення файлу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8313" y="1457325"/>
            <a:ext cx="8135938" cy="441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2200" b="1">
                <a:solidFill>
                  <a:srgbClr val="FF0000"/>
                </a:solidFill>
              </a:rPr>
              <a:t>Файл - кінцева іменована множина байтів, зазвичай розміщена на деякому носії інформації (зокрема </a:t>
            </a:r>
            <a:r>
              <a:rPr lang="uk-UA" altLang="en-US" sz="2200" b="1">
                <a:solidFill>
                  <a:srgbClr val="FF0000"/>
                </a:solidFill>
              </a:rPr>
              <a:t>             </a:t>
            </a:r>
            <a:r>
              <a:rPr lang="en-US" altLang="en-US" sz="2200" b="1">
                <a:solidFill>
                  <a:srgbClr val="FF0000"/>
                </a:solidFill>
              </a:rPr>
              <a:t>в оперативній пам'яті). </a:t>
            </a:r>
            <a:r>
              <a:rPr lang="en-US" altLang="en-US" sz="2200"/>
              <a:t>Файл не може розташовуватися на </a:t>
            </a:r>
            <a:r>
              <a:rPr lang="uk-UA" altLang="en-US" sz="2200"/>
              <a:t>носієві </a:t>
            </a:r>
            <a:r>
              <a:rPr lang="en-US" altLang="en-US" sz="2200"/>
              <a:t>безперервно, проте користувачеві файл надається цілісним блоком послідовної байтової інформації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2200"/>
              <a:t>Назва файлу не може містити символи </a:t>
            </a:r>
            <a:r>
              <a:rPr lang="en-US" altLang="en-US" sz="2200" b="1"/>
              <a:t>&lt; &gt; : * ? </a:t>
            </a:r>
            <a:r>
              <a:rPr lang="en-US" altLang="en-US" sz="2200" b="1"/>
              <a:t>«</a:t>
            </a:r>
            <a:r>
              <a:rPr lang="en-US" altLang="en-US" sz="2200" b="1"/>
              <a:t> / \ \ |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2200"/>
              <a:t>Більшість файлів має розширення - поєднання символів, за допомогою яких операційна система визначає тип файлу</a:t>
            </a:r>
            <a:endParaRPr lang="en-US" altLang="en-US" sz="220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charset="0"/>
              <a:buChar char="§"/>
              <a:defRPr/>
            </a:pPr>
            <a:r>
              <a:rPr lang="en-US" altLang="en-US" sz="2200"/>
              <a:t>У кожного файлу є так звані атрибути (наприклад, </a:t>
            </a:r>
            <a:r>
              <a:rPr lang="uk-UA" altLang="en-US" sz="2200"/>
              <a:t>він може бути </a:t>
            </a:r>
            <a:r>
              <a:rPr lang="en-US" altLang="en-US" sz="2200"/>
              <a:t>прихований, системний, архівний, </a:t>
            </a:r>
            <a:r>
              <a:rPr lang="uk-UA" altLang="en-US" sz="2200"/>
              <a:t>бути</a:t>
            </a:r>
            <a:r>
              <a:rPr lang="en-US" altLang="en-US" sz="2200"/>
              <a:t> папкою, тільки для читання тощо)</a:t>
            </a:r>
            <a:endParaRPr lang="en-US" altLang="en-US" sz="22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Режими відкриття файлу</a:t>
            </a:r>
            <a:endParaRPr lang="uk-UA" altLang="ru-RU" dirty="0"/>
          </a:p>
        </p:txBody>
      </p:sp>
      <p:sp>
        <p:nvSpPr>
          <p:cNvPr id="12290" name="Объект 2"/>
          <p:cNvSpPr>
            <a:spLocks noGrp="1"/>
          </p:cNvSpPr>
          <p:nvPr>
            <p:ph idx="1"/>
          </p:nvPr>
        </p:nvSpPr>
        <p:spPr>
          <a:xfrm>
            <a:off x="532765" y="1466850"/>
            <a:ext cx="8128000" cy="443738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1600"/>
              <a:t>Для створення / відкриття файлу використовується функція </a:t>
            </a:r>
            <a:r>
              <a:rPr lang="en-US" altLang="en-US" sz="1600" b="1"/>
              <a:t>open</a:t>
            </a:r>
            <a:r>
              <a:rPr lang="en-US" altLang="en-US" sz="1600"/>
              <a:t>: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file = open("шлях до файлу", "режим відкриття")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/>
              <a:t>Шлях до файлу може бути відносним або абсолютним. Приклад абсолютного шляху — "C:\1\file.txt". Приклад відносного шляху — "file.txt", але при цьому </a:t>
            </a:r>
            <a:r>
              <a:rPr lang="uk-UA" altLang="en-US" sz="1600"/>
              <a:t>файл </a:t>
            </a:r>
            <a:r>
              <a:rPr lang="en-US" altLang="en-US" sz="1600"/>
              <a:t>повинен знаходитися безпосередньо поруч із py-файлом додатка.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Режими: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"r" </a:t>
            </a:r>
            <a:r>
              <a:rPr lang="en-US" altLang="en-US" sz="1600" b="1"/>
              <a:t>— тільки для читання. Якщо файлу немає, функція згенерує помилку, програма впаде одразу (</a:t>
            </a:r>
            <a:r>
              <a:rPr lang="uk-UA" altLang="en-US" sz="1600" b="1"/>
              <a:t>буде виліт)</a:t>
            </a:r>
            <a:r>
              <a:rPr lang="ru-RU" altLang="uk-UA" sz="1600" b="1"/>
              <a:t> - </a:t>
            </a:r>
            <a:r>
              <a:rPr lang="ru-RU" altLang="uk-UA" sz="1600" b="1">
                <a:solidFill>
                  <a:srgbClr val="0070C0"/>
                </a:solidFill>
              </a:rPr>
              <a:t>це режим за замовчуванням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"w"</a:t>
            </a:r>
            <a:r>
              <a:rPr lang="en-US" altLang="en-US" sz="1600" b="1"/>
              <a:t> — тільки для запису. Якщо файл відсутній, він створюється, якщо файл існує, його вміст буде видалений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"a"</a:t>
            </a:r>
            <a:r>
              <a:rPr lang="en-US" altLang="en-US" sz="1600" b="1"/>
              <a:t> — додавання в кінець файлу. Якщо файл відсутній, він створюється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"r+"</a:t>
            </a:r>
            <a:r>
              <a:rPr lang="en-US" altLang="en-US" sz="1600" b="1"/>
              <a:t> — читання та запис (файл повинен існувати!)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"w+"</a:t>
            </a:r>
            <a:r>
              <a:rPr lang="en-US" altLang="en-US" sz="1600" b="1"/>
              <a:t> — читання та запис (поведінка як у "w")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"a+"</a:t>
            </a:r>
            <a:r>
              <a:rPr lang="en-US" altLang="en-US" sz="1600" b="1"/>
              <a:t> — додавання та читання (поведінка як у "a")</a:t>
            </a:r>
            <a:r>
              <a:rPr lang="ru-RU" altLang="en-US" sz="1600" b="1"/>
              <a:t> - </a:t>
            </a:r>
            <a:r>
              <a:rPr lang="ru-RU" altLang="en-US" sz="1600" b="1">
                <a:solidFill>
                  <a:srgbClr val="0070C0"/>
                </a:solidFill>
              </a:rPr>
              <a:t>самий зручний</a:t>
            </a:r>
            <a:endParaRPr lang="ru-RU" altLang="en-US" sz="16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ru-RU" dirty="0"/>
              <a:t>Р</a:t>
            </a:r>
            <a:r>
              <a:rPr lang="uk-UA" altLang="ru-RU" dirty="0"/>
              <a:t>о</a:t>
            </a:r>
            <a:r>
              <a:rPr lang="ru-RU" altLang="ru-RU" dirty="0"/>
              <a:t>б</a:t>
            </a:r>
            <a:r>
              <a:rPr lang="uk-UA" altLang="ru-RU" dirty="0"/>
              <a:t>от</a:t>
            </a:r>
            <a:r>
              <a:rPr lang="ru-RU" altLang="ru-RU" dirty="0"/>
              <a:t>а </a:t>
            </a:r>
            <a:r>
              <a:rPr lang="uk-UA" altLang="ru-RU" dirty="0"/>
              <a:t>порядково</a:t>
            </a:r>
            <a:endParaRPr lang="uk-UA" altLang="ru-RU" dirty="0"/>
          </a:p>
        </p:txBody>
      </p:sp>
      <p:sp>
        <p:nvSpPr>
          <p:cNvPr id="17410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https://gist.github.com/sunmeat/faf03791fe6ed5ea636fe23ef8765f7a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105" y="2889885"/>
            <a:ext cx="9231630" cy="288988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Переміщення по файлу</a:t>
            </a:r>
            <a:endParaRPr lang="uk-UA" altLang="ru-RU" dirty="0"/>
          </a:p>
        </p:txBody>
      </p:sp>
      <p:sp>
        <p:nvSpPr>
          <p:cNvPr id="18434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https://gist.github.com/sunmeat/1a3482048fdb37b3215f9878944ea75d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Створення файлів</a:t>
            </a:r>
            <a:r>
              <a:rPr lang="ru-RU" altLang="uk-UA" dirty="0"/>
              <a:t>, папок</a:t>
            </a:r>
            <a:endParaRPr lang="ru-RU" altLang="uk-UA" dirty="0"/>
          </a:p>
        </p:txBody>
      </p:sp>
      <p:sp>
        <p:nvSpPr>
          <p:cNvPr id="19458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https://gist.github.com/sunmeat/0a665a334394edb6fe8c56d1f5382e1b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Зчитування усього файлу</a:t>
            </a:r>
            <a:endParaRPr lang="uk-UA" altLang="ru-RU" dirty="0"/>
          </a:p>
        </p:txBody>
      </p:sp>
      <p:sp>
        <p:nvSpPr>
          <p:cNvPr id="21506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https://gist.github.com/sunmeat/395997cc210f999f30d6ae769fa45cd3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dirty="0"/>
              <a:t>Збереження списку списків</a:t>
            </a:r>
            <a:endParaRPr lang="uk-UA" dirty="0"/>
          </a:p>
        </p:txBody>
      </p:sp>
      <p:sp>
        <p:nvSpPr>
          <p:cNvPr id="23554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https://gist.github.com/sunmeat/d8cbbc57ab4d2e221e1221bfc7ff9f63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/>
              <a:t>Текстовий аналіз файлу</a:t>
            </a:r>
            <a:endParaRPr lang="uk-UA" altLang="uk-UA" dirty="0"/>
          </a:p>
        </p:txBody>
      </p:sp>
      <p:sp>
        <p:nvSpPr>
          <p:cNvPr id="25602" name="Объект 2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https://gist.github.com/sunmeat/472c34c26a06a0316d3f3559ee0b28bc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40935" y="1470660"/>
            <a:ext cx="3206115" cy="454596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Пошук файлів у системі</a:t>
            </a:r>
            <a:endParaRPr lang="uk-UA" altLang="ru-RU" dirty="0"/>
          </a:p>
        </p:txBody>
      </p:sp>
      <p:sp>
        <p:nvSpPr>
          <p:cNvPr id="25602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hlinkClick r:id="rId1" action="ppaction://hlinkfile"/>
            </a:endParaRPr>
          </a:p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https://gist.github.com/sunmeat/0bbbfac121bfd0483d77600d1fb0c526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Заголовок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Продвинутий пошук файлів </a:t>
            </a:r>
            <a:endParaRPr lang="uk-UA" altLang="ru-RU" dirty="0"/>
          </a:p>
        </p:txBody>
      </p:sp>
      <p:sp>
        <p:nvSpPr>
          <p:cNvPr id="25602" name="Объект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algn="ctr">
              <a:buNone/>
            </a:pPr>
            <a:r>
              <a:rPr lang="en-US" altLang="en-US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hlinkClick r:id="rId1" action="ppaction://hlinkfile"/>
              </a:rPr>
              <a:t>https://gist.github.com/sunmeat/8474782caf92e9c2b6ef64002847b86c</a:t>
            </a:r>
            <a:endParaRPr lang="en-US" altLang="en-US" b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a:endParaRPr>
          </a:p>
        </p:txBody>
      </p:sp>
      <p:pic>
        <p:nvPicPr>
          <p:cNvPr id="2" name="Picture 1" descr="Снимок экрана 2024-12-20 161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774950"/>
            <a:ext cx="6878320" cy="411670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Кортежі (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tuple)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Кортеж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впорядкована, незмінна (immutable) послідовність об’єктів.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С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ам кортеж ніколи не змінюється після створення.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Але якщо всередині є mutable об’єкт (список, dict, set),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		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то цей об’єкт можна змінювати.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72970"/>
            <a:ext cx="9144000" cy="28670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кортежі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Список [list] — mutable за дизайном. Це зручно, але створює купу проблем у великих проєктах: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випадкові мутації (особливо при передачі в функції)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не можна використовувати як ключ у dict / елемент set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зайва пам’ять + повільніш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ітераці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ї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порушення принципу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data integrity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і thread-safety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Кортеж: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Гарантован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незмінн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ий, буде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менше багів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Hashable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можна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використати як ключ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 dict/set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Швидше + менше пам’яті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Чітка семантика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це фіксований запис/значення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а не стан</a:t>
            </a:r>
            <a:endParaRPr lang="uk-UA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 на кортежі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4751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4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https://gist.github.com/sunmeat/c7c354550542e8aa620db1909244ef5a</a:t>
            </a:r>
            <a:endParaRPr lang="en-US" altLang="en-US" sz="3400" b="1" dirty="0" err="1">
              <a:solidFill>
                <a:srgbClr val="000000"/>
              </a:solidFill>
              <a:latin typeface="Arial" panose="020B0604020202020204" pitchFamily="34" charset="0"/>
              <a:hlinkClick r:id="rId1" action="ppaction://hlinkfil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65" y="2799080"/>
            <a:ext cx="6322695" cy="39795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580" y="228600"/>
            <a:ext cx="858139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Питання на розуміння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кортежів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Чому кортежі швидші за списки?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Чи можна змінити t = (1, [2, 3])?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Щ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о буде, якщо 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зробити 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t[1].append(4)?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Як створити одноелементний кортеж? 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Чому без коми не вийде?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Навіщо використовувати tuple як ключ у dict, 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а не list?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Що насправді повертає return a, b, c?</a:t>
            </a:r>
            <a:endParaRPr lang="en-US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У як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их класичних 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патерн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ах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кортежі 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були б </a:t>
            </a:r>
            <a:r>
              <a:rPr lang="en-US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зручні</a:t>
            </a:r>
            <a:r>
              <a:rPr lang="uk-UA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для використання?</a:t>
            </a:r>
            <a:endParaRPr lang="uk-UA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 кортежі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Користувач вводить з клавіатури назву фрукта. Виведіть          на екран кількість фруктів, що містяться в кортежі як елемент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Напишіть функцію min_max, яка приймає список чисел                і повертає кортеж з двома значеннями: мінімальне                      та максимальне число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Маєте дві змінні: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a = "Київ"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b = "Одеса"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Обміняйте їх значеннями, використовуючи тільки одну операцію з кортежем (без тимчасової змінної)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Напишіть функцію stats, яка приймає довільну кількість чисел  як аргументи і повертає кортеж (сума, кількість, середнє)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Дано список кортежів: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students = [("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Василь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", 85), ("Марія", 92), ("Олег", 78), ("Софія", 95)]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Відсортуйте список за оцінкою (другий елемент кортежу) від більшого до меншого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(без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sorted)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Словники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{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“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di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”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:ct}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(dict) — це вбудована реалізація асоціативного масиву (dictionary / map / hash table).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Зберігає пари ключ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значення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Ключі унікальні та хешовані (str, int, float, tuple, frozenset, None, а також кастомні класи з __hash__ + __eq__)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Значення — будь-який об’єкт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Середній час доступу, вставки, видалення — O(1)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 Python 3.7 — зберігає порядок вставки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220" y="4373880"/>
            <a:ext cx="6082030" cy="25025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Роз’яснення термінів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(dict) — це вбудований </a:t>
            </a:r>
            <a:r>
              <a:rPr lang="en-US" altLang="en-US" sz="24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тип даних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у Python, який використовується для зберігання пар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ключ — значення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uk-UA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і називається просто dict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Асоціативний масив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— це абстрактний тип даних (концепція/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ідея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інтерфейс/</a:t>
            </a:r>
            <a:r>
              <a:rPr lang="uk-UA" altLang="en-US" sz="24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контракт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), що дозволяє звертатися до значення за допомогою довільного ключа, а не лише за числовим індексом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Хеш-таблиця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конкретний алгоритм (структура даних), який використовується для </a:t>
            </a:r>
            <a:r>
              <a:rPr lang="en-US" altLang="en-US" sz="24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реалізації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а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соціативного масиву з середньою швидкістю операцій O(1) завдяки хешуванню ключів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,         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це те, як саме dict влаштований всередині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словники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2543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B050"/>
                </a:solidFill>
                <a:sym typeface="+mn-ea"/>
              </a:rPr>
              <a:t># </a:t>
            </a:r>
            <a:r>
              <a:rPr lang="uk-UA" altLang="en-US" sz="2100" b="1" dirty="0" err="1">
                <a:solidFill>
                  <a:srgbClr val="00B050"/>
                </a:solidFill>
                <a:sym typeface="+mn-ea"/>
              </a:rPr>
              <a:t>б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іль 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№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1 — лінійний пошук</a:t>
            </a:r>
            <a:endParaRPr lang="en-US" altLang="en-US" sz="2100" b="1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for user in users: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if user.id == target_id: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# </a:t>
            </a:r>
            <a:r>
              <a:rPr lang="uk-UA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б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іль 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№</a:t>
            </a:r>
            <a:r>
              <a:rPr lang="en-US" altLang="en-US" sz="2100" b="1" dirty="0" err="1">
                <a:solidFill>
                  <a:srgbClr val="00B050"/>
                </a:solidFill>
                <a:latin typeface="Arial" panose="020B0604020202020204" pitchFamily="34" charset="0"/>
              </a:rPr>
              <a:t>2 — купа if-elif</a:t>
            </a:r>
            <a:endParaRPr lang="en-US" altLang="en-US" sz="2100" b="1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if action == "create": ...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elif action == "update": ...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 дає: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миттєвий доступ за будь-яким ключем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природний спосіб моделювати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сутність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дані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заміну if-elif на диспетчеризацію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кеш, мапінги, конфіги, JSON-подібні структури, інвентарі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</a:t>
            </a:r>
            <a:endParaRPr lang="en-US" altLang="uk-UA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Метафора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словника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Наприклад, треба написати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систему керування складом великого </a:t>
            </a: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онлайн-магазину.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Кожен товар має унікальний SKU (stock-keeping unit) — це ключ.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Дані товару (назва, ціна, кількість на складі, постачальник) — це значення.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Якщо тримати все у списку</a:t>
            </a: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, то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кожна перевірка наявності = O(n).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Якщо </a:t>
            </a: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зробити 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inventory: dict[SKU, Product]</a:t>
            </a: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, то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перевірка наявності = O(1).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Це те саме, що замість обходу всього складу шукати товар </a:t>
            </a:r>
            <a:r>
              <a:rPr lang="uk-UA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  </a:t>
            </a:r>
            <a:r>
              <a:rPr lang="en-US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по штрих-коду</a:t>
            </a:r>
            <a:r>
              <a:rPr lang="uk-UA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 базі</a:t>
            </a:r>
            <a:r>
              <a:rPr lang="uk-UA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даних</a:t>
            </a:r>
            <a:r>
              <a:rPr lang="en-US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7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Словник — це </a:t>
            </a:r>
            <a:r>
              <a:rPr lang="en-US" altLang="en-US" sz="17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динамічний об’єкт без класу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Можна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додавати/видаляти атрибути на льоту, точно як у JavaScript, </a:t>
            </a:r>
            <a:r>
              <a:rPr lang="uk-UA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але </a:t>
            </a:r>
            <a:r>
              <a:rPr lang="en-US" altLang="en-US" sz="17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з типобезпечними ключами та O(1) доступом</a:t>
            </a:r>
            <a:r>
              <a:rPr lang="en-US" altLang="en-US" sz="17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7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 на словники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4751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4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https://gist.github.com/sunmeat/8b2edd2bcbfaf0d586efd58a98dde8bc</a:t>
            </a:r>
            <a:endParaRPr lang="en-US" altLang="en-US" sz="34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10" y="2663825"/>
            <a:ext cx="6677660" cy="41465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Особливості словника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4175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Чим відрізняється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d[key]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від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d.get(key)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d[key] кидає KeyError, якщо ключа немає.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d.get(key) повертає None (або default)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Як швидко видалити елемент і отримати його значення одночасно?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uk-UA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value = d.pop(key, default)</a:t>
            </a:r>
            <a:endParaRPr lang="en-US" altLang="en-US" sz="20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Чи можна ітерувати словник напряму?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Так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, і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терується по ключах.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for k in d: </a:t>
            </a:r>
            <a:r>
              <a:rPr lang="uk-UA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===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for k in d.keys()</a:t>
            </a:r>
            <a:endParaRPr lang="en-US" altLang="en-US" sz="20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0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Як зробити поверхневу копію словника?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d.copy()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або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dict(d)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або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{**d}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на словники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Створіть словник homework_points, у якому ключами будуть назви курсів (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Python Web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ASP.NET Core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React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EF Core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тощо), а значеннями —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підсумкова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оцінка від 1 до 12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Заповніть словник даними за 4–5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предметів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і виведіть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весь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його вміст у форматі: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Python Web — 10 балів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Виведіть назву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предмета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за яким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отримано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найвищу оцінку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Виведіть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кількість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скільки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предметів здано на оцінку вище      6 балів</a:t>
            </a:r>
            <a:endParaRPr lang="uk-UA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Збільшіть оцінку за кожний курс на 1, але не більше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ніж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до 12. Виведіть оновлений словник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Видаліть всі елементи словника, де в назві предмета є англійська літера </a:t>
            </a:r>
            <a:r>
              <a:rPr lang="en-US" altLang="uk-UA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(як маленька, так і велика)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Множин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{set}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Множина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{set} — це неупорядкована колекція унікальних елементів.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Елементи мають бути hashable (immutable: int, str, tuple, frozenset).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Дублікати автоматично видаляються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, п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орядок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додавання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не гарантується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Реалізовано через hash-tabl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е, тому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швидкість in, add, remove — O(1) в середньому.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empty = set() </a:t>
            </a:r>
            <a:r>
              <a:rPr lang="en-US" altLang="en-US" sz="2000" b="1" dirty="0" err="1">
                <a:solidFill>
                  <a:srgbClr val="00B050"/>
                </a:solidFill>
                <a:latin typeface="Arial" panose="020B0604020202020204" pitchFamily="34" charset="0"/>
              </a:rPr>
              <a:t># порожня множина ({} — це dict!)</a:t>
            </a:r>
            <a:endParaRPr lang="en-US" altLang="en-US" sz="2000" b="1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fruits = {"apple", "banana", "cherry", "apple"}  </a:t>
            </a:r>
            <a:r>
              <a:rPr lang="en-US" altLang="en-US" sz="2000" b="1" dirty="0" err="1">
                <a:solidFill>
                  <a:srgbClr val="00B050"/>
                </a:solidFill>
                <a:latin typeface="Arial" panose="020B0604020202020204" pitchFamily="34" charset="0"/>
              </a:rPr>
              <a:t># дублікат зникне</a:t>
            </a:r>
            <a:endParaRPr lang="en-US" altLang="en-US" sz="2000" b="1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print(fruits)  </a:t>
            </a:r>
            <a:r>
              <a:rPr lang="en-US" altLang="en-US" sz="2000" b="1" dirty="0" err="1">
                <a:solidFill>
                  <a:srgbClr val="00B050"/>
                </a:solidFill>
                <a:latin typeface="Arial" panose="020B0604020202020204" pitchFamily="34" charset="0"/>
              </a:rPr>
              <a:t># {'cherry', 'banana', 'apple'}</a:t>
            </a:r>
            <a:endParaRPr lang="en-US" altLang="en-US" sz="2000" b="1" dirty="0" err="1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множини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Швидка перевірка наявності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— if user in active_users замість if user in list_of_100k (O(n) → O(1))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Автоматичне видалення дублікатів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list(dict.fromkeys(...))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Математика множин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(union, intersection тощо) — коли треба знайти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хто в обох командах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хто тільки в A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всі унікальні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Чистота коду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— замість циклів з if x not in result просто result = set_a &amp; set_b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множин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-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повільний код, або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треба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вати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dict як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милицю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унікальності.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580" y="228600"/>
            <a:ext cx="888682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Яку проблему вирішує множина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и </a:t>
            </a:r>
            <a:r>
              <a:rPr lang="en-US" altLang="en-US" sz="2100" dirty="0" err="1">
                <a:solidFill>
                  <a:srgbClr val="000000"/>
                </a:solidFill>
                <a:sym typeface="+mn-ea"/>
              </a:rPr>
              <a:t>—</a:t>
            </a:r>
            <a:r>
              <a:rPr lang="uk-UA" altLang="en-US" sz="2100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Tech Lead у стартапі. У вас є два спринти: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Sprint A — розробники, які працювали над мікросервісом платежів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Sprint B — розробники, які працювали над аутентифікацією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Вам треба за 2 секунди відповісти на питання: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Скільки людей працювало в обох спринтах? → intersection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Хто працював тільки над платежами? → difference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Хто працював лише над одним якимось проєктом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? → union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 коду на множини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5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https://gist.github.com/sunmeat/739770123c72781a9eb18fc9bb407cca</a:t>
            </a:r>
            <a:endParaRPr lang="en-US" altLang="en-US" sz="3500" b="1" dirty="0" err="1">
              <a:solidFill>
                <a:srgbClr val="000000"/>
              </a:solidFill>
              <a:latin typeface="Arial" panose="020B0604020202020204" pitchFamily="34" charset="0"/>
              <a:hlinkClick r:id="rId1" action="ppaction://hlinkfil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2574290"/>
            <a:ext cx="5324475" cy="42741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Питання на розуміння множин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Чому s = {} — це не порожня множина?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Що буде, якщо спробувати додати в множину список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[1, 2]?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Яка складність операції "x" in my_set порівняно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з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"x" in my_list при 1 млн елементів?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Що поверне set("hello")?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Як отримати елементи, які є в обох множинах,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але без використання &amp; (тільки методи)?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Чим frozenset відрізняється від set і коли його використовувати?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Як швидко перевірити, чи один список містить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всі елементи іншого списку (без циклів)?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на множини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76250" y="143065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Маємо множину з назвами країн.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Надайте користувачеві можливість: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додавати країни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видаляти країни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пошуку країн за введеними символами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перевіряти, чи міститься країна в множині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кожної операції зробити окрему функцію.</a:t>
            </a:r>
            <a:endParaRPr lang="uk-UA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Лямбда-функції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Лямбда-функція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— це анонімна (безіменна) функція,            яка складається з одного виразу.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Синтаксис: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70C0"/>
                </a:solidFill>
                <a:latin typeface="Arial" panose="020B0604020202020204" pitchFamily="34" charset="0"/>
              </a:rPr>
              <a:t>lambda 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аргументи: вираз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Може приймати будь-яку кількість аргументів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Може повертати </a:t>
            </a:r>
            <a:r>
              <a:rPr lang="en-US" altLang="en-US" sz="2100" u="sng" dirty="0" err="1">
                <a:solidFill>
                  <a:srgbClr val="FF0000"/>
                </a:solidFill>
                <a:latin typeface="Arial" panose="020B0604020202020204" pitchFamily="34" charset="0"/>
              </a:rPr>
              <a:t>тільки один вираз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 (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при чому 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не можна використовувати if, for, try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фігурн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 дуж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ки, 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блок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и в кілька рядків, 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return, break, continue, raise, присвоєння</a:t>
            </a:r>
            <a:r>
              <a:rPr lang="uk-UA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 тощо</a:t>
            </a:r>
            <a:r>
              <a:rPr lang="en-US" altLang="en-US" sz="2100" dirty="0" err="1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en-US" sz="2100" dirty="0" err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Повертає об’єкт-функцію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який можна відразу викликати   або передати кудись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5013325"/>
            <a:ext cx="8886825" cy="10096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Обмеження лямбд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Обмеження лямбд у Python (тільки один вираз, жодних statements, return, if-блоків, циклів тощо) пов’язані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 фундаментальною філософією мови: Python — це мова,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де 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statements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і 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expressions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чітко розділені, а код має бути максимально читабельним і простим для розуміння навіть через місяці. Гвідо ван Россум (і багато хто в спільноті) вважав, що повноцінні багатострокові анонімні функції заохочують писати складну логіку прямо всередині аргументів (наприклад, у map/filter/sorted), що робить код менш прозорим. Замість цього краще дати функції нормальне ім’я через def, щоб її можна було прочитати, протестувати, задокументувати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і перевикористати. Лямбда в Python задумана лише як легкий синтаксичний цукор для дуже простих одноразових виразів —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не більше.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П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ріоритет — читабельність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та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компактність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uk-UA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лямбди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def square(x): return x ** 2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list(map(square, numbers))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Навіщо створювати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повноцінну named-функцію тільки для того, щоб передати її один раз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як параметр?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Це зайвий код, зайве ім’я в namespace, зайвий рядок.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Лямбда вирішує —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напиши функцію прямо тут, де вона потрібна, і забудь про неї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Особливо корисно в: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map, filter, sorted(key=…), reduce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callbacks у Tkinter, pandas .apply(), sort() тощо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патернах Strategy / Command, коли стратегія — од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ин рядок</a:t>
            </a:r>
            <a:endParaRPr lang="uk-UA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Яку проблему вирішує лямбда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Скажімо, п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отрібно відсортувати список клієнтів за віком.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Замість того, щоб створювати окремий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файл, в ньому -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клас AgeComparator з методом compare() (класичний Strategy pattern),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можна </a:t>
            </a:r>
            <a:r>
              <a:rPr lang="uk-UA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все швиденько вирішити в один рядок: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Візьми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об’єкт, повер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ни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мені його поле age — і все,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гуляй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Лямбда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імені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коротка і проста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окремого файлу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бюрократії класу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з’яви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лася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, викона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ла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одну задачу, зник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ла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Лямбда — це сіль у страві. Трохи — і смак покращується. Забагато — і все зіпсовано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Приклад на лямбди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4751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400" b="1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https://gist.github.com/sunmeat/fdf3b86e5af866604e5987a1eae38fdf</a:t>
            </a:r>
            <a:endParaRPr lang="en-US" altLang="en-US" sz="34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" y="2663825"/>
            <a:ext cx="7581265" cy="40932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580" y="228600"/>
            <a:ext cx="858139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Питання на розуміння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лямбд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Чому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lambda x: x**2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і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def square(x): return x**2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— не завжди взаємозамінні?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Чи можна в лямбді написати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if ... else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?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Навед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іть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приклад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Що станеться, якщо спробувати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написати    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lambda x: for i in range(x): print(i)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Чому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PEP 8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не рекомендує писати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square = lambda x: x**2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Коли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обрати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лямбду, а коли — звичайну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def-функцію?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на лямбди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products = [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('Молоко',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8.5),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('Хліб', 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5.0),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('Сир',  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35.0),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('Яблука', 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5.0),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('М’ясо', 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210.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),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  ('Кава',  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5.0)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]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Треба написати</a:t>
            </a: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 код, який: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Відфільтрує тільки товари дорожчі за 50 грн (filter + lambda)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Відсортує весь список за ціною (від дешевих до дорогих, sorted + lambda)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Створить список назв товарів у верхньому регістрі (map + lambda)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Очікуваний результат: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Дорогі: [('Сир', 135.0), ('М’ясо', 210.0), ('Кава', 95.0)]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Відсортовані: [('Хліб', 15.0), ('Яблука', 45.0), ...]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Верхній регістр: ['МОЛОКО', 'ХЛІБ', 'СИР', ...]</a:t>
            </a:r>
            <a:endParaRPr lang="en-US" altLang="en-US" sz="15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Генератори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Генератор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спеціальний тип функцій, які дозволяють створювати ітератори "на льоту". Замість того, щоб повертати весь результат одразу (як звичайна функція з return), генератор використовує ключове слово yield, щоб повертати значення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по одному, зберігаючи стан виконання між викликами.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Це робить їх лінивими (lazy) — обчислення відбуваються тільки тоді, коли потрібне наступне значення.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Технічно, генератор — це об'єкт, який реалізує протокол ітератора (методи __iter__() і __next__()), але створюється простіше, ніж кастомний клас-ітератор. Коли викликаєт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ься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функці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-генератор, вона повертає об'єкт генератора,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який можна ітерувати за допомогою циклу for, функції next()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перетворювати в список за допомогою list().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генератори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Генератори вирішують проблему ефективного використання ресурсів, зокрема пам'яті та процесорного часу, коли в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ідбувається робота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 великими наборами даних або потоками інформації.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Наприклад, якщо створити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список з мільйонами елементів — звичайна функція завантажить усе в пам'ять одразу, що може призвести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до MemoryError або уповільнення програми.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Генератори дозволяють генерувати значення по мірі потреби (on-demand), без створення повного списку в пам'яті. Це ідеально для: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бробки великих файлів (наприклад, логів або датасетів) по частинах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творення нескінченних послідовностей (наприклад, стрім даних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у реальному часі)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нтеграції з патернами, як Observer або Pipeline, де дані передаються по ланцюжку без повного завантаження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Г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енератори — це вбудований спосіб реалізувати ітераційний патерн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(Iterator Pattern) без boilerplate-коду для класу.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Простий приклад генератора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9300"/>
            <a:ext cx="9144000" cy="3086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Ще приклад на генератор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ru-RU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88440"/>
            <a:ext cx="9144000" cy="2903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527550"/>
            <a:ext cx="4572000" cy="6515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Питання на розуміння 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Чим відрізняється yield від return у функції?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Чи можна використовувати генератори для створення нескінченних послідовностей? Наведіть приклад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Як генератори допомагають економити пам'ять порівняно зі списками?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Що відбувається, </a:t>
            </a:r>
            <a:r>
              <a:rPr lang="uk-UA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якщо викликати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 next() </a:t>
            </a:r>
            <a:r>
              <a:rPr lang="uk-UA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на генераторі після вичерпання значень?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Наведіть сценарій, де генератори кращі </a:t>
            </a:r>
            <a:r>
              <a:rPr lang="uk-UA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за звичайні функції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 на генератори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Напишіть генератор, який генерує послідовність простих чисел до заданої межі (наприклад, до 1000)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Генератор повинен yield-ити прості числа по одному. Потім, створіть функцію, яка використовує цей генератор для обчислення суми перших N простих чисел (N задається користувачем).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Створіть функцію, яка повертає всі числа Армстронга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в діапазоні. Функція приймає початок і кінець діапазону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як параметри. Використовуйте механізм генераторів усередині функції.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Числа Армстронга (або самозакохані числа) — це натуральні числа, які дорівнюють сумі своїх цифр, піднесених до степеня, що дорівнює кількості цифр числа. Наприклад, число 153 є числом Армстронга, тому що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1^3 + 5^3 + 3^3 = 153.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Замикання (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closure)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Замикання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функція, яка "пам'ятає" значення змінних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 оточуючого лексичного контексту, в якому вона була визначена, навіть після того, як цей контекст завершився.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амикання виникає, коли вкладена функція посилається на змінні з зовнішньої функції, і зовнішня функція повертає цю вкладену функцію як результат.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Технічно, замикання складається з: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Самої функції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Посилання на вільні змінні (free variables) з зовнішнього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контексту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, які зберігаються в спеціальному об'єкті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__closure__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Це дозволяє створювати функції, які мають "приватний" стан, подібно до об'єктів в ООП, але без необхідності створювати повноцінний клас.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замикання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Замикання вирішують проблему збереження стану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між викликами функції без використання глобальних змінних або повноцінних класів.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Іноді функції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потребують збереження даних: наприклад, коли потрібно створити callback-функцію з контекстом, або реалізувати лічильник/акуммулятор без класу.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Глобальні змінні роблять код менш модульним і схильним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до помилок (конфлікти імен, side-effects). Класи ж додають зайв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ий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boilerplate-код для простих випадків. Замикання дозволяють інкапсулювати стан всередині функції, роблячи код чистішим, більш функціональним і менш залежним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    	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від зовнішнього середовища.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Простий приклад замикання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ru-RU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5915"/>
            <a:ext cx="9144000" cy="42684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Ще приклад на замикання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ru-RU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34640"/>
            <a:ext cx="9144000" cy="30549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21335" y="1447800"/>
            <a:ext cx="8073390" cy="1137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3400" b="1" dirty="0" err="1">
                <a:solidFill>
                  <a:srgbClr val="000000"/>
                </a:solidFill>
                <a:sym typeface="+mn-ea"/>
                <a:hlinkClick r:id="rId2" action="ppaction://hlinkfile"/>
              </a:rPr>
              <a:t>https://gist.github.com/sunmeat/110c9a20c66f3cd0adcb8464c1426ffd</a:t>
            </a:r>
            <a:endParaRPr lang="en-US" altLang="en-US" sz="3400" b="1" dirty="0" err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Питання на розуміння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closures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вільні змінні (free variables) в контексті замикання, і як Python їх зберігає?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Чим замикання відрізняється від звичайної вкладеної функції?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Наведіть приклад, коли замикання краще використовувати замість класу в ООП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Що станеться, якщо не використовувати nonlocal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при модифікації зовнішньої змінної в замиканні?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Чи може замикання мати кілька вільних змінних? Наведіть приклад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Як перевірити, чи є функція замиканням (наприклад, через атрибути об'єкта функції)?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Декоратори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Декоратори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функції вищого порядку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приймають іншу функцію як аргумент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та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повертають функцію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як результат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, які дозволяють модифікувати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розширювати поведінку інших функцій або методів (або навіть класів) без зміни їхнього вихідного коду.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Вони є синтаксичним цукром для реалізації патерну "Декоратор" (Decorator Pattern), але в Python реалізовані через замикання (closures) та функції, що повертають функції.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Синтаксис: декоратор застосовується за допомогою символу @ перед функцією, яку потрібно "задекорувати". Під капотом це еквівалентно виклику функції-декоратора </a:t>
            </a:r>
            <a:r>
              <a:rPr lang="uk-UA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з оригінальною функцією як аргументом.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Як виглядає декоратор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48435"/>
            <a:ext cx="9169400" cy="54330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 чому магія декоратора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1054735"/>
            <a:ext cx="8855710" cy="58115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Навіщо потрібні декоратори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431800" y="1386205"/>
            <a:ext cx="81527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Декоратори вирішують проблему повторюваного коду та порушення принципу DRY (Don't Repeat Yourself), коли потрібно додавати спільну логіку (наприклад, логування, перевірку прав доступу, кешування чи вимірювання часу виконання)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до багатьох функцій без модифікації їхнього основного тіла.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декораторів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довелося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б дублювати код у кожній функції,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що призводить до помилок, ускладнює підтримку та порушує принцип відкритості/закритості (Open/Closed Principle) з SOLID.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екоратори — це спосіб реалізувати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hlinkClick r:id="rId1" action="ppaction://hlinkfile"/>
              </a:rPr>
              <a:t>аспект-орієнтоване програмування (AOP)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у Python без складних фреймворків. Вони дозволяють розділити основну логіку від "аспектів" (побічних ефектів), роблячи код модульним і тестувальним.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тя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AOP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Аспектно-орієнтоване програмування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(AOP, Aspect-Oriented Programming) - це парадигма програмування, яка дозволяє розділяти різні аспекти програми, такі як бізнес-логіка та допоміжні функціональності, наприклад, логування, транзакції, обробка помилок та безпека.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AOP допомагає уникнути дублювання коду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та покращити модульність системи.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Основна ідея AOP полягає в тому, що деякі частини функціональності (аспекти) стосуються кількох модулів програми, але не мають бути вбудовані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бізнес-логіку. Натомість аспекти відокремлюються від основної логіки і застосовуються там, де це необхідно.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Понят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тя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 AOP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 основі аспектно-орієнтованого програмування лежить поняття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crosscutting concerns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що означає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наскрізна функціональність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Під наскрізною функціональністю розуміється функціональність, реалізувати яку окремому компоненті мови програмування традиційними засобами процедурного чи об'єктно-орієнтованого програмування або дуже складно, або взагалі неможливо. З іншого боку,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ця функціональність не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стосується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безпосередньо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предметної області. Прикладом такої функціональності може бути протоколювання роботи системи (logging).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Понят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тя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 AOP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801116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Використання аспектно-орієнтованого програмування допомагає дотримуватися принципу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поділу відповідальності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(separation of concerns),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що позитивно позначається на багатьох характеристиках інформаційної системи, що розробляється.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3213100"/>
            <a:ext cx="5838825" cy="36861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терм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AOP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7995" y="1386205"/>
            <a:ext cx="807974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1. Точка з'єднання (joinpoint)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— точка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програмі, де є можливість виконати додатковий код засобами АОП.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Різні реалізації АОП мають різні можливі точки з'єднання, такими можуть бути момент виклику методів класу чи звернень до полів об'єкта.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2.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Пор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ада (advice)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 клас, що реалізує наскрізну функціональність. Існують різні типи порад: виконувані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до точки з'єднання, після або замість неї.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3. Зріз (pointcut)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точка з'єднання (joinpoint), яка обрана для виконання в ній наскрізної функціональності, визначен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ої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порадою (advice).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терм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AOP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4. Аспект (aspect)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 під аспектом розуміють комбінацію, що складається з зрізу (pointcut) і реалізує наскрізну функціональність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ради (advice). Аспект змінює поведінку решти коду, виконуючи пораду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точках з'єднання, визначених деяким зрізом. У Spring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для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цього використовується поняття advisor.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5. Впровадження або введення (introduction)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 цим терміном розуміють процес модифікації об'єкта шляхом додавання додаткових полів та/або методів. Використання також може бути використане для реалізації об'єктом інтерфейсу без явного вказівки цього у класі об'єкта.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Завдання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AOP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Логування (в консоль, файл або зовнішні сервіси)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Керування транзакціями (автоматичний rollback/commmit для методів)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Безпека (перевірка аутентифікації/авторизації перед викликом методів)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Кешування (кешування результатів методів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для оптимізації)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Моніторинг продуктивності (вимірювання часу виконання методів)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Обробка винятків (глобальна обробка помилок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з логуванням)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Валідація (автоматична перевірка вхідних даних)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терм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AOP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6. Зв'язування (weaving)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– зв'язування аспектів     з об'єктами д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ля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створення нових, 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розширених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об'єктів.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7. </a:t>
            </a:r>
            <a:r>
              <a:rPr lang="uk-UA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Ціль</a:t>
            </a:r>
            <a:r>
              <a:rPr lang="en-US" altLang="en-US" sz="2500" b="1" dirty="0" err="1">
                <a:solidFill>
                  <a:srgbClr val="000000"/>
                </a:solidFill>
                <a:ea typeface="Microsoft YaHei" panose="020B0503020204020204" charset="-122"/>
              </a:rPr>
              <a:t> / цільовий об'єкт (target)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– об'єкт, що є результатом зв'язування (weaving), тобто реалізує початкову бізнес-логіку плюс наскрізн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функціональність, виконан</a:t>
            </a: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 одним чи кількома аспектами.</a:t>
            </a:r>
            <a:endParaRPr lang="en-US" altLang="en-US" sz="25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uk-UA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П</a:t>
            </a:r>
            <a:r>
              <a:rPr lang="en-US" altLang="en-US" sz="2500" dirty="0" err="1">
                <a:solidFill>
                  <a:srgbClr val="000000"/>
                </a:solidFill>
                <a:ea typeface="Microsoft YaHei" panose="020B0503020204020204" charset="-122"/>
              </a:rPr>
              <a:t>риклад</a:t>
            </a:r>
            <a:r>
              <a:rPr lang="en-US" altLang="ru-RU" sz="2500" dirty="0" err="1">
                <a:solidFill>
                  <a:srgbClr val="000000"/>
                </a:solidFill>
                <a:ea typeface="Microsoft YaHei" panose="020B0503020204020204" charset="-122"/>
              </a:rPr>
              <a:t>: </a:t>
            </a: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https://gist.github.com/sunmeat/b9af78316c18b326f807cc603ac4ede5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Питання для самоперевірки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1351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Що саме відбувається в пам’яті, коли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пишеться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@decorator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над функцією?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(функція = decorator(функція))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Чому в декораторах майже завжди використовують *args, **kwargs?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(щоб декоратор міг працювати з функціями з будь-якою сигнатурою)</a:t>
            </a:r>
            <a:endParaRPr lang="en-US" altLang="en-US" sz="1800" dirty="0" err="1">
              <a:solidFill>
                <a:schemeClr val="bg1">
                  <a:lumMod val="95000"/>
                </a:schemeClr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Чим відрізняється @decorator від decorator(функція)?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(нічим, </a:t>
            </a:r>
            <a:r>
              <a:rPr lang="uk-UA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це синтаксичний цукор)</a:t>
            </a:r>
            <a:endParaRPr lang="en-US" altLang="en-US" sz="1800" dirty="0" err="1">
              <a:solidFill>
                <a:schemeClr val="bg1">
                  <a:lumMod val="95000"/>
                </a:schemeClr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Чому після декорування say_hello.__name__ повертає 'wrapper',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 не 'say_hello'?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(бо тепер змінна посилається на функцію wrapper)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 зберегти оригінальне ім’я функції, документацію та сигнатуру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без functools.wraps?</a:t>
            </a:r>
            <a:r>
              <a:rPr lang="uk-UA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(вручну: wrapper.__name__ = func.__name__, wrapper.__doc__ = func.__doc__)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якому порядку виконуються декоратори, якщо їх кілька?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800" dirty="0" err="1">
                <a:solidFill>
                  <a:schemeClr val="bg1">
                    <a:lumMod val="95000"/>
                  </a:schemeClr>
                </a:solidFill>
                <a:ea typeface="Microsoft YaHei" panose="020B0503020204020204" charset="-122"/>
              </a:rPr>
              <a:t>(знизу вгору — найближчий до функції викликається першим, зовнішній — останнім)</a:t>
            </a:r>
            <a:endParaRPr lang="en-US" altLang="en-US" sz="1800" dirty="0" err="1">
              <a:solidFill>
                <a:schemeClr val="bg1">
                  <a:lumMod val="95000"/>
                </a:schemeClr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 на декоратори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1351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Напишіть два декоратора і застосуйте їх до однієї функції: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</a:rPr>
              <a:t>@count_calls</a:t>
            </a:r>
            <a:r>
              <a:rPr lang="uk-UA" altLang="en-US" sz="2000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кожен раз, коли функцію викликають, збільшує лічильник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та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після виклику виводить у консоль: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Функція &lt;ім'я&gt; викликана вже &lt;число&gt; раз(и)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000" dirty="0" err="1">
                <a:solidFill>
                  <a:srgbClr val="0070C0"/>
                </a:solidFill>
                <a:ea typeface="Microsoft YaHei" panose="020B0503020204020204" charset="-122"/>
              </a:rPr>
              <a:t>@rate_limit(max_calls_per_minute)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приймає параметр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скільки разів за хвилину можна викликати функцію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якщо ліміт перевищено — виводить повідомлення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Занадто часто! Зачекайте...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 не виконує функцію (повертає None або кидає виняток 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Потім створіть функцію (наприклад say_hello(name)), яка просто друкує привітання, і застосуйте до неї обидва декоратори.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Створіть додаток із випікання піци.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Кожна піца містить різні компоненти. Використовуючи механізм декораторів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створіть різні піци: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Маргарита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Чотири сири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Капричоза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Гавайська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7372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Домашнє завдання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9507" name="Text Box 73729"/>
          <p:cNvSpPr txBox="1"/>
          <p:nvPr/>
        </p:nvSpPr>
        <p:spPr>
          <a:xfrm>
            <a:off x="395605" y="1386205"/>
            <a:ext cx="808863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39725" indent="-339725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Щороку ваша компанія надає різним державним організаціям фінансову звітність. Залежно від організації формати звітності різні. Використовуючи механізм декораторів, вирішіть питання звітності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організацій.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Має бути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базова функція, яка генерує звітність (повертає структуровані дані — наприклад, словник або об’єкт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 фінансовими показниками).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Різні організації вимагають різні формати виведення (текстовий файл, JSON, XML, CSV, специфічний шаблон для податкової тощо).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Створіть програму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Англо-французький словник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 Збережіть слово англійською та його переклад на французьку. Реалізуйте можливість додавати, видаляти, знахо­дити та змінювати дані.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39725" indent="-339725" defTabSz="457200">
              <a:spcBef>
                <a:spcPts val="450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Створіть програму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Книжкова колекція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яка зберігає інформацію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про книги: автор, назва книги, жанр, рік випуску, кількість сторінок, видавництво. Реалізуйте можливість додавати, видаляти, знаходити та змінювати дані. Використовуйте словник для збереження інформації.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DB2A318-2770-44C5-92B9-44B40C2BAE47}"/>
</file>

<file path=customXml/itemProps2.xml><?xml version="1.0" encoding="utf-8"?>
<ds:datastoreItem xmlns:ds="http://schemas.openxmlformats.org/officeDocument/2006/customXml" ds:itemID="{D7CA97BA-D0C7-4D4D-A065-AFD1E2F830F4}"/>
</file>

<file path=customXml/itemProps3.xml><?xml version="1.0" encoding="utf-8"?>
<ds:datastoreItem xmlns:ds="http://schemas.openxmlformats.org/officeDocument/2006/customXml" ds:itemID="{DBB37C45-BFDD-408B-8611-21F2C1C978F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42400</Words>
  <Application>WPS Presentation</Application>
  <PresentationFormat/>
  <Paragraphs>842</Paragraphs>
  <Slides>160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160</vt:i4>
      </vt:variant>
    </vt:vector>
  </HeadingPairs>
  <TitlesOfParts>
    <vt:vector size="175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>Verdana</vt:lpstr>
      <vt:lpstr>Georgia</vt:lpstr>
      <vt:lpstr>Wingdings</vt:lpstr>
      <vt:lpstr/>
      <vt:lpstr/>
      <vt:lpstr>1_</vt:lpstr>
      <vt:lpstr>2_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Перехоплення помилки</vt:lpstr>
      <vt:lpstr>Приклад звуж. перетворення</vt:lpstr>
      <vt:lpstr>Приклад розш. перетворення</vt:lpstr>
      <vt:lpstr>Приклад неявн. перетворення</vt:lpstr>
      <vt:lpstr>Приклад на NOT</vt:lpstr>
      <vt:lpstr>Приклад на AND</vt:lpstr>
      <vt:lpstr>Приклад на OR</vt:lpstr>
      <vt:lpstr>Приклад на if - elif - else</vt:lpstr>
      <vt:lpstr>Приклад на тернарний оператор</vt:lpstr>
      <vt:lpstr>Приклад match-case</vt:lpstr>
      <vt:lpstr>Приклад match-case</vt:lpstr>
      <vt:lpstr>Приклад match-case</vt:lpstr>
      <vt:lpstr>Як отримати ВЧ у Python</vt:lpstr>
      <vt:lpstr>Види циклів у Python</vt:lpstr>
      <vt:lpstr>Приклад циклу while</vt:lpstr>
      <vt:lpstr>Приклад циклу for</vt:lpstr>
      <vt:lpstr>Приклад циклу for 2</vt:lpstr>
      <vt:lpstr>Приклад циклу for 3</vt:lpstr>
      <vt:lpstr>Лiнiя з зiрочок **********</vt:lpstr>
      <vt:lpstr>Прямокутник iз зiрочок</vt:lpstr>
      <vt:lpstr>Псевдографiка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Список списків</vt:lpstr>
      <vt:lpstr>Приклади коду</vt:lpstr>
      <vt:lpstr>Створення ехе-файлу</vt:lpstr>
      <vt:lpstr>Процедурне програмування</vt:lpstr>
      <vt:lpstr>Який вигляд має ПП-програма </vt:lpstr>
      <vt:lpstr>Визначення функції</vt:lpstr>
      <vt:lpstr>Створення функцій</vt:lpstr>
      <vt:lpstr>Обмін значень</vt:lpstr>
      <vt:lpstr>Повернення значення</vt:lpstr>
      <vt:lpstr>Передача списку в функцію</vt:lpstr>
      <vt:lpstr>Передача списку списків</vt:lpstr>
      <vt:lpstr>Приклад на параметри ЗаЗам</vt:lpstr>
      <vt:lpstr>Вбудовані та математичні ф-ції</vt:lpstr>
      <vt:lpstr>Області видимості</vt:lpstr>
      <vt:lpstr>Локальна область та її змінні</vt:lpstr>
      <vt:lpstr>Приклад локальних змінних</vt:lpstr>
      <vt:lpstr>Вкладена область видимості</vt:lpstr>
      <vt:lpstr>Вкладена область видимості</vt:lpstr>
      <vt:lpstr>Вкладена змінна</vt:lpstr>
      <vt:lpstr>Глобальна видимість та змінні</vt:lpstr>
      <vt:lpstr>Приклад глобальних змінних</vt:lpstr>
      <vt:lpstr>Глобальні змінні небажані!</vt:lpstr>
      <vt:lpstr>Вбудована видимість та змінні</vt:lpstr>
      <vt:lpstr>Вбудовані сутності</vt:lpstr>
      <vt:lpstr>Правило LEGB</vt:lpstr>
      <vt:lpstr>Розширені прийоми</vt:lpstr>
      <vt:lpstr>Розпаковка та упаковка</vt:lpstr>
      <vt:lpstr>Упаковка та розпаковка</vt:lpstr>
      <vt:lpstr>Аргументи-ключі</vt:lpstr>
      <vt:lpstr>Ієрархія типів винятків</vt:lpstr>
      <vt:lpstr>Ділення на нуль</vt:lpstr>
      <vt:lpstr>Ідеальний except :)</vt:lpstr>
      <vt:lpstr>Декілька except</vt:lpstr>
      <vt:lpstr>Вкладеність try...except</vt:lpstr>
      <vt:lpstr>Трасування стека</vt:lpstr>
      <vt:lpstr>Визначення файлу</vt:lpstr>
      <vt:lpstr>Режими відкриття файлу</vt:lpstr>
      <vt:lpstr>Робота порядково</vt:lpstr>
      <vt:lpstr>Переміщення по файлу</vt:lpstr>
      <vt:lpstr>Створення файлів, папок</vt:lpstr>
      <vt:lpstr>Зчитування усього файлу</vt:lpstr>
      <vt:lpstr>Збереження списку списків</vt:lpstr>
      <vt:lpstr>Текстовий аналіз файлу</vt:lpstr>
      <vt:lpstr>Пошук файлів у системі</vt:lpstr>
      <vt:lpstr>Продвинутий пошук файлів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20</cp:revision>
  <dcterms:created xsi:type="dcterms:W3CDTF">2005-09-22T16:26:00Z</dcterms:created>
  <dcterms:modified xsi:type="dcterms:W3CDTF">2026-05-20T09:54:22Z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F22F1189AEEE438287263304A0CCCF2C_12</vt:lpwstr>
  </property>
  <property fmtid="{D5CDD505-2E9C-101B-9397-08002B2CF9AE}" pid="3" name="KSOProductBuildVer">
    <vt:lpwstr>1033-12.1.0.26372</vt:lpwstr>
  </property>
  <property fmtid="{D5CDD505-2E9C-101B-9397-08002B2CF9AE}" pid="4" name="ContentTypeId">
    <vt:lpwstr>0x010100CB973167729B9844A7328B341F515C98</vt:lpwstr>
  </property>
</Properties>
</file>