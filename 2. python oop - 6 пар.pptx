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2.xml" ContentType="application/vnd.openxmlformats-officedocument.presentationml.slideMaster+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Slides/notesSlide3.xml" ContentType="application/vnd.openxmlformats-officedocument.presentationml.notes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Slides/notesSlide4.xml" ContentType="application/vnd.openxmlformats-officedocument.presentationml.notesSlide+xml"/>
  <Override PartName="/ppt/slides/slide65.xml" ContentType="application/vnd.openxmlformats-officedocument.presentationml.slide+xml"/>
  <Override PartName="/ppt/notesSlides/notesSlide5.xml" ContentType="application/vnd.openxmlformats-officedocument.presentationml.notesSlide+xml"/>
  <Override PartName="/ppt/slides/slide66.xml" ContentType="application/vnd.openxmlformats-officedocument.presentationml.slide+xml"/>
  <Override PartName="/ppt/notesSlides/notesSlide6.xml" ContentType="application/vnd.openxmlformats-officedocument.presentationml.notesSlide+xml"/>
  <Override PartName="/ppt/slides/slide67.xml" ContentType="application/vnd.openxmlformats-officedocument.presentationml.slide+xml"/>
  <Override PartName="/ppt/notesSlides/notesSlide7.xml" ContentType="application/vnd.openxmlformats-officedocument.presentationml.notesSlide+xml"/>
  <Override PartName="/ppt/slides/slide68.xml" ContentType="application/vnd.openxmlformats-officedocument.presentationml.slide+xml"/>
  <Override PartName="/ppt/notesSlides/notesSlide8.xml" ContentType="application/vnd.openxmlformats-officedocument.presentationml.notesSlide+xml"/>
  <Override PartName="/ppt/slides/slide69.xml" ContentType="application/vnd.openxmlformats-officedocument.presentationml.slide+xml"/>
  <Override PartName="/ppt/notesSlides/notesSlide9.xml" ContentType="application/vnd.openxmlformats-officedocument.presentationml.notesSlide+xml"/>
  <Override PartName="/ppt/slides/slide70.xml" ContentType="application/vnd.openxmlformats-officedocument.presentationml.slide+xml"/>
  <Override PartName="/ppt/notesSlides/notesSlide10.xml" ContentType="application/vnd.openxmlformats-officedocument.presentationml.notesSlide+xml"/>
  <Override PartName="/ppt/slides/slide71.xml" ContentType="application/vnd.openxmlformats-officedocument.presentationml.slide+xml"/>
  <Override PartName="/ppt/slides/slide72.xml" ContentType="application/vnd.openxmlformats-officedocument.presentationml.slide+xml"/>
  <Override PartName="/ppt/notesSlides/notesSlide11.xml" ContentType="application/vnd.openxmlformats-officedocument.presentationml.notesSlide+xml"/>
  <Override PartName="/ppt/slides/slide73.xml" ContentType="application/vnd.openxmlformats-officedocument.presentationml.slide+xml"/>
  <Override PartName="/ppt/notesSlides/notesSlide12.xml" ContentType="application/vnd.openxmlformats-officedocument.presentationml.notesSlide+xml"/>
  <Override PartName="/ppt/slides/slide74.xml" ContentType="application/vnd.openxmlformats-officedocument.presentationml.slide+xml"/>
  <Override PartName="/ppt/notesSlides/notesSlide13.xml" ContentType="application/vnd.openxmlformats-officedocument.presentationml.notesSlide+xml"/>
  <Override PartName="/ppt/slides/slide75.xml" ContentType="application/vnd.openxmlformats-officedocument.presentationml.slide+xml"/>
  <Override PartName="/ppt/notesSlides/notesSlide14.xml" ContentType="application/vnd.openxmlformats-officedocument.presentationml.notesSlide+xml"/>
  <Override PartName="/ppt/slides/slide76.xml" ContentType="application/vnd.openxmlformats-officedocument.presentationml.slide+xml"/>
  <Override PartName="/ppt/slides/slide77.xml" ContentType="application/vnd.openxmlformats-officedocument.presentationml.slide+xml"/>
  <Override PartName="/ppt/notesSlides/notesSlide15.xml" ContentType="application/vnd.openxmlformats-officedocument.presentationml.notesSlide+xml"/>
  <Override PartName="/ppt/slides/slide78.xml" ContentType="application/vnd.openxmlformats-officedocument.presentationml.slide+xml"/>
  <Override PartName="/ppt/notesSlides/notesSlide16.xml" ContentType="application/vnd.openxmlformats-officedocument.presentationml.notesSlide+xml"/>
  <Override PartName="/ppt/slides/slide79.xml" ContentType="application/vnd.openxmlformats-officedocument.presentationml.slide+xml"/>
  <Override PartName="/ppt/notesSlides/notesSlide17.xml" ContentType="application/vnd.openxmlformats-officedocument.presentationml.notesSlide+xml"/>
  <Override PartName="/ppt/slides/slide80.xml" ContentType="application/vnd.openxmlformats-officedocument.presentationml.slide+xml"/>
  <Override PartName="/ppt/notesSlides/notesSlide18.xml" ContentType="application/vnd.openxmlformats-officedocument.presentationml.notesSlide+xml"/>
  <Override PartName="/ppt/slides/slide81.xml" ContentType="application/vnd.openxmlformats-officedocument.presentationml.slide+xml"/>
  <Override PartName="/ppt/slides/slide82.xml" ContentType="application/vnd.openxmlformats-officedocument.presentationml.slide+xml"/>
  <Override PartName="/ppt/notesSlides/notesSlide19.xml" ContentType="application/vnd.openxmlformats-officedocument.presentationml.notesSlide+xml"/>
  <Override PartName="/ppt/slides/slide83.xml" ContentType="application/vnd.openxmlformats-officedocument.presentationml.slide+xml"/>
  <Override PartName="/ppt/notesSlides/notesSlide20.xml" ContentType="application/vnd.openxmlformats-officedocument.presentationml.notesSlide+xml"/>
  <Override PartName="/ppt/slides/slide84.xml" ContentType="application/vnd.openxmlformats-officedocument.presentationml.slide+xml"/>
  <Override PartName="/ppt/slides/slide85.xml" ContentType="application/vnd.openxmlformats-officedocument.presentationml.slide+xml"/>
  <Override PartName="/ppt/notesSlides/notesSlide21.xml" ContentType="application/vnd.openxmlformats-officedocument.presentationml.notes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Slides/notesSlide22.xml" ContentType="application/vnd.openxmlformats-officedocument.presentationml.notes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Slides/notesSlide23.xml" ContentType="application/vnd.openxmlformats-officedocument.presentationml.notes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Slides/notesSlide24.xml" ContentType="application/vnd.openxmlformats-officedocument.presentationml.notesSlide+xml"/>
  <Override PartName="/ppt/slides/slide104.xml" ContentType="application/vnd.openxmlformats-officedocument.presentationml.slide+xml"/>
  <Override PartName="/ppt/notesSlides/notesSlide25.xml" ContentType="application/vnd.openxmlformats-officedocument.presentationml.notesSlide+xml"/>
  <Override PartName="/ppt/slides/slide105.xml" ContentType="application/vnd.openxmlformats-officedocument.presentationml.slide+xml"/>
  <Override PartName="/ppt/notesSlides/notesSlide26.xml" ContentType="application/vnd.openxmlformats-officedocument.presentationml.notesSlide+xml"/>
  <Override PartName="/ppt/slides/slide106.xml" ContentType="application/vnd.openxmlformats-officedocument.presentationml.slide+xml"/>
  <Override PartName="/ppt/notesSlides/notesSlide27.xml" ContentType="application/vnd.openxmlformats-officedocument.presentationml.notes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notesMasters/notesMaster1.xml" ContentType="application/vnd.openxmlformats-officedocument.presentationml.notesMaster+xml"/>
  <Override PartName="/ppt/theme/theme3.xml" ContentType="application/vnd.openxmlformats-officedocument.theme+xml"/>
  <Override PartName="/ppt/handoutMasters/handoutMaster1.xml" ContentType="application/vnd.openxmlformats-officedocument.presentationml.handoutMaster+xml"/>
  <Override PartName="/ppt/theme/theme4.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ommentAuthors.xml" ContentType="application/vnd.openxmlformats-officedocument.presentationml.commentAuthor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5"/>
  </p:notesMasterIdLst>
  <p:handoutMasterIdLst>
    <p:handoutMasterId r:id="rId129"/>
  </p:handoutMasterIdLst>
  <p:sldIdLst>
    <p:sldId id="256" r:id="rId4"/>
    <p:sldId id="259" r:id="rId6"/>
    <p:sldId id="774" r:id="rId7"/>
    <p:sldId id="777" r:id="rId8"/>
    <p:sldId id="778" r:id="rId9"/>
    <p:sldId id="779" r:id="rId10"/>
    <p:sldId id="780" r:id="rId11"/>
    <p:sldId id="781" r:id="rId12"/>
    <p:sldId id="782" r:id="rId13"/>
    <p:sldId id="783" r:id="rId14"/>
    <p:sldId id="784" r:id="rId15"/>
    <p:sldId id="785" r:id="rId16"/>
    <p:sldId id="786" r:id="rId17"/>
    <p:sldId id="787" r:id="rId18"/>
    <p:sldId id="788" r:id="rId19"/>
    <p:sldId id="789" r:id="rId20"/>
    <p:sldId id="790" r:id="rId21"/>
    <p:sldId id="791" r:id="rId22"/>
    <p:sldId id="792" r:id="rId23"/>
    <p:sldId id="793" r:id="rId24"/>
    <p:sldId id="794" r:id="rId25"/>
    <p:sldId id="795" r:id="rId26"/>
    <p:sldId id="1084" r:id="rId27"/>
    <p:sldId id="798" r:id="rId28"/>
    <p:sldId id="799" r:id="rId29"/>
    <p:sldId id="800" r:id="rId30"/>
    <p:sldId id="801" r:id="rId31"/>
    <p:sldId id="802" r:id="rId32"/>
    <p:sldId id="803" r:id="rId33"/>
    <p:sldId id="805" r:id="rId34"/>
    <p:sldId id="806" r:id="rId35"/>
    <p:sldId id="807" r:id="rId36"/>
    <p:sldId id="808" r:id="rId37"/>
    <p:sldId id="809" r:id="rId38"/>
    <p:sldId id="812" r:id="rId39"/>
    <p:sldId id="813" r:id="rId40"/>
    <p:sldId id="814" r:id="rId41"/>
    <p:sldId id="1073" r:id="rId42"/>
    <p:sldId id="815" r:id="rId43"/>
    <p:sldId id="816" r:id="rId44"/>
    <p:sldId id="1074" r:id="rId45"/>
    <p:sldId id="817" r:id="rId46"/>
    <p:sldId id="818" r:id="rId47"/>
    <p:sldId id="819" r:id="rId48"/>
    <p:sldId id="820" r:id="rId49"/>
    <p:sldId id="821" r:id="rId50"/>
    <p:sldId id="822" r:id="rId51"/>
    <p:sldId id="824" r:id="rId52"/>
    <p:sldId id="826" r:id="rId53"/>
    <p:sldId id="827" r:id="rId54"/>
    <p:sldId id="829" r:id="rId55"/>
    <p:sldId id="830" r:id="rId56"/>
    <p:sldId id="836" r:id="rId57"/>
    <p:sldId id="838" r:id="rId58"/>
    <p:sldId id="839" r:id="rId59"/>
    <p:sldId id="1078" r:id="rId60"/>
    <p:sldId id="841" r:id="rId61"/>
    <p:sldId id="846" r:id="rId62"/>
    <p:sldId id="847" r:id="rId63"/>
    <p:sldId id="853" r:id="rId64"/>
    <p:sldId id="854" r:id="rId65"/>
    <p:sldId id="1075" r:id="rId66"/>
    <p:sldId id="855" r:id="rId67"/>
    <p:sldId id="1085" r:id="rId68"/>
    <p:sldId id="858" r:id="rId69"/>
    <p:sldId id="859" r:id="rId70"/>
    <p:sldId id="860" r:id="rId71"/>
    <p:sldId id="861" r:id="rId72"/>
    <p:sldId id="862" r:id="rId73"/>
    <p:sldId id="863" r:id="rId74"/>
    <p:sldId id="864" r:id="rId75"/>
    <p:sldId id="865" r:id="rId76"/>
    <p:sldId id="866" r:id="rId77"/>
    <p:sldId id="867" r:id="rId78"/>
    <p:sldId id="868" r:id="rId79"/>
    <p:sldId id="870" r:id="rId80"/>
    <p:sldId id="871" r:id="rId81"/>
    <p:sldId id="872" r:id="rId82"/>
    <p:sldId id="873" r:id="rId83"/>
    <p:sldId id="874" r:id="rId84"/>
    <p:sldId id="875" r:id="rId85"/>
    <p:sldId id="876" r:id="rId86"/>
    <p:sldId id="877" r:id="rId87"/>
    <p:sldId id="878" r:id="rId88"/>
    <p:sldId id="884" r:id="rId89"/>
    <p:sldId id="885" r:id="rId90"/>
    <p:sldId id="886" r:id="rId91"/>
    <p:sldId id="887" r:id="rId92"/>
    <p:sldId id="893" r:id="rId93"/>
    <p:sldId id="1086" r:id="rId94"/>
    <p:sldId id="888" r:id="rId95"/>
    <p:sldId id="891" r:id="rId96"/>
    <p:sldId id="892" r:id="rId97"/>
    <p:sldId id="1087" r:id="rId98"/>
    <p:sldId id="904" r:id="rId99"/>
    <p:sldId id="1092" r:id="rId100"/>
    <p:sldId id="906" r:id="rId101"/>
    <p:sldId id="912" r:id="rId102"/>
    <p:sldId id="915" r:id="rId103"/>
    <p:sldId id="916" r:id="rId104"/>
    <p:sldId id="917" r:id="rId105"/>
    <p:sldId id="919" r:id="rId106"/>
    <p:sldId id="924" r:id="rId107"/>
    <p:sldId id="925" r:id="rId108"/>
    <p:sldId id="926" r:id="rId109"/>
    <p:sldId id="1076" r:id="rId110"/>
    <p:sldId id="1079" r:id="rId111"/>
    <p:sldId id="1088" r:id="rId112"/>
    <p:sldId id="1080" r:id="rId113"/>
    <p:sldId id="1089" r:id="rId114"/>
    <p:sldId id="1081" r:id="rId115"/>
    <p:sldId id="930" r:id="rId116"/>
    <p:sldId id="933" r:id="rId117"/>
    <p:sldId id="950" r:id="rId118"/>
    <p:sldId id="951" r:id="rId119"/>
    <p:sldId id="955" r:id="rId120"/>
    <p:sldId id="974" r:id="rId121"/>
    <p:sldId id="1077" r:id="rId122"/>
    <p:sldId id="1082" r:id="rId123"/>
    <p:sldId id="1039" r:id="rId124"/>
    <p:sldId id="1083" r:id="rId125"/>
    <p:sldId id="1044" r:id="rId126"/>
    <p:sldId id="1093" r:id="rId127"/>
    <p:sldId id="1091" r:id="rId128"/>
  </p:sldIdLst>
  <p:sldSz cx="9144000" cy="6858000" type="screen4x3"/>
  <p:notesSz cx="6858000" cy="9144000"/>
  <p:defaultTextStyle>
    <a:defPPr>
      <a:defRPr lang="en-GB"/>
    </a:defPPr>
    <a:lvl1pPr marL="0" lvl="0" indent="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b="0" i="0" u="none" kern="1200" baseline="0">
        <a:solidFill>
          <a:schemeClr val="bg1"/>
        </a:solidFill>
        <a:latin typeface="Arial" panose="020B0604020202020204" pitchFamily="34" charset="0"/>
        <a:ea typeface="Microsoft YaHei" panose="020B0503020204020204" charset="-122"/>
        <a:cs typeface="+mn-cs"/>
      </a:defRPr>
    </a:lvl1pPr>
    <a:lvl2pPr marL="742950" lvl="1" indent="-28575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7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x" initials="A"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85" d="100"/>
          <a:sy n="85" d="100"/>
        </p:scale>
        <p:origin x="-780" y="-84"/>
      </p:cViewPr>
      <p:guideLst>
        <p:guide orient="horz" pos="2160"/>
        <p:guide pos="2878"/>
      </p:guideLst>
    </p:cSldViewPr>
  </p:slideViewPr>
  <p:outlineViewPr>
    <p:cViewPr varScale="1">
      <p:scale>
        <a:sx n="170" d="200"/>
        <a:sy n="170" d="200"/>
      </p:scale>
      <p:origin x="-780" y="-84"/>
    </p:cViewPr>
  </p:outlineViewPr>
  <p:gridSpacing cx="45004" cy="45004"/>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84" Type="http://schemas.openxmlformats.org/officeDocument/2006/relationships/slide" Target="slides/slide80.xml"/><Relationship Id="rId63" Type="http://schemas.openxmlformats.org/officeDocument/2006/relationships/slide" Target="slides/slide59.xml"/><Relationship Id="rId42" Type="http://schemas.openxmlformats.org/officeDocument/2006/relationships/slide" Target="slides/slide38.xml"/><Relationship Id="rId21" Type="http://schemas.openxmlformats.org/officeDocument/2006/relationships/slide" Target="slides/slide17.xml"/><Relationship Id="rId16" Type="http://schemas.openxmlformats.org/officeDocument/2006/relationships/slide" Target="slides/slide12.xml"/><Relationship Id="rId107" Type="http://schemas.openxmlformats.org/officeDocument/2006/relationships/slide" Target="slides/slide103.xml"/><Relationship Id="rId79" Type="http://schemas.openxmlformats.org/officeDocument/2006/relationships/slide" Target="slides/slide75.xml"/><Relationship Id="rId74" Type="http://schemas.openxmlformats.org/officeDocument/2006/relationships/slide" Target="slides/slide70.xml"/><Relationship Id="rId58" Type="http://schemas.openxmlformats.org/officeDocument/2006/relationships/slide" Target="slides/slide54.xml"/><Relationship Id="rId53" Type="http://schemas.openxmlformats.org/officeDocument/2006/relationships/slide" Target="slides/slide49.xml"/><Relationship Id="rId37" Type="http://schemas.openxmlformats.org/officeDocument/2006/relationships/slide" Target="slides/slide33.xml"/><Relationship Id="rId32" Type="http://schemas.openxmlformats.org/officeDocument/2006/relationships/slide" Target="slides/slide28.xml"/><Relationship Id="rId128" Type="http://schemas.openxmlformats.org/officeDocument/2006/relationships/slide" Target="slides/slide124.xml"/><Relationship Id="rId123" Type="http://schemas.openxmlformats.org/officeDocument/2006/relationships/slide" Target="slides/slide119.xml"/><Relationship Id="rId11" Type="http://schemas.openxmlformats.org/officeDocument/2006/relationships/slide" Target="slides/slide7.xml"/><Relationship Id="rId102" Type="http://schemas.openxmlformats.org/officeDocument/2006/relationships/slide" Target="slides/slide98.xml"/><Relationship Id="rId95" Type="http://schemas.openxmlformats.org/officeDocument/2006/relationships/slide" Target="slides/slide91.xml"/><Relationship Id="rId90" Type="http://schemas.openxmlformats.org/officeDocument/2006/relationships/slide" Target="slides/slide86.xml"/><Relationship Id="rId5" Type="http://schemas.openxmlformats.org/officeDocument/2006/relationships/notesMaster" Target="notesMasters/notesMaster1.xml"/><Relationship Id="rId69" Type="http://schemas.openxmlformats.org/officeDocument/2006/relationships/slide" Target="slides/slide65.xml"/><Relationship Id="rId64" Type="http://schemas.openxmlformats.org/officeDocument/2006/relationships/slide" Target="slides/slide60.xml"/><Relationship Id="rId48" Type="http://schemas.openxmlformats.org/officeDocument/2006/relationships/slide" Target="slides/slide44.xml"/><Relationship Id="rId43" Type="http://schemas.openxmlformats.org/officeDocument/2006/relationships/slide" Target="slides/slide39.xml"/><Relationship Id="rId27" Type="http://schemas.openxmlformats.org/officeDocument/2006/relationships/slide" Target="slides/slide23.xml"/><Relationship Id="rId22" Type="http://schemas.openxmlformats.org/officeDocument/2006/relationships/slide" Target="slides/slide18.xml"/><Relationship Id="rId118" Type="http://schemas.openxmlformats.org/officeDocument/2006/relationships/slide" Target="slides/slide114.xml"/><Relationship Id="rId113" Type="http://schemas.openxmlformats.org/officeDocument/2006/relationships/slide" Target="slides/slide109.xml"/><Relationship Id="rId134" Type="http://schemas.openxmlformats.org/officeDocument/2006/relationships/customXml" Target="../customXml/item1.xml"/><Relationship Id="rId85" Type="http://schemas.openxmlformats.org/officeDocument/2006/relationships/slide" Target="slides/slide81.xml"/><Relationship Id="rId80" Type="http://schemas.openxmlformats.org/officeDocument/2006/relationships/slide" Target="slides/slide76.xml"/><Relationship Id="rId59" Type="http://schemas.openxmlformats.org/officeDocument/2006/relationships/slide" Target="slides/slide55.xml"/><Relationship Id="rId38" Type="http://schemas.openxmlformats.org/officeDocument/2006/relationships/slide" Target="slides/slide34.xml"/><Relationship Id="rId33" Type="http://schemas.openxmlformats.org/officeDocument/2006/relationships/slide" Target="slides/slide29.xml"/><Relationship Id="rId17" Type="http://schemas.openxmlformats.org/officeDocument/2006/relationships/slide" Target="slides/slide13.xml"/><Relationship Id="rId129" Type="http://schemas.openxmlformats.org/officeDocument/2006/relationships/handoutMaster" Target="handoutMasters/handoutMaster1.xml"/><Relationship Id="rId124" Type="http://schemas.openxmlformats.org/officeDocument/2006/relationships/slide" Target="slides/slide120.xml"/><Relationship Id="rId12" Type="http://schemas.openxmlformats.org/officeDocument/2006/relationships/slide" Target="slides/slide8.xml"/><Relationship Id="rId108" Type="http://schemas.openxmlformats.org/officeDocument/2006/relationships/slide" Target="slides/slide104.xml"/><Relationship Id="rId103" Type="http://schemas.openxmlformats.org/officeDocument/2006/relationships/slide" Target="slides/slide99.xml"/><Relationship Id="rId96" Type="http://schemas.openxmlformats.org/officeDocument/2006/relationships/slide" Target="slides/slide92.xml"/><Relationship Id="rId91" Type="http://schemas.openxmlformats.org/officeDocument/2006/relationships/slide" Target="slides/slide87.xml"/><Relationship Id="rId75" Type="http://schemas.openxmlformats.org/officeDocument/2006/relationships/slide" Target="slides/slide71.xml"/><Relationship Id="rId70" Type="http://schemas.openxmlformats.org/officeDocument/2006/relationships/slide" Target="slides/slide66.xml"/><Relationship Id="rId54" Type="http://schemas.openxmlformats.org/officeDocument/2006/relationships/slide" Target="slides/slide50.xml"/><Relationship Id="rId6" Type="http://schemas.openxmlformats.org/officeDocument/2006/relationships/slide" Target="slides/slide2.xml"/><Relationship Id="rId1" Type="http://schemas.openxmlformats.org/officeDocument/2006/relationships/slideMaster" Target="slideMasters/slideMaster1.xml"/><Relationship Id="rId49" Type="http://schemas.openxmlformats.org/officeDocument/2006/relationships/slide" Target="slides/slide45.xml"/><Relationship Id="rId28" Type="http://schemas.openxmlformats.org/officeDocument/2006/relationships/slide" Target="slides/slide24.xml"/><Relationship Id="rId23" Type="http://schemas.openxmlformats.org/officeDocument/2006/relationships/slide" Target="slides/slide19.xml"/><Relationship Id="rId119" Type="http://schemas.openxmlformats.org/officeDocument/2006/relationships/slide" Target="slides/slide115.xml"/><Relationship Id="rId114" Type="http://schemas.openxmlformats.org/officeDocument/2006/relationships/slide" Target="slides/slide110.xml"/><Relationship Id="rId86" Type="http://schemas.openxmlformats.org/officeDocument/2006/relationships/slide" Target="slides/slide82.xml"/><Relationship Id="rId81" Type="http://schemas.openxmlformats.org/officeDocument/2006/relationships/slide" Target="slides/slide77.xml"/><Relationship Id="rId65" Type="http://schemas.openxmlformats.org/officeDocument/2006/relationships/slide" Target="slides/slide61.xml"/><Relationship Id="rId60" Type="http://schemas.openxmlformats.org/officeDocument/2006/relationships/slide" Target="slides/slide56.xml"/><Relationship Id="rId44" Type="http://schemas.openxmlformats.org/officeDocument/2006/relationships/slide" Target="slides/slide40.xml"/><Relationship Id="rId130" Type="http://schemas.openxmlformats.org/officeDocument/2006/relationships/presProps" Target="presProps.xml"/><Relationship Id="rId135" Type="http://schemas.openxmlformats.org/officeDocument/2006/relationships/customXml" Target="../customXml/item2.xml"/><Relationship Id="rId39" Type="http://schemas.openxmlformats.org/officeDocument/2006/relationships/slide" Target="slides/slide35.xml"/><Relationship Id="rId18" Type="http://schemas.openxmlformats.org/officeDocument/2006/relationships/slide" Target="slides/slide14.xml"/><Relationship Id="rId13" Type="http://schemas.openxmlformats.org/officeDocument/2006/relationships/slide" Target="slides/slide9.xml"/><Relationship Id="rId109" Type="http://schemas.openxmlformats.org/officeDocument/2006/relationships/slide" Target="slides/slide105.xml"/><Relationship Id="rId97" Type="http://schemas.openxmlformats.org/officeDocument/2006/relationships/slide" Target="slides/slide93.xml"/><Relationship Id="rId76" Type="http://schemas.openxmlformats.org/officeDocument/2006/relationships/slide" Target="slides/slide72.xml"/><Relationship Id="rId55" Type="http://schemas.openxmlformats.org/officeDocument/2006/relationships/slide" Target="slides/slide51.xml"/><Relationship Id="rId50" Type="http://schemas.openxmlformats.org/officeDocument/2006/relationships/slide" Target="slides/slide46.xml"/><Relationship Id="rId34" Type="http://schemas.openxmlformats.org/officeDocument/2006/relationships/slide" Target="slides/slide30.xml"/><Relationship Id="rId125" Type="http://schemas.openxmlformats.org/officeDocument/2006/relationships/slide" Target="slides/slide121.xml"/><Relationship Id="rId120" Type="http://schemas.openxmlformats.org/officeDocument/2006/relationships/slide" Target="slides/slide116.xml"/><Relationship Id="rId104" Type="http://schemas.openxmlformats.org/officeDocument/2006/relationships/slide" Target="slides/slide100.xml"/><Relationship Id="rId92" Type="http://schemas.openxmlformats.org/officeDocument/2006/relationships/slide" Target="slides/slide88.xml"/><Relationship Id="rId71" Type="http://schemas.openxmlformats.org/officeDocument/2006/relationships/slide" Target="slides/slide67.xml"/><Relationship Id="rId7" Type="http://schemas.openxmlformats.org/officeDocument/2006/relationships/slide" Target="slides/slide3.xml"/><Relationship Id="rId29" Type="http://schemas.openxmlformats.org/officeDocument/2006/relationships/slide" Target="slides/slide25.xml"/><Relationship Id="rId2" Type="http://schemas.openxmlformats.org/officeDocument/2006/relationships/theme" Target="theme/theme1.xml"/><Relationship Id="rId87" Type="http://schemas.openxmlformats.org/officeDocument/2006/relationships/slide" Target="slides/slide83.xml"/><Relationship Id="rId66" Type="http://schemas.openxmlformats.org/officeDocument/2006/relationships/slide" Target="slides/slide62.xml"/><Relationship Id="rId45" Type="http://schemas.openxmlformats.org/officeDocument/2006/relationships/slide" Target="slides/slide41.xml"/><Relationship Id="rId40" Type="http://schemas.openxmlformats.org/officeDocument/2006/relationships/slide" Target="slides/slide36.xml"/><Relationship Id="rId24" Type="http://schemas.openxmlformats.org/officeDocument/2006/relationships/slide" Target="slides/slide20.xml"/><Relationship Id="rId131" Type="http://schemas.openxmlformats.org/officeDocument/2006/relationships/viewProps" Target="viewProps.xml"/><Relationship Id="rId115" Type="http://schemas.openxmlformats.org/officeDocument/2006/relationships/slide" Target="slides/slide111.xml"/><Relationship Id="rId110" Type="http://schemas.openxmlformats.org/officeDocument/2006/relationships/slide" Target="slides/slide106.xml"/><Relationship Id="rId136" Type="http://schemas.openxmlformats.org/officeDocument/2006/relationships/customXml" Target="../customXml/item3.xml"/><Relationship Id="rId82" Type="http://schemas.openxmlformats.org/officeDocument/2006/relationships/slide" Target="slides/slide78.xml"/><Relationship Id="rId61" Type="http://schemas.openxmlformats.org/officeDocument/2006/relationships/slide" Target="slides/slide57.xml"/><Relationship Id="rId19" Type="http://schemas.openxmlformats.org/officeDocument/2006/relationships/slide" Target="slides/slide15.xml"/><Relationship Id="rId77" Type="http://schemas.openxmlformats.org/officeDocument/2006/relationships/slide" Target="slides/slide73.xml"/><Relationship Id="rId56" Type="http://schemas.openxmlformats.org/officeDocument/2006/relationships/slide" Target="slides/slide52.xml"/><Relationship Id="rId35" Type="http://schemas.openxmlformats.org/officeDocument/2006/relationships/slide" Target="slides/slide31.xml"/><Relationship Id="rId30" Type="http://schemas.openxmlformats.org/officeDocument/2006/relationships/slide" Target="slides/slide26.xml"/><Relationship Id="rId14" Type="http://schemas.openxmlformats.org/officeDocument/2006/relationships/slide" Target="slides/slide10.xml"/><Relationship Id="rId126" Type="http://schemas.openxmlformats.org/officeDocument/2006/relationships/slide" Target="slides/slide122.xml"/><Relationship Id="rId105" Type="http://schemas.openxmlformats.org/officeDocument/2006/relationships/slide" Target="slides/slide101.xml"/><Relationship Id="rId100" Type="http://schemas.openxmlformats.org/officeDocument/2006/relationships/slide" Target="slides/slide96.xml"/><Relationship Id="rId98" Type="http://schemas.openxmlformats.org/officeDocument/2006/relationships/slide" Target="slides/slide94.xml"/><Relationship Id="rId93" Type="http://schemas.openxmlformats.org/officeDocument/2006/relationships/slide" Target="slides/slide89.xml"/><Relationship Id="rId8" Type="http://schemas.openxmlformats.org/officeDocument/2006/relationships/slide" Target="slides/slide4.xml"/><Relationship Id="rId72" Type="http://schemas.openxmlformats.org/officeDocument/2006/relationships/slide" Target="slides/slide68.xml"/><Relationship Id="rId51" Type="http://schemas.openxmlformats.org/officeDocument/2006/relationships/slide" Target="slides/slide47.xml"/><Relationship Id="rId121" Type="http://schemas.openxmlformats.org/officeDocument/2006/relationships/slide" Target="slides/slide117.xml"/><Relationship Id="rId3" Type="http://schemas.openxmlformats.org/officeDocument/2006/relationships/slideMaster" Target="slideMasters/slideMaster2.xml"/><Relationship Id="rId67" Type="http://schemas.openxmlformats.org/officeDocument/2006/relationships/slide" Target="slides/slide63.xml"/><Relationship Id="rId46" Type="http://schemas.openxmlformats.org/officeDocument/2006/relationships/slide" Target="slides/slide42.xml"/><Relationship Id="rId25" Type="http://schemas.openxmlformats.org/officeDocument/2006/relationships/slide" Target="slides/slide21.xml"/><Relationship Id="rId116" Type="http://schemas.openxmlformats.org/officeDocument/2006/relationships/slide" Target="slides/slide112.xml"/><Relationship Id="rId88" Type="http://schemas.openxmlformats.org/officeDocument/2006/relationships/slide" Target="slides/slide84.xml"/><Relationship Id="rId83" Type="http://schemas.openxmlformats.org/officeDocument/2006/relationships/slide" Target="slides/slide79.xml"/><Relationship Id="rId62" Type="http://schemas.openxmlformats.org/officeDocument/2006/relationships/slide" Target="slides/slide58.xml"/><Relationship Id="rId41" Type="http://schemas.openxmlformats.org/officeDocument/2006/relationships/slide" Target="slides/slide37.xml"/><Relationship Id="rId20" Type="http://schemas.openxmlformats.org/officeDocument/2006/relationships/slide" Target="slides/slide16.xml"/><Relationship Id="rId132" Type="http://schemas.openxmlformats.org/officeDocument/2006/relationships/tableStyles" Target="tableStyles.xml"/><Relationship Id="rId111" Type="http://schemas.openxmlformats.org/officeDocument/2006/relationships/slide" Target="slides/slide107.xml"/><Relationship Id="rId57" Type="http://schemas.openxmlformats.org/officeDocument/2006/relationships/slide" Target="slides/slide53.xml"/><Relationship Id="rId36" Type="http://schemas.openxmlformats.org/officeDocument/2006/relationships/slide" Target="slides/slide32.xml"/><Relationship Id="rId15" Type="http://schemas.openxmlformats.org/officeDocument/2006/relationships/slide" Target="slides/slide11.xml"/><Relationship Id="rId127" Type="http://schemas.openxmlformats.org/officeDocument/2006/relationships/slide" Target="slides/slide123.xml"/><Relationship Id="rId106" Type="http://schemas.openxmlformats.org/officeDocument/2006/relationships/slide" Target="slides/slide102.xml"/><Relationship Id="rId99" Type="http://schemas.openxmlformats.org/officeDocument/2006/relationships/slide" Target="slides/slide95.xml"/><Relationship Id="rId94" Type="http://schemas.openxmlformats.org/officeDocument/2006/relationships/slide" Target="slides/slide90.xml"/><Relationship Id="rId78" Type="http://schemas.openxmlformats.org/officeDocument/2006/relationships/slide" Target="slides/slide74.xml"/><Relationship Id="rId73" Type="http://schemas.openxmlformats.org/officeDocument/2006/relationships/slide" Target="slides/slide69.xml"/><Relationship Id="rId52" Type="http://schemas.openxmlformats.org/officeDocument/2006/relationships/slide" Target="slides/slide48.xml"/><Relationship Id="rId31" Type="http://schemas.openxmlformats.org/officeDocument/2006/relationships/slide" Target="slides/slide27.xml"/><Relationship Id="rId122" Type="http://schemas.openxmlformats.org/officeDocument/2006/relationships/slide" Target="slides/slide118.xml"/><Relationship Id="rId101" Type="http://schemas.openxmlformats.org/officeDocument/2006/relationships/slide" Target="slides/slide97.xml"/><Relationship Id="rId10" Type="http://schemas.openxmlformats.org/officeDocument/2006/relationships/slide" Target="slides/slide6.xml"/><Relationship Id="rId9" Type="http://schemas.openxmlformats.org/officeDocument/2006/relationships/slide" Target="slides/slide5.xml"/><Relationship Id="rId4" Type="http://schemas.openxmlformats.org/officeDocument/2006/relationships/slide" Target="slides/slide1.xml"/><Relationship Id="rId26" Type="http://schemas.openxmlformats.org/officeDocument/2006/relationships/slide" Target="slides/slide22.xml"/><Relationship Id="rId89" Type="http://schemas.openxmlformats.org/officeDocument/2006/relationships/slide" Target="slides/slide85.xml"/><Relationship Id="rId68" Type="http://schemas.openxmlformats.org/officeDocument/2006/relationships/slide" Target="slides/slide64.xml"/><Relationship Id="rId47" Type="http://schemas.openxmlformats.org/officeDocument/2006/relationships/slide" Target="slides/slide43.xml"/><Relationship Id="rId133" Type="http://schemas.openxmlformats.org/officeDocument/2006/relationships/commentAuthors" Target="commentAuthors.xml"/><Relationship Id="rId112" Type="http://schemas.openxmlformats.org/officeDocument/2006/relationships/slide" Target="slides/slide10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4" name="Rounded Rectangle 3072"/>
          <p:cNvSpPr/>
          <p:nvPr/>
        </p:nvSpPr>
        <p:spPr>
          <a:xfrm>
            <a:off x="0" y="0"/>
            <a:ext cx="6858000" cy="9144000"/>
          </a:xfrm>
          <a:prstGeom prst="roundRect">
            <a:avLst>
              <a:gd name="adj" fmla="val 23"/>
            </a:avLst>
          </a:prstGeom>
          <a:solidFill>
            <a:srgbClr val="FFFFFF"/>
          </a:solidFill>
          <a:ln w="9360">
            <a:noFill/>
          </a:ln>
        </p:spPr>
        <p:txBody>
          <a:bodyPr anchor="t" anchorCtr="0"/>
          <a:p>
            <a:pPr lvl="0"/>
            <a:endParaRPr lang="en-US" altLang="zh-CN"/>
          </a:p>
        </p:txBody>
      </p:sp>
      <p:sp>
        <p:nvSpPr>
          <p:cNvPr id="3075" name="Rounded Rectangle 3073"/>
          <p:cNvSpPr/>
          <p:nvPr/>
        </p:nvSpPr>
        <p:spPr>
          <a:xfrm>
            <a:off x="0" y="0"/>
            <a:ext cx="6858000" cy="9144000"/>
          </a:xfrm>
          <a:prstGeom prst="roundRect">
            <a:avLst>
              <a:gd name="adj" fmla="val 23"/>
            </a:avLst>
          </a:prstGeom>
          <a:solidFill>
            <a:srgbClr val="FFFFFF"/>
          </a:solidFill>
          <a:ln w="9525">
            <a:noFill/>
          </a:ln>
        </p:spPr>
        <p:txBody>
          <a:bodyPr anchor="t" anchorCtr="0"/>
          <a:p>
            <a:pPr lvl="0"/>
            <a:endParaRPr lang="en-US" altLang="zh-CN"/>
          </a:p>
        </p:txBody>
      </p:sp>
      <p:sp>
        <p:nvSpPr>
          <p:cNvPr id="3076" name="Text Box 3074"/>
          <p:cNvSpPr txBox="1"/>
          <p:nvPr/>
        </p:nvSpPr>
        <p:spPr>
          <a:xfrm>
            <a:off x="0" y="0"/>
            <a:ext cx="2971800" cy="457200"/>
          </a:xfrm>
          <a:prstGeom prst="rect">
            <a:avLst/>
          </a:prstGeom>
          <a:noFill/>
          <a:ln w="9525">
            <a:noFill/>
          </a:ln>
        </p:spPr>
        <p:txBody>
          <a:bodyPr anchor="t" anchorCtr="0"/>
          <a:p>
            <a:pPr lvl="0"/>
            <a:endParaRPr lang="en-US" altLang="zh-CN"/>
          </a:p>
        </p:txBody>
      </p:sp>
      <p:sp>
        <p:nvSpPr>
          <p:cNvPr id="3077" name="Text Box 3075"/>
          <p:cNvSpPr txBox="1"/>
          <p:nvPr/>
        </p:nvSpPr>
        <p:spPr>
          <a:xfrm>
            <a:off x="3884613" y="0"/>
            <a:ext cx="2971800" cy="457200"/>
          </a:xfrm>
          <a:prstGeom prst="rect">
            <a:avLst/>
          </a:prstGeom>
          <a:noFill/>
          <a:ln w="9525">
            <a:noFill/>
          </a:ln>
        </p:spPr>
        <p:txBody>
          <a:bodyPr anchor="t" anchorCtr="0"/>
          <a:p>
            <a:pPr lvl="0"/>
            <a:endParaRPr lang="en-US" altLang="zh-CN"/>
          </a:p>
        </p:txBody>
      </p:sp>
      <p:sp>
        <p:nvSpPr>
          <p:cNvPr id="3078" name="Slide Image Placeholder 3076"/>
          <p:cNvSpPr>
            <a:spLocks noGrp="1"/>
          </p:cNvSpPr>
          <p:nvPr>
            <p:ph type="sldImg"/>
          </p:nvPr>
        </p:nvSpPr>
        <p:spPr>
          <a:xfrm>
            <a:off x="1143000" y="685800"/>
            <a:ext cx="4568825" cy="3425825"/>
          </a:xfrm>
          <a:prstGeom prst="rect">
            <a:avLst/>
          </a:prstGeom>
          <a:noFill/>
          <a:ln w="9360" cap="sq" cmpd="sng">
            <a:solidFill>
              <a:srgbClr val="000000"/>
            </a:solidFill>
            <a:prstDash val="solid"/>
            <a:miter/>
            <a:headEnd type="none" w="med" len="med"/>
            <a:tailEnd type="none" w="med" len="med"/>
          </a:ln>
        </p:spPr>
      </p:sp>
      <p:sp>
        <p:nvSpPr>
          <p:cNvPr id="3079" name="Text Placeholder 3077"/>
          <p:cNvSpPr>
            <a:spLocks noGrp="1"/>
          </p:cNvSpPr>
          <p:nvPr>
            <p:ph type="body"/>
          </p:nvPr>
        </p:nvSpPr>
        <p:spPr>
          <a:xfrm>
            <a:off x="685800" y="4343400"/>
            <a:ext cx="5483225" cy="4111625"/>
          </a:xfrm>
          <a:prstGeom prst="rect">
            <a:avLst/>
          </a:prstGeom>
          <a:noFill/>
          <a:ln w="9525">
            <a:noFill/>
          </a:ln>
        </p:spPr>
        <p:txBody>
          <a:bodyPr wrap="square" lIns="90000" tIns="46800" rIns="90000" bIns="46800" anchor="t" anchorCtr="0"/>
          <a:p>
            <a:pPr lvl="0"/>
            <a:endParaRPr lang="en-GB" altLang="en-US"/>
          </a:p>
        </p:txBody>
      </p:sp>
      <p:sp>
        <p:nvSpPr>
          <p:cNvPr id="3080" name="Text Box 3078"/>
          <p:cNvSpPr txBox="1"/>
          <p:nvPr/>
        </p:nvSpPr>
        <p:spPr>
          <a:xfrm>
            <a:off x="0" y="8685213"/>
            <a:ext cx="2971800" cy="457200"/>
          </a:xfrm>
          <a:prstGeom prst="rect">
            <a:avLst/>
          </a:prstGeom>
          <a:noFill/>
          <a:ln w="9525">
            <a:noFill/>
          </a:ln>
        </p:spPr>
        <p:txBody>
          <a:bodyPr anchor="t" anchorCtr="0"/>
          <a:p>
            <a:pPr lvl="0"/>
            <a:endParaRPr lang="en-US" altLang="zh-CN"/>
          </a:p>
        </p:txBody>
      </p:sp>
      <p:sp>
        <p:nvSpPr>
          <p:cNvPr id="2" name="Slide Number Placeholder 3079"/>
          <p:cNvSpPr>
            <a:spLocks noGrp="1"/>
          </p:cNvSpPr>
          <p:nvPr>
            <p:ph type="sldNum"/>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eaLnBrk="1" fontAlgn="base" hangingPunct="1">
              <a:lnSpc>
                <a:spcPct val="100000"/>
              </a:lnSpc>
              <a:buClrTx/>
              <a:buSzPct val="45000"/>
              <a:buFontTx/>
              <a:buNone/>
              <a:tabLst>
                <a:tab pos="723900" algn="l"/>
                <a:tab pos="1447800" algn="l"/>
                <a:tab pos="2171700" algn="l"/>
                <a:tab pos="2895600" algn="l"/>
              </a:tabLst>
            </a:pPr>
            <a:fld id="{9A0DB2DC-4C9A-4742-B13C-FB6460FD3503}" type="slidenum">
              <a:rPr lang="ru-RU" altLang="x-none" sz="1200" strike="noStrike" noProof="1" dirty="0" err="1">
                <a:latin typeface="Times New Roman" panose="02020603050405020304" pitchFamily="16" charset="0"/>
                <a:ea typeface="Arial Unicode MS" charset="-122"/>
                <a:cs typeface="+mn-cs"/>
              </a:rPr>
            </a:fld>
            <a:endParaRPr lang="ru-RU" altLang="x-none" sz="1200" strike="noStrike" noProof="1" dirty="0" err="1">
              <a:latin typeface="Times New Roman" panose="02020603050405020304" pitchFamily="16" charset="0"/>
              <a:ea typeface="Arial Unicode MS" charset="-122"/>
            </a:endParaRPr>
          </a:p>
        </p:txBody>
      </p:sp>
    </p:spTree>
  </p:cSld>
  <p:clrMap bg1="lt1" tx1="dk1" bg2="lt2" tx2="dk2" accent1="accent1" accent2="accent2" accent3="accent3" accent4="accent4" accent5="accent5" accent6="accent6" hlink="hlink" folHlink="folHlink"/>
  <p:hf sldNum="0" hdr="0" ftr="0" dt="0"/>
  <p:notesStyle>
    <a:lvl1pPr marL="0" lvl="0" indent="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1pPr>
    <a:lvl2pPr marL="742950" lvl="1" indent="-28575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2pPr>
    <a:lvl3pPr marL="1143000" lvl="2"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3pPr>
    <a:lvl4pPr marL="1600200" lvl="3"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4pPr>
    <a:lvl5pPr marL="2057400" lvl="4"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5pPr>
    <a:lvl6pPr marL="2286000" lvl="5"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6pPr>
    <a:lvl7pPr marL="2743200" lvl="6"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7pPr>
    <a:lvl8pPr marL="3200400" lvl="7"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8pPr>
    <a:lvl9pPr marL="3657600" lvl="8" indent="-228600" algn="l" defTabSz="457200" rtl="0" eaLnBrk="0" fontAlgn="base" latinLnBrk="0" hangingPunct="0">
      <a:lnSpc>
        <a:spcPct val="100000"/>
      </a:lnSpc>
      <a:spcBef>
        <a:spcPct val="30000"/>
      </a:spcBef>
      <a:spcAft>
        <a:spcPct val="0"/>
      </a:spcAft>
      <a:buClr>
        <a:srgbClr val="000000"/>
      </a:buClr>
      <a:buSzPct val="100000"/>
      <a:buFont typeface="Times New Roman" panose="02020603050405020304" pitchFamily="16" charset="0"/>
      <a:buNone/>
      <a:defRPr sz="1200" b="0" i="0" u="none" kern="1200" baseline="0">
        <a:solidFill>
          <a:srgbClr val="000000"/>
        </a:solidFill>
        <a:latin typeface="Times New Roman" panose="02020603050405020304" pitchFamily="16"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122"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solidFill>
                  <a:srgbClr val="000000"/>
                </a:solidFill>
                <a:latin typeface="Times New Roman" panose="02020603050405020304" pitchFamily="16" charset="0"/>
                <a:ea typeface="Arial Unicode MS" charset="-122"/>
              </a:rPr>
            </a:fld>
            <a:endParaRPr lang="ru-RU" altLang="x-none" sz="1200" dirty="0" err="1">
              <a:solidFill>
                <a:srgbClr val="000000"/>
              </a:solidFill>
              <a:latin typeface="Times New Roman" panose="02020603050405020304" pitchFamily="16" charset="0"/>
              <a:ea typeface="Arial Unicode MS" charset="-122"/>
            </a:endParaRPr>
          </a:p>
        </p:txBody>
      </p:sp>
      <p:sp>
        <p:nvSpPr>
          <p:cNvPr id="5123" name="Slide Image Placeholder 78848"/>
          <p:cNvSpPr>
            <a:spLocks noGrp="1"/>
          </p:cNvSpPr>
          <p:nvPr>
            <p:ph type="sldImg"/>
          </p:nvPr>
        </p:nvSpPr>
        <p:spPr>
          <a:xfrm>
            <a:off x="1143000" y="685800"/>
            <a:ext cx="4572000" cy="3429000"/>
          </a:xfrm>
          <a:solidFill>
            <a:srgbClr val="FFFFFF"/>
          </a:solidFill>
          <a:ln cap="flat"/>
        </p:spPr>
      </p:sp>
      <p:sp>
        <p:nvSpPr>
          <p:cNvPr id="5124" name="Text Placeholder 78849"/>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126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1267" name="Slide Image Placeholder 81920"/>
          <p:cNvSpPr>
            <a:spLocks noGrp="1"/>
          </p:cNvSpPr>
          <p:nvPr>
            <p:ph type="sldImg"/>
          </p:nvPr>
        </p:nvSpPr>
        <p:spPr>
          <a:xfrm>
            <a:off x="1143000" y="685800"/>
            <a:ext cx="4572000" cy="3429000"/>
          </a:xfrm>
          <a:solidFill>
            <a:srgbClr val="FFFFFF"/>
          </a:solidFill>
          <a:ln cap="flat"/>
        </p:spPr>
      </p:sp>
      <p:sp>
        <p:nvSpPr>
          <p:cNvPr id="11268" name="Text Placeholder 8192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50530"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50531" name="Slide Image Placeholder 148480"/>
          <p:cNvSpPr>
            <a:spLocks noGrp="1"/>
          </p:cNvSpPr>
          <p:nvPr>
            <p:ph type="sldImg"/>
          </p:nvPr>
        </p:nvSpPr>
        <p:spPr>
          <a:xfrm>
            <a:off x="1143000" y="685800"/>
            <a:ext cx="4572000" cy="3429000"/>
          </a:xfrm>
          <a:solidFill>
            <a:srgbClr val="FFFFFF"/>
          </a:solidFill>
          <a:ln cap="flat"/>
        </p:spPr>
      </p:sp>
      <p:sp>
        <p:nvSpPr>
          <p:cNvPr id="150532" name="Text Placeholder 14848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8195" name="Slide Image Placeholder 45056"/>
          <p:cNvSpPr>
            <a:spLocks noGrp="1"/>
          </p:cNvSpPr>
          <p:nvPr>
            <p:ph type="sldImg"/>
          </p:nvPr>
        </p:nvSpPr>
        <p:spPr>
          <a:xfrm>
            <a:off x="1143000" y="685800"/>
            <a:ext cx="4572000" cy="3429000"/>
          </a:xfrm>
          <a:solidFill>
            <a:srgbClr val="FFFFFF"/>
          </a:solidFill>
          <a:ln cap="flat"/>
        </p:spPr>
      </p:sp>
      <p:sp>
        <p:nvSpPr>
          <p:cNvPr id="8196" name="Text Placeholder 45057"/>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8195" name="Slide Image Placeholder 45056"/>
          <p:cNvSpPr>
            <a:spLocks noGrp="1"/>
          </p:cNvSpPr>
          <p:nvPr>
            <p:ph type="sldImg"/>
          </p:nvPr>
        </p:nvSpPr>
        <p:spPr>
          <a:xfrm>
            <a:off x="1143000" y="685800"/>
            <a:ext cx="4572000" cy="3429000"/>
          </a:xfrm>
          <a:solidFill>
            <a:srgbClr val="FFFFFF"/>
          </a:solidFill>
          <a:ln cap="flat"/>
        </p:spPr>
      </p:sp>
      <p:sp>
        <p:nvSpPr>
          <p:cNvPr id="8196" name="Text Placeholder 45057"/>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42"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0243" name="Slide Image Placeholder 46080"/>
          <p:cNvSpPr>
            <a:spLocks noGrp="1"/>
          </p:cNvSpPr>
          <p:nvPr>
            <p:ph type="sldImg"/>
          </p:nvPr>
        </p:nvSpPr>
        <p:spPr>
          <a:xfrm>
            <a:off x="1143000" y="685800"/>
            <a:ext cx="4572000" cy="3429000"/>
          </a:xfrm>
          <a:solidFill>
            <a:srgbClr val="FFFFFF"/>
          </a:solidFill>
          <a:ln cap="flat"/>
        </p:spPr>
      </p:sp>
      <p:sp>
        <p:nvSpPr>
          <p:cNvPr id="10244" name="Text Placeholder 4608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2290"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2291" name="Slide Image Placeholder 47104"/>
          <p:cNvSpPr>
            <a:spLocks noGrp="1"/>
          </p:cNvSpPr>
          <p:nvPr>
            <p:ph type="sldImg"/>
          </p:nvPr>
        </p:nvSpPr>
        <p:spPr>
          <a:xfrm>
            <a:off x="1143000" y="685800"/>
            <a:ext cx="4572000" cy="3429000"/>
          </a:xfrm>
          <a:solidFill>
            <a:srgbClr val="FFFFFF"/>
          </a:solidFill>
          <a:ln cap="flat"/>
        </p:spPr>
      </p:sp>
      <p:sp>
        <p:nvSpPr>
          <p:cNvPr id="12292" name="Text Placeholder 47105"/>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4338"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4339" name="Slide Image Placeholder 48128"/>
          <p:cNvSpPr>
            <a:spLocks noGrp="1"/>
          </p:cNvSpPr>
          <p:nvPr>
            <p:ph type="sldImg"/>
          </p:nvPr>
        </p:nvSpPr>
        <p:spPr>
          <a:xfrm>
            <a:off x="1143000" y="685800"/>
            <a:ext cx="4572000" cy="3429000"/>
          </a:xfrm>
          <a:solidFill>
            <a:srgbClr val="FFFFFF"/>
          </a:solidFill>
          <a:ln cap="flat"/>
        </p:spPr>
      </p:sp>
      <p:sp>
        <p:nvSpPr>
          <p:cNvPr id="14340" name="Text Placeholder 48129"/>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6386"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6387" name="Slide Image Placeholder 49152"/>
          <p:cNvSpPr>
            <a:spLocks noGrp="1"/>
          </p:cNvSpPr>
          <p:nvPr>
            <p:ph type="sldImg"/>
          </p:nvPr>
        </p:nvSpPr>
        <p:spPr>
          <a:xfrm>
            <a:off x="1143000" y="685800"/>
            <a:ext cx="4572000" cy="3429000"/>
          </a:xfrm>
          <a:solidFill>
            <a:srgbClr val="FFFFFF"/>
          </a:solidFill>
          <a:ln cap="flat"/>
        </p:spPr>
      </p:sp>
      <p:sp>
        <p:nvSpPr>
          <p:cNvPr id="16388" name="Text Placeholder 49153"/>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8434"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8435" name="Slide Image Placeholder 50176"/>
          <p:cNvSpPr>
            <a:spLocks noGrp="1"/>
          </p:cNvSpPr>
          <p:nvPr>
            <p:ph type="sldImg"/>
          </p:nvPr>
        </p:nvSpPr>
        <p:spPr>
          <a:xfrm>
            <a:off x="1143000" y="685800"/>
            <a:ext cx="4572000" cy="3429000"/>
          </a:xfrm>
          <a:solidFill>
            <a:srgbClr val="FFFFFF"/>
          </a:solidFill>
          <a:ln cap="flat"/>
        </p:spPr>
      </p:sp>
      <p:sp>
        <p:nvSpPr>
          <p:cNvPr id="18436" name="Text Placeholder 50177"/>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6626"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26627" name="Slide Image Placeholder 70656"/>
          <p:cNvSpPr>
            <a:spLocks noGrp="1"/>
          </p:cNvSpPr>
          <p:nvPr>
            <p:ph type="sldImg"/>
          </p:nvPr>
        </p:nvSpPr>
        <p:spPr>
          <a:xfrm>
            <a:off x="1143000" y="685800"/>
            <a:ext cx="4572000" cy="3429000"/>
          </a:xfrm>
          <a:solidFill>
            <a:srgbClr val="FFFFFF"/>
          </a:solidFill>
          <a:ln cap="flat"/>
        </p:spPr>
      </p:sp>
      <p:sp>
        <p:nvSpPr>
          <p:cNvPr id="26628" name="Text Placeholder 70657"/>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8674"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28675" name="Slide Image Placeholder 71680"/>
          <p:cNvSpPr>
            <a:spLocks noGrp="1"/>
          </p:cNvSpPr>
          <p:nvPr>
            <p:ph type="sldImg"/>
          </p:nvPr>
        </p:nvSpPr>
        <p:spPr>
          <a:xfrm>
            <a:off x="1143000" y="685800"/>
            <a:ext cx="4572000" cy="3429000"/>
          </a:xfrm>
          <a:solidFill>
            <a:srgbClr val="FFFFFF"/>
          </a:solidFill>
          <a:ln cap="flat"/>
        </p:spPr>
      </p:sp>
      <p:sp>
        <p:nvSpPr>
          <p:cNvPr id="28676" name="Text Placeholder 7168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22"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30723" name="Slide Image Placeholder 72704"/>
          <p:cNvSpPr>
            <a:spLocks noGrp="1"/>
          </p:cNvSpPr>
          <p:nvPr>
            <p:ph type="sldImg"/>
          </p:nvPr>
        </p:nvSpPr>
        <p:spPr>
          <a:xfrm>
            <a:off x="1143000" y="685800"/>
            <a:ext cx="4572000" cy="3429000"/>
          </a:xfrm>
          <a:solidFill>
            <a:srgbClr val="FFFFFF"/>
          </a:solidFill>
          <a:ln cap="flat"/>
        </p:spPr>
      </p:sp>
      <p:sp>
        <p:nvSpPr>
          <p:cNvPr id="30724" name="Text Placeholder 72705"/>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0722"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30723" name="Slide Image Placeholder 72704"/>
          <p:cNvSpPr>
            <a:spLocks noGrp="1"/>
          </p:cNvSpPr>
          <p:nvPr>
            <p:ph type="sldImg"/>
          </p:nvPr>
        </p:nvSpPr>
        <p:spPr>
          <a:xfrm>
            <a:off x="1143000" y="685800"/>
            <a:ext cx="4572000" cy="3429000"/>
          </a:xfrm>
          <a:solidFill>
            <a:srgbClr val="FFFFFF"/>
          </a:solidFill>
          <a:ln cap="flat"/>
        </p:spPr>
      </p:sp>
      <p:sp>
        <p:nvSpPr>
          <p:cNvPr id="30724" name="Text Placeholder 72705"/>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6866"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36867" name="Slide Image Placeholder 75776"/>
          <p:cNvSpPr>
            <a:spLocks noGrp="1"/>
          </p:cNvSpPr>
          <p:nvPr>
            <p:ph type="sldImg"/>
          </p:nvPr>
        </p:nvSpPr>
        <p:spPr>
          <a:xfrm>
            <a:off x="1143000" y="685800"/>
            <a:ext cx="4572000" cy="3429000"/>
          </a:xfrm>
          <a:solidFill>
            <a:srgbClr val="FFFFFF"/>
          </a:solidFill>
          <a:ln cap="flat"/>
        </p:spPr>
      </p:sp>
      <p:sp>
        <p:nvSpPr>
          <p:cNvPr id="36868" name="Text Placeholder 75777"/>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8914"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38915" name="Slide Image Placeholder 76800"/>
          <p:cNvSpPr>
            <a:spLocks noGrp="1"/>
          </p:cNvSpPr>
          <p:nvPr>
            <p:ph type="sldImg"/>
          </p:nvPr>
        </p:nvSpPr>
        <p:spPr>
          <a:xfrm>
            <a:off x="1143000" y="685800"/>
            <a:ext cx="4572000" cy="3429000"/>
          </a:xfrm>
          <a:solidFill>
            <a:srgbClr val="FFFFFF"/>
          </a:solidFill>
          <a:ln cap="flat"/>
        </p:spPr>
      </p:sp>
      <p:sp>
        <p:nvSpPr>
          <p:cNvPr id="38916" name="Text Placeholder 7680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962"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40963" name="Slide Image Placeholder 77824"/>
          <p:cNvSpPr>
            <a:spLocks noGrp="1"/>
          </p:cNvSpPr>
          <p:nvPr>
            <p:ph type="sldImg"/>
          </p:nvPr>
        </p:nvSpPr>
        <p:spPr>
          <a:xfrm>
            <a:off x="1143000" y="685800"/>
            <a:ext cx="4572000" cy="3429000"/>
          </a:xfrm>
          <a:solidFill>
            <a:srgbClr val="FFFFFF"/>
          </a:solidFill>
          <a:ln cap="flat"/>
        </p:spPr>
      </p:sp>
      <p:sp>
        <p:nvSpPr>
          <p:cNvPr id="40964" name="Text Placeholder 77825"/>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3010" name="Slide Number Placeholder 1"/>
          <p:cNvSpPr/>
          <p:nvPr>
            <p:ph type="sldNum" sz="quarter"/>
          </p:nvPr>
        </p:nvSpPr>
        <p:spPr>
          <a:xfrm>
            <a:off x="3884613" y="8685213"/>
            <a:ext cx="2970212" cy="455612"/>
          </a:xfrm>
          <a:prstGeom prst="rect">
            <a:avLst/>
          </a:prstGeom>
          <a:noFill/>
          <a:ln w="9525">
            <a:noFill/>
          </a:ln>
        </p:spPr>
        <p:txBody>
          <a:bodyPr wrap="square" lIns="90000" tIns="46800" rIns="90000" bIns="46800" anchor="b" anchorCtr="0"/>
          <a:p>
            <a:pPr marL="215900" lvl="0" indent="-215900" algn="r" defTabSz="457200">
              <a:buSzPct val="45000"/>
              <a:buFont typeface="Wingdings" panose="05000000000000000000" pitchFamily="2" charset="2"/>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43011" name="Slide Image Placeholder 78848"/>
          <p:cNvSpPr>
            <a:spLocks noGrp="1"/>
          </p:cNvSpPr>
          <p:nvPr>
            <p:ph type="sldImg"/>
          </p:nvPr>
        </p:nvSpPr>
        <p:spPr>
          <a:xfrm>
            <a:off x="1143000" y="685800"/>
            <a:ext cx="4572000" cy="3429000"/>
          </a:xfrm>
          <a:solidFill>
            <a:srgbClr val="FFFFFF"/>
          </a:solidFill>
          <a:ln cap="flat"/>
        </p:spPr>
      </p:sp>
      <p:sp>
        <p:nvSpPr>
          <p:cNvPr id="43012" name="Text Placeholder 78849"/>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8194"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8195" name="Slide Image Placeholder 45056"/>
          <p:cNvSpPr>
            <a:spLocks noGrp="1"/>
          </p:cNvSpPr>
          <p:nvPr>
            <p:ph type="sldImg"/>
          </p:nvPr>
        </p:nvSpPr>
        <p:spPr>
          <a:xfrm>
            <a:off x="1143000" y="685800"/>
            <a:ext cx="4572000" cy="3429000"/>
          </a:xfrm>
          <a:solidFill>
            <a:srgbClr val="FFFFFF"/>
          </a:solidFill>
          <a:ln cap="flat"/>
        </p:spPr>
      </p:sp>
      <p:sp>
        <p:nvSpPr>
          <p:cNvPr id="8196" name="Text Placeholder 45057"/>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42"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10243" name="Slide Image Placeholder 46080"/>
          <p:cNvSpPr>
            <a:spLocks noGrp="1"/>
          </p:cNvSpPr>
          <p:nvPr>
            <p:ph type="sldImg"/>
          </p:nvPr>
        </p:nvSpPr>
        <p:spPr>
          <a:xfrm>
            <a:off x="1143000" y="685800"/>
            <a:ext cx="4572000" cy="3429000"/>
          </a:xfrm>
          <a:solidFill>
            <a:srgbClr val="FFFFFF"/>
          </a:solidFill>
          <a:ln cap="flat"/>
        </p:spPr>
      </p:sp>
      <p:sp>
        <p:nvSpPr>
          <p:cNvPr id="10244" name="Text Placeholder 46081"/>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26626"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26627" name="Slide Image Placeholder 54272"/>
          <p:cNvSpPr>
            <a:spLocks noGrp="1"/>
          </p:cNvSpPr>
          <p:nvPr>
            <p:ph type="sldImg"/>
          </p:nvPr>
        </p:nvSpPr>
        <p:spPr>
          <a:xfrm>
            <a:off x="1143000" y="685800"/>
            <a:ext cx="4572000" cy="3429000"/>
          </a:xfrm>
          <a:solidFill>
            <a:srgbClr val="FFFFFF"/>
          </a:solidFill>
          <a:ln cap="flat"/>
        </p:spPr>
      </p:sp>
      <p:sp>
        <p:nvSpPr>
          <p:cNvPr id="26628" name="Text Placeholder 54273"/>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34818" name="Slide Number Placeholder 1"/>
          <p:cNvSpPr/>
          <p:nvPr>
            <p:ph type="sldNum" sz="quarter"/>
          </p:nvPr>
        </p:nvSpPr>
        <p:spPr>
          <a:xfrm>
            <a:off x="3884613" y="8685213"/>
            <a:ext cx="2968625" cy="454025"/>
          </a:xfrm>
          <a:prstGeom prst="rect">
            <a:avLst/>
          </a:prstGeom>
          <a:noFill/>
          <a:ln w="9525">
            <a:noFill/>
          </a:ln>
        </p:spPr>
        <p:txBody>
          <a:bodyPr wrap="square" lIns="90000" tIns="46800" rIns="90000" bIns="46800" anchor="b" anchorCtr="0"/>
          <a:p>
            <a:pPr marL="215900" lvl="0" indent="-213995"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34819" name="Slide Image Placeholder 58368"/>
          <p:cNvSpPr>
            <a:spLocks noGrp="1"/>
          </p:cNvSpPr>
          <p:nvPr>
            <p:ph type="sldImg"/>
          </p:nvPr>
        </p:nvSpPr>
        <p:spPr>
          <a:xfrm>
            <a:off x="1143000" y="685800"/>
            <a:ext cx="4572000" cy="3429000"/>
          </a:xfrm>
          <a:solidFill>
            <a:srgbClr val="FFFFFF"/>
          </a:solidFill>
          <a:ln cap="flat"/>
        </p:spPr>
      </p:sp>
      <p:sp>
        <p:nvSpPr>
          <p:cNvPr id="34820" name="Text Placeholder 58369"/>
          <p:cNvSpPr>
            <a:spLocks noGrp="1"/>
          </p:cNvSpPr>
          <p:nvPr>
            <p:ph type="body"/>
          </p:nvPr>
        </p:nvSpPr>
        <p:spPr>
          <a:xfrm>
            <a:off x="685800" y="4343400"/>
            <a:ext cx="5486400" cy="4114800"/>
          </a:xfrm>
        </p:spPr>
        <p:txBody>
          <a:bodyPr wrap="none" lIns="90000" tIns="46800" rIns="90000" bIns="46800" anchor="ctr" anchorCtr="0"/>
          <a:p>
            <a:pPr lvl="0"/>
            <a:endParaRPr lang="en-GB"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1986" name="Slide Number Placeholder 1"/>
          <p:cNvSpPr/>
          <p:nvPr>
            <p:ph type="sldNum" sz="quarter"/>
          </p:nvPr>
        </p:nvSpPr>
        <p:spPr>
          <a:xfrm>
            <a:off x="3884613" y="8685213"/>
            <a:ext cx="2965450" cy="450850"/>
          </a:xfrm>
          <a:prstGeom prst="rect">
            <a:avLst/>
          </a:prstGeom>
          <a:noFill/>
          <a:ln w="9525">
            <a:noFill/>
          </a:ln>
        </p:spPr>
        <p:txBody>
          <a:bodyPr wrap="square" lIns="90000" tIns="46800" rIns="90000" bIns="46800" anchor="b" anchorCtr="0"/>
          <a:p>
            <a:pPr marL="215900" lvl="0" indent="-210820"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41987" name="Slide Image Placeholder 76800"/>
          <p:cNvSpPr txBox="1">
            <a:spLocks noGrp="1"/>
          </p:cNvSpPr>
          <p:nvPr>
            <p:ph type="sldImg"/>
          </p:nvPr>
        </p:nvSpPr>
        <p:spPr>
          <a:xfrm>
            <a:off x="1143000" y="685800"/>
            <a:ext cx="4572000" cy="3429000"/>
          </a:xfrm>
          <a:solidFill>
            <a:srgbClr val="FFFFFF"/>
          </a:solidFill>
          <a:ln cap="flat"/>
        </p:spPr>
      </p:sp>
      <p:sp>
        <p:nvSpPr>
          <p:cNvPr id="41988" name="Text Placeholder 76801"/>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8130" name="Slide Number Placeholder 1"/>
          <p:cNvSpPr/>
          <p:nvPr>
            <p:ph type="sldNum" sz="quarter"/>
          </p:nvPr>
        </p:nvSpPr>
        <p:spPr>
          <a:xfrm>
            <a:off x="3884613" y="8685213"/>
            <a:ext cx="2965450" cy="450850"/>
          </a:xfrm>
          <a:prstGeom prst="rect">
            <a:avLst/>
          </a:prstGeom>
          <a:noFill/>
          <a:ln w="9525">
            <a:noFill/>
          </a:ln>
        </p:spPr>
        <p:txBody>
          <a:bodyPr wrap="square" lIns="90000" tIns="46800" rIns="90000" bIns="46800" anchor="b" anchorCtr="0"/>
          <a:p>
            <a:pPr marL="215900" lvl="0" indent="-210820"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48131" name="Slide Image Placeholder 79872"/>
          <p:cNvSpPr txBox="1">
            <a:spLocks noGrp="1"/>
          </p:cNvSpPr>
          <p:nvPr>
            <p:ph type="sldImg"/>
          </p:nvPr>
        </p:nvSpPr>
        <p:spPr>
          <a:xfrm>
            <a:off x="1143000" y="685800"/>
            <a:ext cx="4572000" cy="3429000"/>
          </a:xfrm>
          <a:solidFill>
            <a:srgbClr val="FFFFFF"/>
          </a:solidFill>
          <a:ln cap="flat"/>
        </p:spPr>
      </p:sp>
      <p:sp>
        <p:nvSpPr>
          <p:cNvPr id="48132" name="Text Placeholder 79873"/>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0178" name="Slide Number Placeholder 1"/>
          <p:cNvSpPr/>
          <p:nvPr>
            <p:ph type="sldNum" sz="quarter"/>
          </p:nvPr>
        </p:nvSpPr>
        <p:spPr>
          <a:xfrm>
            <a:off x="3884613" y="8685213"/>
            <a:ext cx="2965450" cy="450850"/>
          </a:xfrm>
          <a:prstGeom prst="rect">
            <a:avLst/>
          </a:prstGeom>
          <a:noFill/>
          <a:ln w="9525">
            <a:noFill/>
          </a:ln>
        </p:spPr>
        <p:txBody>
          <a:bodyPr wrap="square" lIns="90000" tIns="46800" rIns="90000" bIns="46800" anchor="b" anchorCtr="0"/>
          <a:p>
            <a:pPr marL="215900" lvl="0" indent="-210820"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50179" name="Slide Image Placeholder 80896"/>
          <p:cNvSpPr txBox="1">
            <a:spLocks noGrp="1"/>
          </p:cNvSpPr>
          <p:nvPr>
            <p:ph type="sldImg"/>
          </p:nvPr>
        </p:nvSpPr>
        <p:spPr>
          <a:xfrm>
            <a:off x="1143000" y="685800"/>
            <a:ext cx="4572000" cy="3429000"/>
          </a:xfrm>
          <a:solidFill>
            <a:srgbClr val="FFFFFF"/>
          </a:solidFill>
          <a:ln cap="flat"/>
        </p:spPr>
      </p:sp>
      <p:sp>
        <p:nvSpPr>
          <p:cNvPr id="50180" name="Text Placeholder 80897"/>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2226" name="Slide Number Placeholder 1"/>
          <p:cNvSpPr/>
          <p:nvPr>
            <p:ph type="sldNum" sz="quarter"/>
          </p:nvPr>
        </p:nvSpPr>
        <p:spPr>
          <a:xfrm>
            <a:off x="3884613" y="8685213"/>
            <a:ext cx="2965450" cy="450850"/>
          </a:xfrm>
          <a:prstGeom prst="rect">
            <a:avLst/>
          </a:prstGeom>
          <a:noFill/>
          <a:ln w="9525">
            <a:noFill/>
          </a:ln>
        </p:spPr>
        <p:txBody>
          <a:bodyPr wrap="square" lIns="90000" tIns="46800" rIns="90000" bIns="46800" anchor="b" anchorCtr="0"/>
          <a:p>
            <a:pPr marL="215900" lvl="0" indent="-210820"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52227" name="Slide Image Placeholder 81920"/>
          <p:cNvSpPr txBox="1">
            <a:spLocks noGrp="1"/>
          </p:cNvSpPr>
          <p:nvPr>
            <p:ph type="sldImg"/>
          </p:nvPr>
        </p:nvSpPr>
        <p:spPr>
          <a:xfrm>
            <a:off x="1143000" y="685800"/>
            <a:ext cx="4572000" cy="3429000"/>
          </a:xfrm>
          <a:solidFill>
            <a:srgbClr val="FFFFFF"/>
          </a:solidFill>
          <a:ln cap="flat"/>
        </p:spPr>
      </p:sp>
      <p:sp>
        <p:nvSpPr>
          <p:cNvPr id="52228" name="Text Placeholder 81921"/>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54274" name="Slide Number Placeholder 1"/>
          <p:cNvSpPr/>
          <p:nvPr>
            <p:ph type="sldNum" sz="quarter"/>
          </p:nvPr>
        </p:nvSpPr>
        <p:spPr>
          <a:xfrm>
            <a:off x="3884613" y="8685213"/>
            <a:ext cx="2965450" cy="450850"/>
          </a:xfrm>
          <a:prstGeom prst="rect">
            <a:avLst/>
          </a:prstGeom>
          <a:noFill/>
          <a:ln w="9525">
            <a:noFill/>
          </a:ln>
        </p:spPr>
        <p:txBody>
          <a:bodyPr wrap="square" lIns="90000" tIns="46800" rIns="90000" bIns="46800" anchor="b" anchorCtr="0"/>
          <a:p>
            <a:pPr marL="215900" lvl="0" indent="-210820" algn="r" defTabSz="457200">
              <a:buClrTx/>
              <a:buSzPct val="45000"/>
              <a:buFontTx/>
              <a:tabLst>
                <a:tab pos="723900" algn="l"/>
                <a:tab pos="1447800" algn="l"/>
                <a:tab pos="2171700" algn="l"/>
                <a:tab pos="2895600" algn="l"/>
              </a:tabLst>
            </a:pPr>
            <a:fld id="{9A0DB2DC-4C9A-4742-B13C-FB6460FD3503}" type="slidenum">
              <a:rPr lang="ru-RU" altLang="x-none" sz="1200" dirty="0" err="1">
                <a:latin typeface="Times New Roman" panose="02020603050405020304" pitchFamily="16" charset="0"/>
                <a:ea typeface="Arial Unicode MS" charset="-122"/>
              </a:rPr>
            </a:fld>
            <a:endParaRPr lang="ru-RU" altLang="x-none" sz="1200" dirty="0" err="1">
              <a:latin typeface="Times New Roman" panose="02020603050405020304" pitchFamily="16" charset="0"/>
              <a:ea typeface="Arial Unicode MS" charset="-122"/>
            </a:endParaRPr>
          </a:p>
        </p:txBody>
      </p:sp>
      <p:sp>
        <p:nvSpPr>
          <p:cNvPr id="54275" name="Slide Image Placeholder 82944"/>
          <p:cNvSpPr txBox="1">
            <a:spLocks noGrp="1"/>
          </p:cNvSpPr>
          <p:nvPr>
            <p:ph type="sldImg"/>
          </p:nvPr>
        </p:nvSpPr>
        <p:spPr>
          <a:xfrm>
            <a:off x="1143000" y="685800"/>
            <a:ext cx="4572000" cy="3429000"/>
          </a:xfrm>
          <a:solidFill>
            <a:srgbClr val="FFFFFF"/>
          </a:solidFill>
          <a:ln cap="flat"/>
        </p:spPr>
      </p:sp>
      <p:sp>
        <p:nvSpPr>
          <p:cNvPr id="54276" name="Text Placeholder 82945"/>
          <p:cNvSpPr txBox="1">
            <a:spLocks noGrp="1"/>
          </p:cNvSpPr>
          <p:nvPr>
            <p:ph type="body"/>
          </p:nvPr>
        </p:nvSpPr>
        <p:spPr>
          <a:xfrm>
            <a:off x="685800" y="4343400"/>
            <a:ext cx="5486400" cy="4114800"/>
          </a:xfrm>
        </p:spPr>
        <p:txBody>
          <a:bodyPr wrap="none" lIns="90000" tIns="46800" rIns="90000" bIns="46800" anchor="ctr" anchorCtr="0"/>
          <a:p>
            <a:pPr lvl="0"/>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pPr fontAlgn="base"/>
            <a:r>
              <a:rPr lang="en-US" strike="noStrike" noProof="1" smtClean="0"/>
              <a:t>Click to edit Master title style</a:t>
            </a:r>
            <a:endParaRPr lang="en-US" strike="noStrike"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base"/>
            <a:r>
              <a:rPr lang="en-US" strike="noStrike" noProof="1" smtClean="0"/>
              <a:t>Click to edit Master subtitle style</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4500"/>
            </a:lvl1p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fontAlgn="base"/>
            <a:r>
              <a:rPr lang="en-US" strike="noStrike" noProof="1" smtClean="0"/>
              <a:t>Click to edit Master text styles</a:t>
            </a:r>
            <a:endParaRPr lang="en-US" strike="noStrike" noProof="1" smtClean="0"/>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Content Placeholder 2"/>
          <p:cNvSpPr>
            <a:spLocks noGrp="1"/>
          </p:cNvSpPr>
          <p:nvPr>
            <p:ph sz="half" idx="1"/>
          </p:nvPr>
        </p:nvSpPr>
        <p:spPr>
          <a:xfrm>
            <a:off x="609600"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Content Placeholder 3"/>
          <p:cNvSpPr>
            <a:spLocks noGrp="1"/>
          </p:cNvSpPr>
          <p:nvPr>
            <p:ph sz="half" idx="2"/>
          </p:nvPr>
        </p:nvSpPr>
        <p:spPr>
          <a:xfrm>
            <a:off x="4649629" y="1600200"/>
            <a:ext cx="3881596" cy="4416425"/>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5"/>
            <a:ext cx="7886700" cy="1325563"/>
          </a:xfrm>
        </p:spPr>
        <p:txBody>
          <a:bodyPr/>
          <a:lstStyle/>
          <a:p>
            <a:pPr fontAlgn="base"/>
            <a:r>
              <a:rPr lang="en-US" strike="noStrike" noProof="1" smtClean="0"/>
              <a:t>Click to edit Master title style</a:t>
            </a:r>
            <a:endParaRPr lang="en-US" strike="noStrike" noProof="1"/>
          </a:p>
        </p:txBody>
      </p:sp>
      <p:sp>
        <p:nvSpPr>
          <p:cNvPr id="3" name="Text Placeholder 2"/>
          <p:cNvSpPr>
            <a:spLocks noGrp="1"/>
          </p:cNvSpPr>
          <p:nvPr>
            <p:ph type="body" idx="1"/>
          </p:nvPr>
        </p:nvSpPr>
        <p:spPr>
          <a:xfrm>
            <a:off x="629841"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4" name="Content Placeholder 3"/>
          <p:cNvSpPr>
            <a:spLocks noGrp="1"/>
          </p:cNvSpPr>
          <p:nvPr>
            <p:ph sz="half" idx="2"/>
          </p:nvPr>
        </p:nvSpPr>
        <p:spPr>
          <a:xfrm>
            <a:off x="629841" y="2505075"/>
            <a:ext cx="3868340"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fontAlgn="base"/>
            <a:r>
              <a:rPr lang="en-US" strike="noStrike" noProof="1" smtClean="0"/>
              <a:t>Click to edit Master text styles</a:t>
            </a:r>
            <a:endParaRPr lang="en-US" strike="noStrike" noProof="1" smtClean="0"/>
          </a:p>
        </p:txBody>
      </p:sp>
      <p:sp>
        <p:nvSpPr>
          <p:cNvPr id="6" name="Content Placeholder 5"/>
          <p:cNvSpPr>
            <a:spLocks noGrp="1"/>
          </p:cNvSpPr>
          <p:nvPr>
            <p:ph sz="quarter" idx="4"/>
          </p:nvPr>
        </p:nvSpPr>
        <p:spPr>
          <a:xfrm>
            <a:off x="4629150" y="2505075"/>
            <a:ext cx="3887391" cy="3684588"/>
          </a:xfrm>
        </p:spPr>
        <p:txBody>
          <a:body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7" name="Slide Number Placeholder 6"/>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Slide Number Placeholder 2"/>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Content Placeholder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pPr fontAlgn="base"/>
            <a:r>
              <a:rPr lang="en-US" strike="noStrike" noProof="1" smtClean="0"/>
              <a:t>Click to edit Master title style</a:t>
            </a:r>
            <a:endParaRPr lang="en-US" strike="noStrike" noProof="1"/>
          </a:p>
        </p:txBody>
      </p:sp>
      <p:sp>
        <p:nvSpPr>
          <p:cNvPr id="3" name="Picture Placeholder 2"/>
          <p:cNvSpPr>
            <a:spLocks noGrp="1"/>
          </p:cNvSpPr>
          <p:nvPr>
            <p:ph type="pic" idx="1"/>
          </p:nvPr>
        </p:nvSpPr>
        <p:spPr>
          <a:xfrm>
            <a:off x="3887391" y="987425"/>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fontAlgn="base"/>
            <a:endParaRPr lang="en-US" strike="noStrike" noProof="1"/>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fontAlgn="base"/>
            <a:r>
              <a:rPr lang="en-US" strike="noStrike" noProof="1" smtClean="0"/>
              <a:t>Click to edit Master text styles</a:t>
            </a:r>
            <a:endParaRPr lang="en-US" strike="noStrike" noProof="1" smtClean="0"/>
          </a:p>
        </p:txBody>
      </p:sp>
      <p:sp>
        <p:nvSpPr>
          <p:cNvPr id="5" name="Slide Number Placeholder 4"/>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7235" y="228600"/>
            <a:ext cx="2083991" cy="5788025"/>
          </a:xfrm>
        </p:spPr>
        <p:txBody>
          <a:bodyPr vert="eaVert"/>
          <a:lstStyle/>
          <a:p>
            <a:pPr fontAlgn="base"/>
            <a:r>
              <a:rPr lang="en-US" strike="noStrike" noProof="1" smtClean="0"/>
              <a:t>Click to edit Master title style</a:t>
            </a:r>
            <a:endParaRPr lang="en-US" strike="noStrike" noProof="1"/>
          </a:p>
        </p:txBody>
      </p:sp>
      <p:sp>
        <p:nvSpPr>
          <p:cNvPr id="3" name="Vertical Text Placeholder 2"/>
          <p:cNvSpPr>
            <a:spLocks noGrp="1"/>
          </p:cNvSpPr>
          <p:nvPr>
            <p:ph type="body" orient="vert" idx="1"/>
          </p:nvPr>
        </p:nvSpPr>
        <p:spPr>
          <a:xfrm>
            <a:off x="195263" y="228600"/>
            <a:ext cx="6131160" cy="5788025"/>
          </a:xfrm>
        </p:spPr>
        <p:txBody>
          <a:bodyPr vert="eaVert"/>
          <a:lstStyle/>
          <a:p>
            <a:pPr lvl="0" fontAlgn="base"/>
            <a:r>
              <a:rPr lang="en-US" strike="noStrike" noProof="1" smtClean="0"/>
              <a:t>Click to edit Master text styles</a:t>
            </a:r>
            <a:endParaRPr lang="en-US" strike="noStrike" noProof="1" smtClean="0"/>
          </a:p>
          <a:p>
            <a:pPr lvl="1" fontAlgn="base"/>
            <a:r>
              <a:rPr lang="en-US" strike="noStrike" noProof="1" smtClean="0"/>
              <a:t>Second level</a:t>
            </a:r>
            <a:endParaRPr lang="en-US" strike="noStrike" noProof="1" smtClean="0"/>
          </a:p>
          <a:p>
            <a:pPr lvl="2" fontAlgn="base"/>
            <a:r>
              <a:rPr lang="en-US" strike="noStrike" noProof="1" smtClean="0"/>
              <a:t>Third level</a:t>
            </a:r>
            <a:endParaRPr lang="en-US" strike="noStrike" noProof="1" smtClean="0"/>
          </a:p>
          <a:p>
            <a:pPr lvl="3" fontAlgn="base"/>
            <a:r>
              <a:rPr lang="en-US" strike="noStrike" noProof="1" smtClean="0"/>
              <a:t>Fourth level</a:t>
            </a:r>
            <a:endParaRPr lang="en-US" strike="noStrike" noProof="1" smtClean="0"/>
          </a:p>
          <a:p>
            <a:pPr lvl="4" fontAlgn="base"/>
            <a:r>
              <a:rPr lang="en-US" strike="noStrike" noProof="1" smtClean="0"/>
              <a:t>Fifth level</a:t>
            </a:r>
            <a:endParaRPr lang="en-US" strike="noStrike" noProof="1"/>
          </a:p>
        </p:txBody>
      </p:sp>
      <p:sp>
        <p:nvSpPr>
          <p:cNvPr id="4" name="Slide Number Placeholder 3"/>
          <p:cNvSpPr>
            <a:spLocks noGrp="1"/>
          </p:cNvSpPr>
          <p:nvPr>
            <p:ph type="sldNum" idx="10"/>
          </p:nvPr>
        </p:nvSpPr>
        <p:spPr/>
        <p:txBody>
          <a:bodyPr/>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1026" name="Group 1024"/>
          <p:cNvGrpSpPr/>
          <p:nvPr/>
        </p:nvGrpSpPr>
        <p:grpSpPr>
          <a:xfrm>
            <a:off x="0" y="152400"/>
            <a:ext cx="8683625" cy="6092825"/>
            <a:chOff x="0" y="96"/>
            <a:chExt cx="5470" cy="3838"/>
          </a:xfrm>
        </p:grpSpPr>
        <p:sp>
          <p:nvSpPr>
            <p:cNvPr id="1027" name="Rounded Rectangle 1025"/>
            <p:cNvSpPr/>
            <p:nvPr/>
          </p:nvSpPr>
          <p:spPr>
            <a:xfrm>
              <a:off x="240" y="336"/>
              <a:ext cx="5230" cy="3598"/>
            </a:xfrm>
            <a:prstGeom prst="roundRect">
              <a:avLst>
                <a:gd name="adj" fmla="val 1372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1028" name="Freeform 1026"/>
            <p:cNvSpPr/>
            <p:nvPr/>
          </p:nvSpPr>
          <p:spPr>
            <a:xfrm>
              <a:off x="0" y="96"/>
              <a:ext cx="5374" cy="766"/>
            </a:xfrm>
            <a:custGeom>
              <a:avLst/>
              <a:gdLst/>
              <a:ahLst/>
              <a:cxnLst>
                <a:cxn ang="0">
                  <a:pos x="0" y="0"/>
                </a:cxn>
                <a:cxn ang="0">
                  <a:pos x="2" y="0"/>
                </a:cxn>
                <a:cxn ang="0">
                  <a:pos x="2" y="2"/>
                </a:cxn>
                <a:cxn ang="0">
                  <a:pos x="2" y="2"/>
                </a:cxn>
                <a:cxn ang="0">
                  <a:pos x="0" y="2"/>
                </a:cxn>
              </a:cxnLst>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rgbClr val="6666CC"/>
            </a:solidFill>
            <a:ln w="9525">
              <a:noFill/>
            </a:ln>
          </p:spPr>
          <p:txBody>
            <a:bodyPr/>
            <a:p>
              <a:endParaRPr lang="en-US"/>
            </a:p>
          </p:txBody>
        </p:sp>
        <p:sp>
          <p:nvSpPr>
            <p:cNvPr id="1029" name="Straight Connector 1027"/>
            <p:cNvSpPr/>
            <p:nvPr/>
          </p:nvSpPr>
          <p:spPr>
            <a:xfrm>
              <a:off x="0" y="768"/>
              <a:ext cx="5086" cy="0"/>
            </a:xfrm>
            <a:prstGeom prst="line">
              <a:avLst/>
            </a:prstGeom>
            <a:ln w="38160" cap="sq" cmpd="sng">
              <a:solidFill>
                <a:srgbClr val="FFFFFF"/>
              </a:solidFill>
              <a:prstDash val="solid"/>
              <a:miter/>
              <a:headEnd type="none" w="med" len="med"/>
              <a:tailEnd type="none" w="med" len="med"/>
            </a:ln>
          </p:spPr>
        </p:sp>
      </p:grpSp>
      <p:sp>
        <p:nvSpPr>
          <p:cNvPr id="1030" name="Title 1028"/>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altLang="en-US" dirty="0"/>
              <a:t>Для правки текста заголовка щелкните мышью</a:t>
            </a:r>
            <a:endParaRPr lang="en-GB" altLang="en-US" dirty="0"/>
          </a:p>
        </p:txBody>
      </p:sp>
      <p:sp>
        <p:nvSpPr>
          <p:cNvPr id="1031" name="Text Placeholder 1029"/>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altLang="en-US" dirty="0"/>
              <a:t>Для правки структуры щелкните мышью</a:t>
            </a:r>
            <a:endParaRPr lang="en-GB" altLang="en-US" dirty="0"/>
          </a:p>
          <a:p>
            <a:pPr lvl="1"/>
            <a:r>
              <a:rPr lang="en-GB" altLang="en-US" dirty="0"/>
              <a:t>Второй уровень структуры</a:t>
            </a:r>
            <a:endParaRPr lang="en-GB" altLang="en-US" dirty="0"/>
          </a:p>
          <a:p>
            <a:pPr lvl="2"/>
            <a:r>
              <a:rPr lang="en-GB" altLang="en-US" dirty="0"/>
              <a:t>Третий уровень структуры</a:t>
            </a:r>
            <a:endParaRPr lang="en-GB" altLang="en-US" dirty="0"/>
          </a:p>
          <a:p>
            <a:pPr lvl="3"/>
            <a:r>
              <a:rPr lang="en-GB" altLang="en-US" dirty="0"/>
              <a:t>Четвёртый уровень структуры</a:t>
            </a:r>
            <a:endParaRPr lang="en-GB" altLang="en-US" dirty="0"/>
          </a:p>
          <a:p>
            <a:pPr lvl="4"/>
            <a:r>
              <a:rPr lang="en-GB" altLang="en-US" dirty="0"/>
              <a:t>Пятый уровень структуры</a:t>
            </a:r>
            <a:endParaRPr lang="en-GB" altLang="en-US" dirty="0"/>
          </a:p>
          <a:p>
            <a:pPr lvl="4"/>
            <a:r>
              <a:rPr lang="en-GB" altLang="en-US" dirty="0"/>
              <a:t>Шестой уровень структуры</a:t>
            </a:r>
            <a:endParaRPr lang="en-GB" altLang="en-US" dirty="0"/>
          </a:p>
          <a:p>
            <a:pPr lvl="4"/>
            <a:r>
              <a:rPr lang="en-GB" altLang="en-US" dirty="0"/>
              <a:t>Седьмой уровень структуры</a:t>
            </a:r>
            <a:endParaRPr lang="en-GB" altLang="en-US" dirty="0"/>
          </a:p>
          <a:p>
            <a:pPr lvl="4"/>
            <a:r>
              <a:rPr lang="en-GB" altLang="en-US" dirty="0"/>
              <a:t>Восьмой уровень структуры</a:t>
            </a:r>
            <a:endParaRPr lang="en-GB" altLang="en-US" dirty="0"/>
          </a:p>
          <a:p>
            <a:pPr lvl="4"/>
            <a:r>
              <a:rPr lang="en-GB" altLang="en-US" dirty="0"/>
              <a:t>Девятый уровень структуры</a:t>
            </a:r>
            <a:endParaRPr lang="en-GB" altLang="en-US" dirty="0"/>
          </a:p>
        </p:txBody>
      </p:sp>
      <p:sp>
        <p:nvSpPr>
          <p:cNvPr id="1032" name="Text Box 1030"/>
          <p:cNvSpPr txBox="1"/>
          <p:nvPr/>
        </p:nvSpPr>
        <p:spPr>
          <a:xfrm>
            <a:off x="457200" y="6248400"/>
            <a:ext cx="2133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1033" name="Text Box 1031"/>
          <p:cNvSpPr txBox="1"/>
          <p:nvPr/>
        </p:nvSpPr>
        <p:spPr>
          <a:xfrm>
            <a:off x="3124200" y="6248400"/>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1032"/>
          <p:cNvSpPr>
            <a:spLocks noGrp="1"/>
          </p:cNvSpPr>
          <p:nvPr>
            <p:ph type="sldNum"/>
          </p:nvPr>
        </p:nvSpPr>
        <p:spPr>
          <a:xfrm>
            <a:off x="6553200" y="6248400"/>
            <a:ext cx="2130425" cy="454025"/>
          </a:xfrm>
          <a:prstGeom prst="rect">
            <a:avLst/>
          </a:prstGeom>
          <a:noFill/>
          <a:ln w="9525">
            <a:noFill/>
          </a:ln>
        </p:spPr>
        <p:txBody>
          <a:bodyPr wrap="square" lIns="90000" tIns="46800" rIns="90000" bIns="46800" anchor="b" anchorCtr="0"/>
          <a:lstStyle>
            <a:lvl1pPr>
              <a:buFontTx/>
              <a:defRPr/>
            </a:lvl1pPr>
          </a:lstStyle>
          <a:p>
            <a:pPr lvl="0" defTabSz="457200" eaLnBrk="1" fontAlgn="base" hangingPunct="1">
              <a:buClrTx/>
              <a:buSzPct val="10000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fld id="{9A0DB2DC-4C9A-4742-B13C-FB6460FD3503}" type="slidenum">
              <a:rPr lang="ru-RU" altLang="x-none" strike="noStrike" noProof="1" dirty="0" err="1">
                <a:latin typeface="Arial" panose="020B0604020202020204" pitchFamily="34" charset="0"/>
                <a:ea typeface="Microsoft YaHei" panose="020B0503020204020204"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2050" name="Group 2048"/>
          <p:cNvGrpSpPr/>
          <p:nvPr/>
        </p:nvGrpSpPr>
        <p:grpSpPr>
          <a:xfrm>
            <a:off x="0" y="927100"/>
            <a:ext cx="8988425" cy="4492625"/>
            <a:chOff x="0" y="584"/>
            <a:chExt cx="5662" cy="2830"/>
          </a:xfrm>
        </p:grpSpPr>
        <p:sp>
          <p:nvSpPr>
            <p:cNvPr id="2051" name="Rounded Rectangle 2049"/>
            <p:cNvSpPr/>
            <p:nvPr/>
          </p:nvSpPr>
          <p:spPr>
            <a:xfrm>
              <a:off x="432" y="1304"/>
              <a:ext cx="4654" cy="2110"/>
            </a:xfrm>
            <a:prstGeom prst="roundRect">
              <a:avLst>
                <a:gd name="adj" fmla="val 16667"/>
              </a:avLst>
            </a:prstGeom>
            <a:noFill/>
            <a:ln w="5076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2" name="Rectangles 2050"/>
            <p:cNvSpPr/>
            <p:nvPr/>
          </p:nvSpPr>
          <p:spPr>
            <a:xfrm>
              <a:off x="144" y="584"/>
              <a:ext cx="4510" cy="622"/>
            </a:xfrm>
            <a:prstGeom prst="rect">
              <a:avLst/>
            </a:prstGeom>
            <a:solidFill>
              <a:srgbClr val="FFFFFF"/>
            </a:solidFill>
            <a:ln w="57240" cap="sq" cmpd="sng">
              <a:solidFill>
                <a:srgbClr val="669999"/>
              </a:solidFill>
              <a:prstDash val="solid"/>
              <a:miter/>
              <a:headEnd type="none" w="med" len="med"/>
              <a:tailEnd type="none" w="med" len="med"/>
            </a:ln>
          </p:spPr>
          <p:txBody>
            <a:bodyPr anchor="t" anchorCtr="0"/>
            <a:p>
              <a:pPr lvl="0"/>
              <a:endParaRPr lang="en-US" altLang="zh-CN">
                <a:latin typeface="Arial" panose="020B0604020202020204" pitchFamily="34" charset="0"/>
              </a:endParaRPr>
            </a:p>
          </p:txBody>
        </p:sp>
        <p:sp>
          <p:nvSpPr>
            <p:cNvPr id="2053" name="Freeform 2051"/>
            <p:cNvSpPr/>
            <p:nvPr/>
          </p:nvSpPr>
          <p:spPr>
            <a:xfrm>
              <a:off x="0" y="872"/>
              <a:ext cx="5662" cy="1150"/>
            </a:xfrm>
            <a:custGeom>
              <a:avLst/>
              <a:gdLst/>
              <a:ahLst/>
              <a:cxnLst>
                <a:cxn ang="0">
                  <a:pos x="0" y="0"/>
                </a:cxn>
                <a:cxn ang="0">
                  <a:pos x="6902408" y="0"/>
                </a:cxn>
                <a:cxn ang="0">
                  <a:pos x="7685207" y="785242"/>
                </a:cxn>
                <a:cxn ang="0">
                  <a:pos x="6903952" y="1567867"/>
                </a:cxn>
                <a:cxn ang="0">
                  <a:pos x="0" y="1567867"/>
                </a:cxn>
              </a:cxnLst>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rgbClr val="6666CC"/>
            </a:solidFill>
            <a:ln w="9525">
              <a:noFill/>
            </a:ln>
          </p:spPr>
          <p:txBody>
            <a:bodyPr/>
            <a:p>
              <a:endParaRPr lang="en-US"/>
            </a:p>
          </p:txBody>
        </p:sp>
        <p:sp>
          <p:nvSpPr>
            <p:cNvPr id="2054" name="Straight Connector 2052"/>
            <p:cNvSpPr/>
            <p:nvPr/>
          </p:nvSpPr>
          <p:spPr>
            <a:xfrm>
              <a:off x="0" y="1928"/>
              <a:ext cx="5230" cy="0"/>
            </a:xfrm>
            <a:prstGeom prst="line">
              <a:avLst/>
            </a:prstGeom>
            <a:ln w="50760" cap="sq" cmpd="sng">
              <a:solidFill>
                <a:srgbClr val="FFFFFF"/>
              </a:solidFill>
              <a:prstDash val="solid"/>
              <a:miter/>
              <a:headEnd type="none" w="med" len="med"/>
              <a:tailEnd type="none" w="med" len="med"/>
            </a:ln>
          </p:spPr>
        </p:sp>
      </p:grpSp>
      <p:sp>
        <p:nvSpPr>
          <p:cNvPr id="2055" name="Title 2053"/>
          <p:cNvSpPr>
            <a:spLocks noGrp="1"/>
          </p:cNvSpPr>
          <p:nvPr>
            <p:ph type="title"/>
          </p:nvPr>
        </p:nvSpPr>
        <p:spPr>
          <a:xfrm>
            <a:off x="195263" y="228600"/>
            <a:ext cx="8012112" cy="911225"/>
          </a:xfrm>
          <a:prstGeom prst="rect">
            <a:avLst/>
          </a:prstGeom>
          <a:noFill/>
          <a:ln w="9525">
            <a:noFill/>
          </a:ln>
        </p:spPr>
        <p:txBody>
          <a:bodyPr wrap="square" lIns="90000" tIns="46800" rIns="90000" bIns="46800" anchor="ctr" anchorCtr="0"/>
          <a:p>
            <a:pPr lvl="0"/>
            <a:r>
              <a:rPr lang="en-GB" altLang="en-US" dirty="0"/>
              <a:t>Для правки текста заголовка щелкните мышью</a:t>
            </a:r>
            <a:endParaRPr lang="en-GB" altLang="en-US" dirty="0"/>
          </a:p>
        </p:txBody>
      </p:sp>
      <p:sp>
        <p:nvSpPr>
          <p:cNvPr id="2056" name="Text Placeholder 2054"/>
          <p:cNvSpPr>
            <a:spLocks noGrp="1"/>
          </p:cNvSpPr>
          <p:nvPr>
            <p:ph type="body"/>
          </p:nvPr>
        </p:nvSpPr>
        <p:spPr>
          <a:xfrm>
            <a:off x="609600" y="1600200"/>
            <a:ext cx="7921625" cy="4416425"/>
          </a:xfrm>
          <a:prstGeom prst="rect">
            <a:avLst/>
          </a:prstGeom>
          <a:noFill/>
          <a:ln w="9525">
            <a:noFill/>
          </a:ln>
        </p:spPr>
        <p:txBody>
          <a:bodyPr wrap="square" lIns="90000" tIns="46800" rIns="90000" bIns="46800" anchor="t" anchorCtr="0"/>
          <a:p>
            <a:pPr lvl="0"/>
            <a:r>
              <a:rPr lang="en-GB" altLang="en-US" dirty="0"/>
              <a:t>Для правки структуры щелкните мышью</a:t>
            </a:r>
            <a:endParaRPr lang="en-GB" altLang="en-US" dirty="0"/>
          </a:p>
          <a:p>
            <a:pPr lvl="1"/>
            <a:r>
              <a:rPr lang="en-GB" altLang="en-US" dirty="0"/>
              <a:t>Второй уровень структуры</a:t>
            </a:r>
            <a:endParaRPr lang="en-GB" altLang="en-US" dirty="0"/>
          </a:p>
          <a:p>
            <a:pPr lvl="2"/>
            <a:r>
              <a:rPr lang="en-GB" altLang="en-US" dirty="0"/>
              <a:t>Третий уровень структуры</a:t>
            </a:r>
            <a:endParaRPr lang="en-GB" altLang="en-US" dirty="0"/>
          </a:p>
          <a:p>
            <a:pPr lvl="3"/>
            <a:r>
              <a:rPr lang="en-GB" altLang="en-US" dirty="0"/>
              <a:t>Четвёртый уровень структуры</a:t>
            </a:r>
            <a:endParaRPr lang="en-GB" altLang="en-US" dirty="0"/>
          </a:p>
          <a:p>
            <a:pPr lvl="4"/>
            <a:r>
              <a:rPr lang="en-GB" altLang="en-US" dirty="0"/>
              <a:t>Пятый уровень структуры</a:t>
            </a:r>
            <a:endParaRPr lang="en-GB" altLang="en-US" dirty="0"/>
          </a:p>
          <a:p>
            <a:pPr lvl="4"/>
            <a:r>
              <a:rPr lang="en-GB" altLang="en-US" dirty="0"/>
              <a:t>Шестой уровень структуры</a:t>
            </a:r>
            <a:endParaRPr lang="en-GB" altLang="en-US" dirty="0"/>
          </a:p>
          <a:p>
            <a:pPr lvl="4"/>
            <a:r>
              <a:rPr lang="en-GB" altLang="en-US" dirty="0"/>
              <a:t>Седьмой уровень структуры</a:t>
            </a:r>
            <a:endParaRPr lang="en-GB" altLang="en-US" dirty="0"/>
          </a:p>
          <a:p>
            <a:pPr lvl="4"/>
            <a:r>
              <a:rPr lang="en-GB" altLang="en-US" dirty="0"/>
              <a:t>Восьмой уровень структуры</a:t>
            </a:r>
            <a:endParaRPr lang="en-GB" altLang="en-US" dirty="0"/>
          </a:p>
          <a:p>
            <a:pPr lvl="4"/>
            <a:r>
              <a:rPr lang="en-GB" altLang="en-US" dirty="0"/>
              <a:t>Девятый уровень структуры</a:t>
            </a:r>
            <a:endParaRPr lang="en-GB" altLang="en-US" dirty="0"/>
          </a:p>
        </p:txBody>
      </p:sp>
      <p:sp>
        <p:nvSpPr>
          <p:cNvPr id="2057" name="Text Box 2055"/>
          <p:cNvSpPr txBox="1"/>
          <p:nvPr/>
        </p:nvSpPr>
        <p:spPr>
          <a:xfrm>
            <a:off x="457200" y="6248400"/>
            <a:ext cx="2133600" cy="471488"/>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058" name="Text Box 2056"/>
          <p:cNvSpPr txBox="1"/>
          <p:nvPr/>
        </p:nvSpPr>
        <p:spPr>
          <a:xfrm>
            <a:off x="3124200" y="6253163"/>
            <a:ext cx="2895600" cy="457200"/>
          </a:xfrm>
          <a:prstGeom prst="rect">
            <a:avLst/>
          </a:prstGeom>
          <a:noFill/>
          <a:ln w="9525">
            <a:noFill/>
          </a:ln>
        </p:spPr>
        <p:txBody>
          <a:bodyPr anchor="t" anchorCtr="0"/>
          <a:p>
            <a:pPr lvl="0"/>
            <a:endParaRPr lang="en-US" altLang="zh-CN">
              <a:latin typeface="Arial" panose="020B0604020202020204" pitchFamily="34" charset="0"/>
            </a:endParaRPr>
          </a:p>
        </p:txBody>
      </p:sp>
      <p:sp>
        <p:nvSpPr>
          <p:cNvPr id="2" name="Slide Number Placeholder 2057"/>
          <p:cNvSpPr>
            <a:spLocks noGrp="1"/>
          </p:cNvSpPr>
          <p:nvPr>
            <p:ph type="sldNum"/>
          </p:nvPr>
        </p:nvSpPr>
        <p:spPr>
          <a:xfrm>
            <a:off x="6553200" y="6248400"/>
            <a:ext cx="2130425" cy="468313"/>
          </a:xfrm>
          <a:prstGeom prst="rect">
            <a:avLst/>
          </a:prstGeom>
          <a:noFill/>
          <a:ln w="9525">
            <a:noFill/>
          </a:ln>
        </p:spPr>
        <p:txBody>
          <a:bodyPr wrap="square" lIns="90000" tIns="46800" rIns="90000" bIns="46800" anchor="b" anchorCtr="0"/>
          <a:lstStyle>
            <a:lvl1pPr algn="r">
              <a:buFontTx/>
              <a:defRPr sz="1200">
                <a:latin typeface="Arial Black" panose="020B0A04020102020204" pitchFamily="32" charset="0"/>
                <a:ea typeface="Arial Unicode MS" charset="-122"/>
              </a:defRPr>
            </a:lvl1pPr>
          </a:lstStyle>
          <a:p>
            <a:pPr lvl="0" defTabSz="457200" eaLnBrk="1" fontAlgn="base" hangingPunct="1">
              <a:lnSpc>
                <a:spcPct val="100000"/>
              </a:lnSpc>
              <a:buClrTx/>
              <a:buSzPct val="100000"/>
              <a:buNone/>
              <a:tabLst>
                <a:tab pos="723900" algn="l"/>
                <a:tab pos="1447800" algn="l"/>
              </a:tabLst>
            </a:pPr>
            <a:fld id="{9A0DB2DC-4C9A-4742-B13C-FB6460FD3503}" type="slidenum">
              <a:rPr lang="ru-RU" altLang="x-none" strike="noStrike" noProof="1" dirty="0" err="1">
                <a:latin typeface="Arial Black" panose="020B0A04020102020204" pitchFamily="32" charset="0"/>
                <a:ea typeface="Arial Unicode MS" charset="-122"/>
                <a:cs typeface="+mn-cs"/>
              </a:rPr>
            </a:fld>
            <a:endParaRPr lang="ru-RU" altLang="x-none" strike="noStrike" noProof="1" dirty="0" err="1"/>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marL="0" lvl="0" indent="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mj-lt"/>
          <a:ea typeface="+mj-ea"/>
          <a:cs typeface="+mj-cs"/>
        </a:defRPr>
      </a:lvl1pPr>
      <a:lvl2pPr marL="742950" lvl="1" indent="-28575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2pPr>
      <a:lvl3pPr marL="1143000" lvl="2"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3pPr>
      <a:lvl4pPr marL="1600200" lvl="3"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4pPr>
      <a:lvl5pPr marL="2057400" lvl="4" indent="-228600" algn="l" defTabSz="457200" rtl="0" eaLnBrk="0" fontAlgn="base" latinLnBrk="0" hangingPunct="0">
        <a:lnSpc>
          <a:spcPct val="100000"/>
        </a:lnSpc>
        <a:spcBef>
          <a:spcPct val="0"/>
        </a:spcBef>
        <a:spcAft>
          <a:spcPct val="0"/>
        </a:spcAft>
        <a:buClr>
          <a:srgbClr val="000000"/>
        </a:buClr>
        <a:buSzPct val="100000"/>
        <a:buFont typeface="Times New Roman" panose="02020603050405020304" pitchFamily="16" charset="0"/>
        <a:buNone/>
        <a:defRPr sz="4200" b="0" i="0" u="none" kern="1200" baseline="0">
          <a:solidFill>
            <a:srgbClr val="FFFFFF"/>
          </a:solidFill>
          <a:latin typeface="Arial" panose="020B0604020202020204" pitchFamily="34" charset="0"/>
          <a:ea typeface="Microsoft YaHei" panose="020B0503020204020204" charset="-122"/>
          <a:cs typeface="+mj-cs"/>
        </a:defRPr>
      </a:lvl5pPr>
    </p:titleStyle>
    <p:bodyStyle>
      <a:lvl1pPr marL="342900" lvl="0" indent="-342900" algn="l" defTabSz="457200" rtl="0" eaLnBrk="0" fontAlgn="base" latinLnBrk="0" hangingPunct="0">
        <a:lnSpc>
          <a:spcPct val="100000"/>
        </a:lnSpc>
        <a:spcBef>
          <a:spcPts val="800"/>
        </a:spcBef>
        <a:spcAft>
          <a:spcPct val="0"/>
        </a:spcAft>
        <a:buClr>
          <a:srgbClr val="000000"/>
        </a:buClr>
        <a:buSzPct val="100000"/>
        <a:buFont typeface="Times New Roman" panose="02020603050405020304" pitchFamily="16" charset="0"/>
        <a:buNone/>
        <a:defRPr sz="3200" b="0" i="0" u="none" kern="1200" baseline="0">
          <a:solidFill>
            <a:srgbClr val="000000"/>
          </a:solidFill>
          <a:latin typeface="+mn-lt"/>
          <a:ea typeface="+mn-ea"/>
          <a:cs typeface="+mn-cs"/>
        </a:defRPr>
      </a:lvl1pPr>
      <a:lvl2pPr marL="742950" lvl="1" indent="-285750" algn="l" defTabSz="457200" rtl="0" eaLnBrk="0" fontAlgn="base" latinLnBrk="0" hangingPunct="0">
        <a:lnSpc>
          <a:spcPct val="100000"/>
        </a:lnSpc>
        <a:spcBef>
          <a:spcPts val="700"/>
        </a:spcBef>
        <a:spcAft>
          <a:spcPct val="0"/>
        </a:spcAft>
        <a:buClr>
          <a:srgbClr val="000000"/>
        </a:buClr>
        <a:buSzPct val="100000"/>
        <a:buFont typeface="Times New Roman" panose="02020603050405020304" pitchFamily="16" charset="0"/>
        <a:buNone/>
        <a:defRPr sz="2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0" fontAlgn="base" latinLnBrk="0" hangingPunct="0">
        <a:lnSpc>
          <a:spcPct val="100000"/>
        </a:lnSpc>
        <a:spcBef>
          <a:spcPts val="600"/>
        </a:spcBef>
        <a:spcAft>
          <a:spcPct val="0"/>
        </a:spcAft>
        <a:buClr>
          <a:srgbClr val="000000"/>
        </a:buClr>
        <a:buSzPct val="100000"/>
        <a:buFont typeface="Times New Roman" panose="02020603050405020304" pitchFamily="16" charset="0"/>
        <a:buNone/>
        <a:defRPr sz="24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5pPr>
      <a:lvl6pPr marL="2514600" lvl="5"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6pPr>
      <a:lvl7pPr marL="2971800" lvl="6"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7pPr>
      <a:lvl8pPr marL="3429000" lvl="7"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8pPr>
      <a:lvl9pPr marL="3886200" lvl="8" indent="-228600" algn="l" defTabSz="457200" rtl="0" eaLnBrk="0" fontAlgn="base" latinLnBrk="0" hangingPunct="0">
        <a:lnSpc>
          <a:spcPct val="100000"/>
        </a:lnSpc>
        <a:spcBef>
          <a:spcPts val="500"/>
        </a:spcBef>
        <a:spcAft>
          <a:spcPct val="0"/>
        </a:spcAft>
        <a:buClr>
          <a:srgbClr val="000000"/>
        </a:buClr>
        <a:buSzPct val="100000"/>
        <a:buFont typeface="Times New Roman" panose="02020603050405020304" pitchFamily="16" charset="0"/>
        <a:buNone/>
        <a:defRPr sz="2000" b="0" i="0" u="none" kern="1200" baseline="0">
          <a:solidFill>
            <a:srgbClr val="000000"/>
          </a:solidFill>
          <a:latin typeface="Arial" panose="020B0604020202020204" pitchFamily="34" charset="0"/>
          <a:ea typeface="Microsoft YaHei" panose="020B0503020204020204" charset="-122"/>
          <a:cs typeface="+mn-cs"/>
        </a:defRPr>
      </a:lvl9pPr>
    </p:bodyStyle>
    <p:otherStyle>
      <a:lvl1pPr marL="0" lvl="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mn-lt"/>
          <a:ea typeface="+mn-ea"/>
          <a:cs typeface="+mn-cs"/>
        </a:defRPr>
      </a:lvl1pPr>
      <a:lvl2pPr marL="742950" lvl="1" indent="-28575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2pPr>
      <a:lvl3pPr marL="1143000" lvl="2"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3pPr>
      <a:lvl4pPr marL="1600200" lvl="3"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4pPr>
      <a:lvl5pPr marL="2057400" lvl="4"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5pPr>
      <a:lvl6pPr marL="2286000" lvl="5"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6pPr>
      <a:lvl7pPr marL="2743200" lvl="6"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7pPr>
      <a:lvl8pPr marL="3200400" lvl="7"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8pPr>
      <a:lvl9pPr marL="3657600" lvl="8" indent="-22860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sz="1800" b="0" i="0" u="none" kern="1200" baseline="0">
          <a:solidFill>
            <a:srgbClr val="000000"/>
          </a:solidFill>
          <a:latin typeface="Arial" panose="020B0604020202020204" pitchFamily="34" charset="0"/>
          <a:ea typeface="Microsoft YaHei" panose="020B0503020204020204" charset="-122"/>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8.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pythonguide.rozh2sch.org.ua/#%D0%A0%D0%BE%D0%B7%D0%B4%D1%96%D0%BB10"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hyperlink" Target="https://gist.github.com/sunmeat/a47344ddbcc19c2aeca972a24984aa9b" TargetMode="Externa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png"/><Relationship Id="rId1" Type="http://schemas.openxmlformats.org/officeDocument/2006/relationships/hyperlink" Target="https://gist.github.com/sunmeat/54c9950b7f4acec898f117856100ebae" TargetMode="Externa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peps.python.org/pep-0008/" TargetMode="External"/></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realpython.com/ref/glossary/name-mangling/"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2.png"/><Relationship Id="rId1" Type="http://schemas.openxmlformats.org/officeDocument/2006/relationships/hyperlink" Target="https://gist.github.com/sunmeat/47d54795cc490590891293b1840aeaff"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e83be2c40370f001ef7f9550f1a306ff"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6ada00a9010a4d092536209add4a8543"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gist.github.com/sunmeat/c4a0a1140bab954a44989666e872f38e" TargetMode="External"/><Relationship Id="rId1" Type="http://schemas.openxmlformats.org/officeDocument/2006/relationships/hyperlink" Target="https://gist.github.com/sunmeat/3a458084b67226f480cd21cecc6a26bb" TargetMode="Externa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it-notes.wiki/python/descriptor-in-python/" TargetMode="Externa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uk.sharpcoderblog.com/blog/understanding-pythons-magic-methods-and-dunder-functions" TargetMode="Externa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hyperlink" Target="https://gist.github.com/sunmeat/97c62e3602ed9fc66ff30f60592ff2c4" TargetMode="Externa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24.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25.jpeg"/></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4b6be0f78d41b078d63ea2cbb6d3dd9e" TargetMode="Externa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c8d56d4cf6dc862240296430b91042c4" TargetMode="Externa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e3f8cc5699b3e55ac948fe09a5935132" TargetMode="Externa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53544f3a85aa8cedd8e4233b99201117"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8bddc50498ea7c184e24aead7ec92147" TargetMode="Externa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6.png"/><Relationship Id="rId1" Type="http://schemas.openxmlformats.org/officeDocument/2006/relationships/hyperlink" Target="https://gist.github.com/sunmeat/115aab411e4731cbf867343f56c04ed9"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fe2a80dc185877509d123c6118c690e6" TargetMode="Externa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c57939d0413791af6a461782da898496" TargetMode="Externa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85664870c8c30c731e94f81e73db7ac2"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2c630381117e532e683921db84a78508" TargetMode="Externa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0cdbfeeb5c8129e39dd9eb456327a17d" TargetMode="Externa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5be4da65fe8da80fe61f410bd8d10481"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image" Target="../media/image27.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eb2a2e7e4622a3bee9aa4f7021afcd13" TargetMode="Externa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0a20754428ac752be56356b48cf6b4dc" TargetMode="Externa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9b668ddfc11e42c3c5a6b0531e4a4529" TargetMode="External"/></Relationships>
</file>

<file path=ppt/slides/_rels/slide11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hyperlink" Target="https://devzone.org.ua/post/rechi-iaki-vam-neobkhidno-znaty-pro-prybyralnyk-smittia-v-python" TargetMode="External"/><Relationship Id="rId4" Type="http://schemas.openxmlformats.org/officeDocument/2006/relationships/hyperlink" Target="https://habr.com/ru/companies/otus/articles/769448/" TargetMode="External"/><Relationship Id="rId3" Type="http://schemas.openxmlformats.org/officeDocument/2006/relationships/hyperlink" Target="https://surl.li/aahijr" TargetMode="External"/><Relationship Id="rId2" Type="http://schemas.openxmlformats.org/officeDocument/2006/relationships/hyperlink" Target="https://docs.python.org/uk/3.13/library/gc.html" TargetMode="External"/><Relationship Id="rId1" Type="http://schemas.openxmlformats.org/officeDocument/2006/relationships/hyperlink" Target="https://itproger.com/ua/news/kak-rabotaet-garbage-collection-sravnenie-v-java-net-i-python" TargetMode="External"/></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hyperlink" Target="https://gist.github.com/sunmeat/267c714c928cfb84c511fbb87ce89489" TargetMode="External"/><Relationship Id="rId3" Type="http://schemas.openxmlformats.org/officeDocument/2006/relationships/hyperlink" Target="https://peps.python.org/pep-0695/" TargetMode="External"/><Relationship Id="rId2" Type="http://schemas.openxmlformats.org/officeDocument/2006/relationships/hyperlink" Target="https://peps.python.org/pep-0585/" TargetMode="External"/><Relationship Id="rId1" Type="http://schemas.openxmlformats.org/officeDocument/2006/relationships/hyperlink" Target="https://peps.python.org/pep-0484/" TargetMode="Externa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ab181793d9e22277e5c5e70915a456ea" TargetMode="External"/></Relationships>
</file>

<file path=ppt/slides/_rels/slide1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gist.github.com/sunmeat/3e0d8358c2883a926bf94c6619b61e5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4098" name="Text Box 4096"/>
          <p:cNvSpPr txBox="1"/>
          <p:nvPr/>
        </p:nvSpPr>
        <p:spPr>
          <a:xfrm>
            <a:off x="228600" y="1427163"/>
            <a:ext cx="8591550" cy="1609725"/>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5200" dirty="0" err="1">
                <a:solidFill>
                  <a:srgbClr val="FFFFFF"/>
                </a:solidFill>
                <a:latin typeface="Arial" panose="020B0604020202020204" pitchFamily="34" charset="0"/>
              </a:rPr>
              <a:t>Python OOP</a:t>
            </a:r>
            <a:endParaRPr lang="ru-RU" altLang="en-US" sz="5200" dirty="0" err="1">
              <a:solidFill>
                <a:srgbClr val="FFFFFF"/>
              </a:solidFill>
              <a:latin typeface="Arial" panose="020B0604020202020204" pitchFamily="34" charset="0"/>
            </a:endParaRPr>
          </a:p>
        </p:txBody>
      </p:sp>
      <p:sp>
        <p:nvSpPr>
          <p:cNvPr id="4099" name="Rectangles 4097"/>
          <p:cNvSpPr/>
          <p:nvPr/>
        </p:nvSpPr>
        <p:spPr>
          <a:xfrm>
            <a:off x="5867400" y="44450"/>
            <a:ext cx="3277235" cy="369570"/>
          </a:xfrm>
          <a:prstGeom prst="rect">
            <a:avLst/>
          </a:prstGeom>
          <a:noFill/>
          <a:ln w="9525">
            <a:noFill/>
          </a:ln>
        </p:spPr>
        <p:txBody>
          <a:bodyPr wrap="none" lIns="90000" tIns="46800" rIns="90000" bIns="46800" anchor="t" anchorCtr="0">
            <a:spAutoFit/>
          </a:bodyPr>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dirty="0" err="1">
                <a:solidFill>
                  <a:srgbClr val="F7F7F7"/>
                </a:solidFill>
                <a:latin typeface="Arial" panose="020B0604020202020204" pitchFamily="34" charset="0"/>
              </a:rPr>
              <a:t>Олександр Загоруйко © 202</a:t>
            </a:r>
            <a:r>
              <a:rPr lang="en-US" altLang="ru-RU" dirty="0" err="1">
                <a:solidFill>
                  <a:srgbClr val="F7F7F7"/>
                </a:solidFill>
                <a:latin typeface="Arial" panose="020B0604020202020204" pitchFamily="34" charset="0"/>
              </a:rPr>
              <a:t>6</a:t>
            </a:r>
            <a:endParaRPr lang="en-US" altLang="ru-RU" dirty="0" err="1">
              <a:solidFill>
                <a:srgbClr val="F7F7F7"/>
              </a:solidFill>
              <a:latin typeface="Arial" panose="020B0604020202020204" pitchFamily="34" charset="0"/>
            </a:endParaRPr>
          </a:p>
        </p:txBody>
      </p:sp>
      <p:pic>
        <p:nvPicPr>
          <p:cNvPr id="2" name="Picture 1" descr="42b5fa455005b1d9aaf2727139b76024"/>
          <p:cNvPicPr>
            <a:picLocks noChangeAspect="1"/>
          </p:cNvPicPr>
          <p:nvPr/>
        </p:nvPicPr>
        <p:blipFill>
          <a:blip r:embed="rId1"/>
          <a:stretch>
            <a:fillRect/>
          </a:stretch>
        </p:blipFill>
        <p:spPr>
          <a:xfrm>
            <a:off x="44450" y="3834765"/>
            <a:ext cx="3098800" cy="3098800"/>
          </a:xfrm>
          <a:prstGeom prst="rect">
            <a:avLst/>
          </a:prstGeom>
        </p:spPr>
      </p:pic>
      <p:pic>
        <p:nvPicPr>
          <p:cNvPr id="3" name="Picture 2"/>
          <p:cNvPicPr>
            <a:picLocks noChangeAspect="1"/>
          </p:cNvPicPr>
          <p:nvPr/>
        </p:nvPicPr>
        <p:blipFill>
          <a:blip r:embed="rId2"/>
          <a:stretch>
            <a:fillRect/>
          </a:stretch>
        </p:blipFill>
        <p:spPr>
          <a:xfrm>
            <a:off x="3247390" y="3566160"/>
            <a:ext cx="5805805" cy="3199765"/>
          </a:xfrm>
          <a:prstGeom prst="rect">
            <a:avLst/>
          </a:prstGeom>
        </p:spPr>
      </p:pic>
      <p:pic>
        <p:nvPicPr>
          <p:cNvPr id="4" name="Picture 3"/>
          <p:cNvPicPr>
            <a:picLocks noChangeAspect="1"/>
          </p:cNvPicPr>
          <p:nvPr/>
        </p:nvPicPr>
        <p:blipFill>
          <a:blip r:embed="rId3"/>
          <a:stretch>
            <a:fillRect/>
          </a:stretch>
        </p:blipFill>
        <p:spPr>
          <a:xfrm>
            <a:off x="6957060" y="6354445"/>
            <a:ext cx="1971675" cy="400050"/>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sp>
        <p:nvSpPr>
          <p:cNvPr id="10242" name="Text Box 7169"/>
          <p:cNvSpPr txBox="1"/>
          <p:nvPr/>
        </p:nvSpPr>
        <p:spPr>
          <a:xfrm>
            <a:off x="195580" y="228600"/>
            <a:ext cx="8313420"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План </a:t>
            </a:r>
            <a:r>
              <a:rPr lang="uk-UA" altLang="x-none" sz="4200" dirty="0" err="1">
                <a:solidFill>
                  <a:srgbClr val="FFFFFF"/>
                </a:solidFill>
                <a:latin typeface="Arial" panose="020B0604020202020204" pitchFamily="34" charset="0"/>
              </a:rPr>
              <a:t>цієї </a:t>
            </a:r>
            <a:r>
              <a:rPr lang="ru-RU" altLang="x-none" sz="4200" dirty="0" err="1">
                <a:solidFill>
                  <a:srgbClr val="FFFFFF"/>
                </a:solidFill>
                <a:latin typeface="Arial" panose="020B0604020202020204" pitchFamily="34" charset="0"/>
              </a:rPr>
              <a:t>презентації</a:t>
            </a:r>
            <a:r>
              <a:rPr lang="uk-UA" altLang="ru-RU" sz="4200" dirty="0" err="1">
                <a:solidFill>
                  <a:srgbClr val="FFFFFF"/>
                </a:solidFill>
                <a:latin typeface="Arial" panose="020B0604020202020204" pitchFamily="34" charset="0"/>
              </a:rPr>
              <a:t> - </a:t>
            </a:r>
            <a:r>
              <a:rPr lang="en-US" altLang="uk-UA" sz="4200" dirty="0" err="1">
                <a:solidFill>
                  <a:srgbClr val="FFFFFF"/>
                </a:solidFill>
                <a:latin typeface="Arial" panose="020B0604020202020204" pitchFamily="34" charset="0"/>
              </a:rPr>
              <a:t>6</a:t>
            </a:r>
            <a:r>
              <a:rPr lang="uk-UA" altLang="ru-RU" sz="4200" dirty="0" err="1">
                <a:solidFill>
                  <a:srgbClr val="FFFFFF"/>
                </a:solidFill>
                <a:latin typeface="Arial" panose="020B0604020202020204" pitchFamily="34" charset="0"/>
              </a:rPr>
              <a:t> пар</a:t>
            </a:r>
            <a:endParaRPr lang="uk-UA" altLang="ru-RU" sz="4200" dirty="0" err="1">
              <a:solidFill>
                <a:srgbClr val="FFFFFF"/>
              </a:solidFill>
              <a:latin typeface="Arial" panose="020B0604020202020204" pitchFamily="34" charset="0"/>
            </a:endParaRPr>
          </a:p>
        </p:txBody>
      </p:sp>
      <p:pic>
        <p:nvPicPr>
          <p:cNvPr id="2" name="Picture 1"/>
          <p:cNvPicPr>
            <a:picLocks noChangeAspect="1"/>
          </p:cNvPicPr>
          <p:nvPr/>
        </p:nvPicPr>
        <p:blipFill>
          <a:blip r:embed="rId1"/>
          <a:stretch>
            <a:fillRect/>
          </a:stretch>
        </p:blipFill>
        <p:spPr>
          <a:xfrm>
            <a:off x="476885" y="1449070"/>
            <a:ext cx="5370195" cy="5328285"/>
          </a:xfrm>
          <a:prstGeom prst="rect">
            <a:avLst/>
          </a:prstGeom>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Заголовок 1"/>
          <p:cNvSpPr>
            <a:spLocks noGrp="1"/>
          </p:cNvSpPr>
          <p:nvPr>
            <p:ph type="title"/>
          </p:nvPr>
        </p:nvSpPr>
        <p:spPr/>
        <p:txBody>
          <a:bodyPr vert="horz" wrap="square" lIns="91440" tIns="45720" rIns="91440" bIns="45720" anchor="ctr" anchorCtr="0"/>
          <a:p>
            <a:r>
              <a:rPr lang="ru-RU" altLang="ru-RU" sz="4500" dirty="0">
                <a:sym typeface="+mn-ea"/>
              </a:rPr>
              <a:t>Проблема ПП</a:t>
            </a:r>
            <a:endParaRPr lang="ru-RU" altLang="ru-RU" sz="4500" dirty="0"/>
          </a:p>
        </p:txBody>
      </p:sp>
      <p:sp>
        <p:nvSpPr>
          <p:cNvPr id="12290" name="Объект 2"/>
          <p:cNvSpPr>
            <a:spLocks noGrp="1"/>
          </p:cNvSpPr>
          <p:nvPr>
            <p:ph idx="1"/>
          </p:nvPr>
        </p:nvSpPr>
        <p:spPr>
          <a:xfrm>
            <a:off x="611505" y="1386205"/>
            <a:ext cx="7995285" cy="4419600"/>
          </a:xfrm>
        </p:spPr>
        <p:txBody>
          <a:bodyPr vert="horz" wrap="square" lIns="91440" tIns="45720" rIns="91440" bIns="45720" anchor="t" anchorCtr="0"/>
          <a:p>
            <a:pPr marL="0" indent="0">
              <a:buNone/>
            </a:pPr>
            <a:r>
              <a:rPr lang="ru-RU" altLang="ru-RU" sz="2500" b="1" dirty="0"/>
              <a:t>Процедурне програмування</a:t>
            </a:r>
            <a:r>
              <a:rPr lang="ru-RU" altLang="ru-RU" sz="2500" dirty="0"/>
              <a:t> - це підхід, за якого змінні та функції, що за змістом належать </a:t>
            </a:r>
            <a:r>
              <a:rPr lang="uk-UA" altLang="ru-RU" sz="2500" dirty="0"/>
              <a:t>              </a:t>
            </a:r>
            <a:r>
              <a:rPr lang="ru-RU" altLang="ru-RU" sz="2500" dirty="0"/>
              <a:t>до певного об'єкта, особливо не прив'язані до нього на рівні коду. Наприклад, у вашому початковому коді може бути дві функції, що відповідають </a:t>
            </a:r>
            <a:r>
              <a:rPr lang="uk-UA" altLang="ru-RU" sz="2500" dirty="0"/>
              <a:t>          </a:t>
            </a:r>
            <a:r>
              <a:rPr lang="en-US" altLang="uk-UA" sz="2500" dirty="0"/>
              <a:t>        </a:t>
            </a:r>
            <a:r>
              <a:rPr lang="uk-UA" altLang="ru-RU" sz="2500" dirty="0"/>
              <a:t> </a:t>
            </a:r>
            <a:r>
              <a:rPr lang="ru-RU" altLang="ru-RU" sz="2500" dirty="0"/>
              <a:t>за генерацію і показ лабіринту, і три функції, що виводять різного роду статистику в заголовок вікна. Усі ці п'ять функцій можуть розташовуватися в коді </a:t>
            </a:r>
            <a:r>
              <a:rPr lang="en-US" altLang="ru-RU" sz="2500" dirty="0"/>
              <a:t> </a:t>
            </a:r>
            <a:r>
              <a:rPr lang="ru-RU" altLang="ru-RU" sz="2500" dirty="0"/>
              <a:t>в довільному порядку, і ніхто, окрім їхнього творця, гадки не має (без пильного вичитування коду),</a:t>
            </a:r>
            <a:r>
              <a:rPr lang="uk-UA" altLang="ru-RU" sz="2500" dirty="0"/>
              <a:t>        </a:t>
            </a:r>
            <a:r>
              <a:rPr lang="en-US" altLang="uk-UA" sz="2500" dirty="0"/>
              <a:t> </a:t>
            </a:r>
            <a:r>
              <a:rPr lang="ru-RU" altLang="ru-RU" sz="2500" dirty="0"/>
              <a:t> з якими саме об'єктами працює та чи інша функція.</a:t>
            </a:r>
            <a:endParaRPr lang="ru-RU" altLang="ru-RU" sz="2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Заголовок 1"/>
          <p:cNvSpPr>
            <a:spLocks noGrp="1"/>
          </p:cNvSpPr>
          <p:nvPr>
            <p:ph type="title"/>
          </p:nvPr>
        </p:nvSpPr>
        <p:spPr/>
        <p:txBody>
          <a:bodyPr vert="horz" wrap="square" lIns="91440" tIns="45720" rIns="91440" bIns="45720" anchor="ctr" anchorCtr="0"/>
          <a:p>
            <a:r>
              <a:rPr lang="ru-RU" altLang="ru-RU" dirty="0"/>
              <a:t>ООП-підхід</a:t>
            </a:r>
            <a:endParaRPr lang="ru-RU" altLang="ru-RU" dirty="0"/>
          </a:p>
        </p:txBody>
      </p:sp>
      <p:sp>
        <p:nvSpPr>
          <p:cNvPr id="20482" name="Объект 2"/>
          <p:cNvSpPr>
            <a:spLocks noGrp="1"/>
          </p:cNvSpPr>
          <p:nvPr>
            <p:ph idx="1"/>
          </p:nvPr>
        </p:nvSpPr>
        <p:spPr>
          <a:xfrm>
            <a:off x="608013" y="1412875"/>
            <a:ext cx="7924800" cy="4419600"/>
          </a:xfrm>
        </p:spPr>
        <p:txBody>
          <a:bodyPr vert="horz" wrap="square" lIns="91440" tIns="45720" rIns="91440" bIns="45720" anchor="t" anchorCtr="0"/>
          <a:p>
            <a:pPr marL="0" indent="0">
              <a:buNone/>
            </a:pPr>
            <a:r>
              <a:rPr lang="ru-RU" altLang="ru-RU" sz="2800" b="1" dirty="0">
                <a:gradFill>
                  <a:gsLst>
                    <a:gs pos="0">
                      <a:srgbClr val="E30000"/>
                    </a:gs>
                    <a:gs pos="100000">
                      <a:srgbClr val="760303"/>
                    </a:gs>
                  </a:gsLst>
                  <a:lin scaled="0"/>
                </a:gradFill>
              </a:rPr>
              <a:t>Об'єктно-орієнтоване програмування - </a:t>
            </a:r>
            <a:r>
              <a:rPr lang="uk-UA" altLang="ru-RU" sz="2800" b="1" dirty="0">
                <a:gradFill>
                  <a:gsLst>
                    <a:gs pos="0">
                      <a:srgbClr val="E30000"/>
                    </a:gs>
                    <a:gs pos="100000">
                      <a:srgbClr val="760303"/>
                    </a:gs>
                  </a:gsLst>
                  <a:lin scaled="0"/>
                </a:gradFill>
              </a:rPr>
              <a:t>    </a:t>
            </a:r>
            <a:r>
              <a:rPr lang="ru-RU" altLang="ru-RU" sz="2800" b="1" dirty="0">
                <a:gradFill>
                  <a:gsLst>
                    <a:gs pos="0">
                      <a:srgbClr val="E30000"/>
                    </a:gs>
                    <a:gs pos="100000">
                      <a:srgbClr val="760303"/>
                    </a:gs>
                  </a:gsLst>
                  <a:lin scaled="0"/>
                </a:gradFill>
              </a:rPr>
              <a:t>це підхід, за якого змінні та </a:t>
            </a:r>
            <a:r>
              <a:rPr lang="uk-UA" altLang="ru-RU" sz="2800" b="1" dirty="0">
                <a:gradFill>
                  <a:gsLst>
                    <a:gs pos="0">
                      <a:srgbClr val="E30000"/>
                    </a:gs>
                    <a:gs pos="100000">
                      <a:srgbClr val="760303"/>
                    </a:gs>
                  </a:gsLst>
                  <a:lin scaled="0"/>
                </a:gradFill>
              </a:rPr>
              <a:t>методи</a:t>
            </a:r>
            <a:r>
              <a:rPr lang="ru-RU" altLang="ru-RU" sz="2800" b="1" dirty="0">
                <a:gradFill>
                  <a:gsLst>
                    <a:gs pos="0">
                      <a:srgbClr val="E30000"/>
                    </a:gs>
                    <a:gs pos="100000">
                      <a:srgbClr val="760303"/>
                    </a:gs>
                  </a:gsLst>
                  <a:lin scaled="0"/>
                </a:gradFill>
              </a:rPr>
              <a:t>, </a:t>
            </a:r>
            <a:r>
              <a:rPr lang="uk-UA" altLang="ru-RU" sz="2800" b="1" dirty="0">
                <a:gradFill>
                  <a:gsLst>
                    <a:gs pos="0">
                      <a:srgbClr val="E30000"/>
                    </a:gs>
                    <a:gs pos="100000">
                      <a:srgbClr val="760303"/>
                    </a:gs>
                  </a:gsLst>
                  <a:lin scaled="0"/>
                </a:gradFill>
              </a:rPr>
              <a:t>     </a:t>
            </a:r>
            <a:r>
              <a:rPr lang="en-US" altLang="uk-UA" sz="2800" b="1" dirty="0">
                <a:gradFill>
                  <a:gsLst>
                    <a:gs pos="0">
                      <a:srgbClr val="E30000"/>
                    </a:gs>
                    <a:gs pos="100000">
                      <a:srgbClr val="760303"/>
                    </a:gs>
                  </a:gsLst>
                  <a:lin scaled="0"/>
                </a:gradFill>
              </a:rPr>
              <a:t> </a:t>
            </a:r>
            <a:r>
              <a:rPr lang="uk-UA" altLang="ru-RU" sz="2800" b="1" dirty="0">
                <a:gradFill>
                  <a:gsLst>
                    <a:gs pos="0">
                      <a:srgbClr val="E30000"/>
                    </a:gs>
                    <a:gs pos="100000">
                      <a:srgbClr val="760303"/>
                    </a:gs>
                  </a:gsLst>
                  <a:lin scaled="0"/>
                </a:gradFill>
              </a:rPr>
              <a:t>   </a:t>
            </a:r>
            <a:r>
              <a:rPr lang="ru-RU" altLang="ru-RU" sz="2800" b="1" dirty="0">
                <a:gradFill>
                  <a:gsLst>
                    <a:gs pos="0">
                      <a:srgbClr val="E30000"/>
                    </a:gs>
                    <a:gs pos="100000">
                      <a:srgbClr val="760303"/>
                    </a:gs>
                  </a:gsLst>
                  <a:lin scaled="0"/>
                </a:gradFill>
              </a:rPr>
              <a:t>що належать до певного об'єкта, об'єднані в коді спеціальним чином і дуже тісно пов'язані між собою.</a:t>
            </a:r>
            <a:r>
              <a:rPr lang="ru-RU" altLang="ru-RU" sz="2800" dirty="0"/>
              <a:t> Для стороннього розробника зазвичай не складає труднощів розібратися, з яких основних сутностей складається програма (лабіринт, вікно, гравець, тощо), і які дані, а також дії належать до тієї чи іншої сутності.</a:t>
            </a:r>
            <a:endParaRPr lang="ru-RU" altLang="ru-RU" sz="2800" dirty="0"/>
          </a:p>
        </p:txBody>
      </p:sp>
      <p:sp>
        <p:nvSpPr>
          <p:cNvPr id="2" name="Text Box 1"/>
          <p:cNvSpPr txBox="1"/>
          <p:nvPr/>
        </p:nvSpPr>
        <p:spPr>
          <a:xfrm>
            <a:off x="64135" y="6257290"/>
            <a:ext cx="9027795" cy="645160"/>
          </a:xfrm>
          <a:prstGeom prst="rect">
            <a:avLst/>
          </a:prstGeom>
          <a:noFill/>
        </p:spPr>
        <p:txBody>
          <a:bodyPr wrap="square" rtlCol="0" anchor="t">
            <a:spAutoFit/>
          </a:bodyPr>
          <a:p>
            <a:pPr algn="ctr"/>
            <a:r>
              <a:rPr lang="en-US" altLang="en-US" b="1">
                <a:solidFill>
                  <a:srgbClr val="0070C0"/>
                </a:solidFill>
                <a:hlinkClick r:id="rId1"/>
              </a:rPr>
              <a:t>http://pythonguide.rozh2sch.org.ua/#%D0%A0%D0%BE%D0%B7%D0%B4%D1%96%D0%BB10</a:t>
            </a:r>
            <a:endParaRPr lang="en-US" altLang="en-US" b="1">
              <a:solidFill>
                <a:srgbClr val="0070C0"/>
              </a:solidFill>
              <a:hlinkClick r:id="rId1"/>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Заголовок 1"/>
          <p:cNvSpPr>
            <a:spLocks noGrp="1"/>
          </p:cNvSpPr>
          <p:nvPr>
            <p:ph type="title"/>
          </p:nvPr>
        </p:nvSpPr>
        <p:spPr/>
        <p:txBody>
          <a:bodyPr vert="horz" wrap="square" lIns="91440" tIns="45720" rIns="91440" bIns="45720" anchor="ctr" anchorCtr="0"/>
          <a:p>
            <a:r>
              <a:rPr lang="ru-RU" altLang="ru-RU" dirty="0"/>
              <a:t>Опис навколишнього світу</a:t>
            </a:r>
            <a:endParaRPr lang="ru-RU" altLang="ru-RU" dirty="0"/>
          </a:p>
        </p:txBody>
      </p:sp>
      <p:sp>
        <p:nvSpPr>
          <p:cNvPr id="22530" name="Объект 2"/>
          <p:cNvSpPr>
            <a:spLocks noGrp="1"/>
          </p:cNvSpPr>
          <p:nvPr>
            <p:ph idx="1"/>
          </p:nvPr>
        </p:nvSpPr>
        <p:spPr>
          <a:xfrm>
            <a:off x="539433" y="1484630"/>
            <a:ext cx="7924800" cy="4419600"/>
          </a:xfrm>
        </p:spPr>
        <p:txBody>
          <a:bodyPr vert="horz" wrap="square" lIns="91440" tIns="45720" rIns="91440" bIns="45720" anchor="t" anchorCtr="0"/>
          <a:p>
            <a:pPr marL="0" indent="0">
              <a:buNone/>
            </a:pPr>
            <a:r>
              <a:rPr lang="ru-RU" altLang="ru-RU" sz="2800" dirty="0"/>
              <a:t>У процедурному програмуванні - здійснюється в термінах ДІЙ (акцент робиться на складанні правильного алгоритму).</a:t>
            </a:r>
            <a:endParaRPr lang="ru-RU" altLang="ru-RU" sz="2800" dirty="0"/>
          </a:p>
          <a:p>
            <a:pPr marL="0" indent="0">
              <a:buNone/>
            </a:pPr>
            <a:endParaRPr lang="ru-RU" altLang="ru-RU" sz="2800" dirty="0"/>
          </a:p>
          <a:p>
            <a:pPr marL="0" indent="0">
              <a:buNone/>
            </a:pPr>
            <a:r>
              <a:rPr lang="ru-RU" altLang="ru-RU" sz="2800" b="1" dirty="0">
                <a:gradFill>
                  <a:gsLst>
                    <a:gs pos="0">
                      <a:srgbClr val="E30000"/>
                    </a:gs>
                    <a:gs pos="100000">
                      <a:srgbClr val="760303"/>
                    </a:gs>
                  </a:gsLst>
                  <a:lin scaled="0"/>
                </a:gradFill>
              </a:rPr>
              <a:t>В об'єктно-орієнтованому програмуванні - </a:t>
            </a:r>
            <a:r>
              <a:rPr lang="uk-UA" altLang="ru-RU" sz="2800" b="1" dirty="0">
                <a:gradFill>
                  <a:gsLst>
                    <a:gs pos="0">
                      <a:srgbClr val="E30000"/>
                    </a:gs>
                    <a:gs pos="100000">
                      <a:srgbClr val="760303"/>
                    </a:gs>
                  </a:gsLst>
                  <a:lin scaled="0"/>
                </a:gradFill>
              </a:rPr>
              <a:t>все </a:t>
            </a:r>
            <a:r>
              <a:rPr lang="ru-RU" altLang="ru-RU" sz="2800" b="1" dirty="0">
                <a:gradFill>
                  <a:gsLst>
                    <a:gs pos="0">
                      <a:srgbClr val="E30000"/>
                    </a:gs>
                    <a:gs pos="100000">
                      <a:srgbClr val="760303"/>
                    </a:gs>
                  </a:gsLst>
                  <a:lin scaled="0"/>
                </a:gradFill>
              </a:rPr>
              <a:t>здійснюється в термінах ОБ'ЄКТІВ, </a:t>
            </a:r>
            <a:r>
              <a:rPr lang="uk-UA" altLang="ru-RU" sz="2800" b="1" dirty="0">
                <a:gradFill>
                  <a:gsLst>
                    <a:gs pos="0">
                      <a:srgbClr val="E30000"/>
                    </a:gs>
                    <a:gs pos="100000">
                      <a:srgbClr val="760303"/>
                    </a:gs>
                  </a:gsLst>
                  <a:lin scaled="0"/>
                </a:gradFill>
              </a:rPr>
              <a:t> </a:t>
            </a:r>
            <a:r>
              <a:rPr lang="ru-RU" altLang="ru-RU" sz="2800" b="1" dirty="0">
                <a:gradFill>
                  <a:gsLst>
                    <a:gs pos="0">
                      <a:srgbClr val="E30000"/>
                    </a:gs>
                    <a:gs pos="100000">
                      <a:srgbClr val="760303"/>
                    </a:gs>
                  </a:gsLst>
                  <a:lin scaled="0"/>
                </a:gradFill>
              </a:rPr>
              <a:t>над якими </a:t>
            </a:r>
            <a:r>
              <a:rPr lang="uk-UA" altLang="ru-RU" sz="2800" b="1" dirty="0">
                <a:gradFill>
                  <a:gsLst>
                    <a:gs pos="0">
                      <a:srgbClr val="E30000"/>
                    </a:gs>
                    <a:gs pos="100000">
                      <a:srgbClr val="760303"/>
                    </a:gs>
                  </a:gsLst>
                  <a:lin scaled="0"/>
                </a:gradFill>
              </a:rPr>
              <a:t>виконуються </a:t>
            </a:r>
            <a:r>
              <a:rPr lang="ru-RU" altLang="ru-RU" sz="2800" b="1" dirty="0">
                <a:gradFill>
                  <a:gsLst>
                    <a:gs pos="0">
                      <a:srgbClr val="E30000"/>
                    </a:gs>
                    <a:gs pos="100000">
                      <a:srgbClr val="760303"/>
                    </a:gs>
                  </a:gsLst>
                  <a:lin scaled="0"/>
                </a:gradFill>
              </a:rPr>
              <a:t>дії (об'єкт - центр концепції ООП).</a:t>
            </a:r>
            <a:endParaRPr lang="ru-RU" altLang="ru-RU" sz="2800" b="1" dirty="0">
              <a:gradFill>
                <a:gsLst>
                  <a:gs pos="0">
                    <a:srgbClr val="E30000"/>
                  </a:gs>
                  <a:gs pos="100000">
                    <a:srgbClr val="760303"/>
                  </a:gs>
                </a:gsLst>
                <a:lin scaled="0"/>
              </a:gra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Заголовок 1"/>
          <p:cNvSpPr>
            <a:spLocks noGrp="1"/>
          </p:cNvSpPr>
          <p:nvPr>
            <p:ph type="title"/>
          </p:nvPr>
        </p:nvSpPr>
        <p:spPr/>
        <p:txBody>
          <a:bodyPr vert="horz" wrap="square" lIns="91440" tIns="45720" rIns="91440" bIns="45720" anchor="ctr" anchorCtr="0"/>
          <a:p>
            <a:r>
              <a:rPr lang="ru-RU" altLang="ru-RU" dirty="0"/>
              <a:t>Визначення</a:t>
            </a:r>
            <a:endParaRPr lang="ru-RU" altLang="ru-RU" dirty="0"/>
          </a:p>
        </p:txBody>
      </p:sp>
      <p:sp>
        <p:nvSpPr>
          <p:cNvPr id="23554" name="Объект 2"/>
          <p:cNvSpPr>
            <a:spLocks noGrp="1"/>
          </p:cNvSpPr>
          <p:nvPr>
            <p:ph idx="1"/>
          </p:nvPr>
        </p:nvSpPr>
        <p:spPr>
          <a:xfrm>
            <a:off x="609600" y="1457325"/>
            <a:ext cx="7924800" cy="4419600"/>
          </a:xfrm>
        </p:spPr>
        <p:txBody>
          <a:bodyPr vert="horz" wrap="square" lIns="91440" tIns="45720" rIns="91440" bIns="45720" anchor="t" anchorCtr="0"/>
          <a:p>
            <a:pPr marL="0" indent="0">
              <a:buNone/>
            </a:pPr>
            <a:r>
              <a:rPr lang="ru-RU" altLang="ru-RU" sz="3500" b="1" dirty="0">
                <a:gradFill>
                  <a:gsLst>
                    <a:gs pos="0">
                      <a:srgbClr val="E30000"/>
                    </a:gs>
                    <a:gs pos="100000">
                      <a:srgbClr val="760303"/>
                    </a:gs>
                  </a:gsLst>
                  <a:lin scaled="0"/>
                </a:gradFill>
              </a:rPr>
              <a:t>ООП - це стиль програмування, який фіксує поведінку реального світу так, що при цьому приховуються деталі розробки.</a:t>
            </a:r>
            <a:r>
              <a:rPr lang="ru-RU" altLang="ru-RU" sz="3500" dirty="0">
                <a:gradFill>
                  <a:gsLst>
                    <a:gs pos="0">
                      <a:srgbClr val="E30000"/>
                    </a:gs>
                    <a:gs pos="100000">
                      <a:srgbClr val="760303"/>
                    </a:gs>
                  </a:gsLst>
                  <a:lin scaled="0"/>
                </a:gradFill>
              </a:rPr>
              <a:t> </a:t>
            </a:r>
            <a:r>
              <a:rPr lang="uk-UA" altLang="ru-RU" sz="3500" dirty="0">
                <a:gradFill>
                  <a:gsLst>
                    <a:gs pos="0">
                      <a:srgbClr val="E30000"/>
                    </a:gs>
                    <a:gs pos="100000">
                      <a:srgbClr val="760303"/>
                    </a:gs>
                  </a:gsLst>
                  <a:lin scaled="0"/>
                </a:gradFill>
              </a:rPr>
              <a:t> </a:t>
            </a:r>
            <a:r>
              <a:rPr lang="ru-RU" altLang="ru-RU" sz="3500" dirty="0"/>
              <a:t>Це дає змогу програмісту, який розв'язує задачу, мислити </a:t>
            </a:r>
            <a:r>
              <a:rPr lang="uk-UA" altLang="ru-RU" sz="3500" dirty="0"/>
              <a:t>                  </a:t>
            </a:r>
            <a:r>
              <a:rPr lang="ru-RU" altLang="ru-RU" sz="3500" dirty="0"/>
              <a:t>в термінах, властивих самій задачі, </a:t>
            </a:r>
            <a:r>
              <a:rPr lang="uk-UA" altLang="ru-RU" sz="3500" dirty="0"/>
              <a:t>    </a:t>
            </a:r>
            <a:r>
              <a:rPr lang="ru-RU" altLang="ru-RU" sz="3500" dirty="0"/>
              <a:t>а не програмуванню загалом.</a:t>
            </a:r>
            <a:endParaRPr lang="ru-RU" altLang="ru-RU" sz="3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Заголовок 1"/>
          <p:cNvSpPr>
            <a:spLocks noGrp="1"/>
          </p:cNvSpPr>
          <p:nvPr>
            <p:ph type="title"/>
          </p:nvPr>
        </p:nvSpPr>
        <p:spPr/>
        <p:txBody>
          <a:bodyPr vert="horz" wrap="square" lIns="91440" tIns="45720" rIns="91440" bIns="45720" anchor="ctr" anchorCtr="0"/>
          <a:p>
            <a:r>
              <a:rPr lang="ru-RU" altLang="ru-RU" dirty="0">
                <a:sym typeface="+mn-ea"/>
              </a:rPr>
              <a:t>Визначення</a:t>
            </a:r>
            <a:endParaRPr lang="ru-RU" altLang="ru-RU" dirty="0"/>
          </a:p>
        </p:txBody>
      </p:sp>
      <p:sp>
        <p:nvSpPr>
          <p:cNvPr id="24578" name="Объект 2"/>
          <p:cNvSpPr>
            <a:spLocks noGrp="1"/>
          </p:cNvSpPr>
          <p:nvPr>
            <p:ph idx="1"/>
          </p:nvPr>
        </p:nvSpPr>
        <p:spPr>
          <a:xfrm>
            <a:off x="609600" y="1700213"/>
            <a:ext cx="7924800" cy="4419600"/>
          </a:xfrm>
        </p:spPr>
        <p:txBody>
          <a:bodyPr vert="horz" wrap="square" lIns="91440" tIns="45720" rIns="91440" bIns="45720" anchor="t" anchorCtr="0"/>
          <a:p>
            <a:pPr marL="0" indent="0">
              <a:buNone/>
            </a:pPr>
            <a:r>
              <a:rPr lang="ru-RU" altLang="en-US" sz="3500" dirty="0"/>
              <a:t>ООП - це методологія програмування, що ґрунтується </a:t>
            </a:r>
            <a:r>
              <a:rPr lang="uk-UA" altLang="ru-RU" sz="3500" dirty="0"/>
              <a:t>     </a:t>
            </a:r>
            <a:r>
              <a:rPr lang="ru-RU" altLang="en-US" sz="3500" dirty="0"/>
              <a:t>на поданні програми у вигляді сукупності об'єктів, кожен з яких є екземпляром певного класу, а класи утворюють ієрархію успадкування.</a:t>
            </a:r>
            <a:endParaRPr lang="ru-RU" altLang="en-US" sz="3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ru-RU" altLang="ru-RU" dirty="0"/>
              <a:t>Парадигма ООП</a:t>
            </a:r>
            <a:endParaRPr lang="ru-RU" altLang="ru-RU" dirty="0"/>
          </a:p>
        </p:txBody>
      </p:sp>
      <p:sp>
        <p:nvSpPr>
          <p:cNvPr id="25602" name="Объект 2"/>
          <p:cNvSpPr>
            <a:spLocks noGrp="1"/>
          </p:cNvSpPr>
          <p:nvPr>
            <p:ph idx="1"/>
          </p:nvPr>
        </p:nvSpPr>
        <p:spPr>
          <a:xfrm>
            <a:off x="680403" y="1484948"/>
            <a:ext cx="7924800" cy="4419600"/>
          </a:xfrm>
        </p:spPr>
        <p:txBody>
          <a:bodyPr vert="horz" wrap="square" lIns="91440" tIns="45720" rIns="91440" bIns="45720" anchor="t" anchorCtr="0"/>
          <a:p>
            <a:pPr marL="0" indent="0">
              <a:buNone/>
            </a:pPr>
            <a:r>
              <a:rPr lang="ru-RU" altLang="ru-RU" sz="3500" dirty="0"/>
              <a:t>Програма складається з об'єктів,</a:t>
            </a:r>
            <a:r>
              <a:rPr lang="uk-UA" altLang="ru-RU" sz="3500" dirty="0"/>
              <a:t>  </a:t>
            </a:r>
            <a:r>
              <a:rPr lang="ru-RU" altLang="ru-RU" sz="3500" dirty="0"/>
              <a:t> що обмінюються повідомленнями. Об'єкти можуть мати стан, єдиний спосіб змінити стан об'єкта - </a:t>
            </a:r>
            <a:r>
              <a:rPr lang="uk-UA" altLang="ru-RU" sz="3500" dirty="0"/>
              <a:t>наді</a:t>
            </a:r>
            <a:r>
              <a:rPr lang="ru-RU" altLang="ru-RU" sz="3500" dirty="0"/>
              <a:t>слати йому повідомлення (викликати метод), у відповідь </a:t>
            </a:r>
            <a:r>
              <a:rPr lang="uk-UA" altLang="ru-RU" sz="3500" dirty="0"/>
              <a:t>        </a:t>
            </a:r>
            <a:r>
              <a:rPr lang="ru-RU" altLang="ru-RU" sz="3500" dirty="0"/>
              <a:t>на яке, об'єкт може змінити власний стан. </a:t>
            </a:r>
            <a:endParaRPr lang="ru-RU" altLang="ru-RU" sz="3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Заголовок 1"/>
          <p:cNvSpPr>
            <a:spLocks noGrp="1"/>
          </p:cNvSpPr>
          <p:nvPr>
            <p:ph type="title"/>
          </p:nvPr>
        </p:nvSpPr>
        <p:spPr/>
        <p:txBody>
          <a:bodyPr vert="horz" wrap="square" lIns="91440" tIns="45720" rIns="91440" bIns="45720" anchor="ctr" anchorCtr="0"/>
          <a:p>
            <a:r>
              <a:rPr lang="ru-RU" altLang="ru-RU" dirty="0"/>
              <a:t>"Кити" ООП</a:t>
            </a:r>
            <a:endParaRPr lang="ru-RU" altLang="ru-RU" dirty="0"/>
          </a:p>
        </p:txBody>
      </p:sp>
      <p:sp>
        <p:nvSpPr>
          <p:cNvPr id="26626" name="Объект 2"/>
          <p:cNvSpPr>
            <a:spLocks noGrp="1"/>
          </p:cNvSpPr>
          <p:nvPr>
            <p:ph idx="1"/>
          </p:nvPr>
        </p:nvSpPr>
        <p:spPr>
          <a:xfrm>
            <a:off x="609600" y="1484313"/>
            <a:ext cx="7924800" cy="4419600"/>
          </a:xfrm>
        </p:spPr>
        <p:txBody>
          <a:bodyPr vert="horz" wrap="square" lIns="91440" tIns="45720" rIns="91440" bIns="45720" anchor="t" anchorCtr="0"/>
          <a:p>
            <a:pPr marL="0" indent="0">
              <a:buNone/>
            </a:pPr>
            <a:r>
              <a:rPr lang="ru-RU" altLang="ru-RU" sz="2500" b="1" dirty="0">
                <a:solidFill>
                  <a:srgbClr val="FF0000"/>
                </a:solidFill>
              </a:rPr>
              <a:t>0. Абстрагування</a:t>
            </a:r>
            <a:endParaRPr lang="ru-RU" altLang="ru-RU" sz="2500" b="1" dirty="0">
              <a:solidFill>
                <a:srgbClr val="FF0000"/>
              </a:solidFill>
            </a:endParaRPr>
          </a:p>
          <a:p>
            <a:pPr marL="0" indent="0">
              <a:buNone/>
            </a:pPr>
            <a:r>
              <a:rPr lang="ru-RU" altLang="ru-RU" sz="2500" b="1" dirty="0">
                <a:solidFill>
                  <a:srgbClr val="FF0000"/>
                </a:solidFill>
              </a:rPr>
              <a:t>1. </a:t>
            </a:r>
            <a:r>
              <a:rPr lang="en-US" altLang="ru-RU" sz="2500" b="1" dirty="0">
                <a:solidFill>
                  <a:srgbClr val="FF0000"/>
                </a:solidFill>
              </a:rPr>
              <a:t>I</a:t>
            </a:r>
            <a:r>
              <a:rPr lang="ru-RU" altLang="ru-RU" sz="2500" b="1" dirty="0">
                <a:solidFill>
                  <a:srgbClr val="FF0000"/>
                </a:solidFill>
              </a:rPr>
              <a:t>нкапсуляція</a:t>
            </a:r>
            <a:endParaRPr lang="ru-RU" altLang="ru-RU" sz="2500" b="1" dirty="0">
              <a:solidFill>
                <a:srgbClr val="FF0000"/>
              </a:solidFill>
            </a:endParaRPr>
          </a:p>
          <a:p>
            <a:pPr marL="0" indent="0">
              <a:buNone/>
            </a:pPr>
            <a:r>
              <a:rPr lang="ru-RU" altLang="ru-RU" sz="2500" b="1" dirty="0">
                <a:solidFill>
                  <a:srgbClr val="FF0000"/>
                </a:solidFill>
              </a:rPr>
              <a:t>2. Успадкування</a:t>
            </a:r>
            <a:endParaRPr lang="ru-RU" altLang="ru-RU" sz="2500" b="1" dirty="0">
              <a:solidFill>
                <a:srgbClr val="FF0000"/>
              </a:solidFill>
            </a:endParaRPr>
          </a:p>
          <a:p>
            <a:pPr marL="0" indent="0">
              <a:buNone/>
            </a:pPr>
            <a:r>
              <a:rPr lang="ru-RU" altLang="ru-RU" sz="2500" b="1" dirty="0">
                <a:solidFill>
                  <a:srgbClr val="FF0000"/>
                </a:solidFill>
              </a:rPr>
              <a:t>3. Поліморфізм</a:t>
            </a:r>
            <a:endParaRPr lang="ru-RU" altLang="ru-RU" sz="2500" b="1" dirty="0">
              <a:solidFill>
                <a:srgbClr val="FF0000"/>
              </a:solidFill>
            </a:endParaRPr>
          </a:p>
          <a:p>
            <a:pPr marL="0" indent="0">
              <a:buNone/>
            </a:pPr>
            <a:r>
              <a:rPr lang="ru-RU" altLang="ru-RU" sz="2500" b="1" dirty="0">
                <a:solidFill>
                  <a:schemeClr val="tx1"/>
                </a:solidFill>
              </a:rPr>
              <a:t>4. Повторне використання коду</a:t>
            </a:r>
            <a:endParaRPr lang="ru-RU" altLang="ru-RU" sz="2500" b="1" dirty="0">
              <a:solidFill>
                <a:schemeClr val="tx1"/>
              </a:solidFill>
            </a:endParaRPr>
          </a:p>
          <a:p>
            <a:pPr marL="0" indent="0">
              <a:buNone/>
            </a:pPr>
            <a:r>
              <a:rPr lang="ru-RU" altLang="ru-RU" sz="2500" b="1" dirty="0">
                <a:solidFill>
                  <a:schemeClr val="tx1"/>
                </a:solidFill>
              </a:rPr>
              <a:t>5. Обмін повідомленнями</a:t>
            </a:r>
            <a:endParaRPr lang="ru-RU" altLang="ru-RU" sz="2500" b="1" dirty="0">
              <a:solidFill>
                <a:schemeClr val="tx1"/>
              </a:solidFill>
            </a:endParaRPr>
          </a:p>
        </p:txBody>
      </p:sp>
      <p:pic>
        <p:nvPicPr>
          <p:cNvPr id="2" name="Picture 1" descr="1486487479"/>
          <p:cNvPicPr>
            <a:picLocks noChangeAspect="1"/>
          </p:cNvPicPr>
          <p:nvPr/>
        </p:nvPicPr>
        <p:blipFill>
          <a:blip r:embed="rId1"/>
          <a:stretch>
            <a:fillRect/>
          </a:stretch>
        </p:blipFill>
        <p:spPr>
          <a:xfrm>
            <a:off x="5625465" y="4001135"/>
            <a:ext cx="3392805" cy="276034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Заголовок 1"/>
          <p:cNvSpPr>
            <a:spLocks noGrp="1"/>
          </p:cNvSpPr>
          <p:nvPr>
            <p:ph type="title"/>
          </p:nvPr>
        </p:nvSpPr>
        <p:spPr/>
        <p:txBody>
          <a:bodyPr vert="horz" wrap="square" lIns="91440" tIns="45720" rIns="91440" bIns="45720" anchor="ctr" anchorCtr="0"/>
          <a:p>
            <a:r>
              <a:rPr lang="ru-RU" altLang="ru-RU" dirty="0"/>
              <a:t>Як застосувати ООП-підхід?</a:t>
            </a:r>
            <a:endParaRPr lang="ru-RU" altLang="ru-RU" dirty="0"/>
          </a:p>
        </p:txBody>
      </p:sp>
      <p:sp>
        <p:nvSpPr>
          <p:cNvPr id="3" name="Объект 2"/>
          <p:cNvSpPr>
            <a:spLocks noGrp="1"/>
          </p:cNvSpPr>
          <p:nvPr>
            <p:ph idx="1"/>
          </p:nvPr>
        </p:nvSpPr>
        <p:spPr>
          <a:xfrm>
            <a:off x="609600" y="1466850"/>
            <a:ext cx="7921625" cy="44164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Char char="l"/>
              <a:defRPr/>
            </a:pPr>
            <a:r>
              <a:rPr kumimoji="0" lang="ru-RU" sz="2500" i="0" u="none" strike="noStrike" kern="0" cap="none" spc="0" normalizeH="0" baseline="0" noProof="0" dirty="0" smtClean="0">
                <a:ln>
                  <a:noFill/>
                </a:ln>
                <a:effectLst/>
                <a:uLnTx/>
                <a:uFillTx/>
                <a:latin typeface="+mn-lt"/>
                <a:ea typeface="+mn-ea"/>
                <a:cs typeface="+mn-cs"/>
              </a:rPr>
              <a:t>Беремо будь-який предмет із реального світу</a:t>
            </a:r>
            <a:r>
              <a:rPr kumimoji="0" lang="uk-UA" altLang="ru-RU" sz="2500" i="0" u="none" strike="noStrike" kern="0" cap="none" spc="0" normalizeH="0" baseline="0" noProof="0" dirty="0" smtClean="0">
                <a:ln>
                  <a:noFill/>
                </a:ln>
                <a:effectLst/>
                <a:uLnTx/>
                <a:uFillTx/>
                <a:latin typeface="+mn-lt"/>
                <a:ea typeface="+mn-ea"/>
                <a:cs typeface="+mn-cs"/>
              </a:rPr>
              <a:t>   </a:t>
            </a:r>
            <a:r>
              <a:rPr kumimoji="0" lang="ru-RU" sz="2500" i="0" u="none" strike="noStrike" kern="0" cap="none" spc="0" normalizeH="0" baseline="0" noProof="0" dirty="0" smtClean="0">
                <a:ln>
                  <a:noFill/>
                </a:ln>
                <a:effectLst/>
                <a:uLnTx/>
                <a:uFillTx/>
                <a:latin typeface="+mn-lt"/>
                <a:ea typeface="+mn-ea"/>
                <a:cs typeface="+mn-cs"/>
              </a:rPr>
              <a:t> (це буде </a:t>
            </a:r>
            <a:r>
              <a:rPr kumimoji="0" lang="ru-RU" sz="2500" b="1" i="0" u="none" strike="noStrike" kern="0" cap="none" spc="0" normalizeH="0" baseline="0" noProof="0" dirty="0" smtClean="0">
                <a:ln>
                  <a:noFill/>
                </a:ln>
                <a:solidFill>
                  <a:srgbClr val="0070C0"/>
                </a:solidFill>
                <a:effectLst/>
                <a:uLnTx/>
                <a:uFillTx/>
                <a:latin typeface="+mn-lt"/>
                <a:ea typeface="+mn-ea"/>
                <a:cs typeface="+mn-cs"/>
              </a:rPr>
              <a:t>об'єкт</a:t>
            </a:r>
            <a:r>
              <a:rPr kumimoji="0" lang="ru-RU" sz="2500" i="0" u="none" strike="noStrike" kern="0" cap="none" spc="0" normalizeH="0" baseline="0" noProof="0" dirty="0" smtClean="0">
                <a:ln>
                  <a:noFill/>
                </a:ln>
                <a:effectLst/>
                <a:uLnTx/>
                <a:uFillTx/>
                <a:latin typeface="+mn-lt"/>
                <a:ea typeface="+mn-ea"/>
                <a:cs typeface="+mn-cs"/>
              </a:rPr>
              <a:t>)</a:t>
            </a:r>
            <a:endParaRPr kumimoji="0" lang="ru-RU" sz="2500" i="0" u="none" strike="noStrike" kern="0" cap="none" spc="0" normalizeH="0" baseline="0" noProof="0" dirty="0" smtClean="0">
              <a:ln>
                <a:noFill/>
              </a:ln>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Char char="l"/>
              <a:defRPr/>
            </a:pPr>
            <a:r>
              <a:rPr kumimoji="0" lang="ru-RU" sz="2500" i="0" u="none" strike="noStrike" kern="0" cap="none" spc="0" normalizeH="0" baseline="0" noProof="0" dirty="0" smtClean="0">
                <a:ln>
                  <a:noFill/>
                </a:ln>
                <a:effectLst/>
                <a:uLnTx/>
                <a:uFillTx/>
                <a:latin typeface="+mn-lt"/>
                <a:ea typeface="+mn-ea"/>
                <a:cs typeface="+mn-cs"/>
              </a:rPr>
              <a:t>Відповідаємо на три запитання:</a:t>
            </a:r>
            <a:endParaRPr kumimoji="0" lang="ru-RU" sz="2500" i="0" u="none" strike="noStrike" kern="0" cap="none" spc="0" normalizeH="0" baseline="0" noProof="0" dirty="0" smtClean="0">
              <a:ln>
                <a:noFill/>
              </a:ln>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500" i="0" u="none" strike="noStrike" kern="0" cap="none" spc="0" normalizeH="0" baseline="0" noProof="0" dirty="0" smtClean="0">
                <a:ln>
                  <a:noFill/>
                </a:ln>
                <a:effectLst/>
                <a:uLnTx/>
                <a:uFillTx/>
                <a:latin typeface="+mn-lt"/>
                <a:ea typeface="+mn-ea"/>
                <a:cs typeface="+mn-cs"/>
              </a:rPr>
              <a:t>- як називається цей предмет одним словом? </a:t>
            </a:r>
            <a:r>
              <a:rPr kumimoji="0" lang="uk-UA" altLang="ru-RU" sz="2500" i="0" u="none" strike="noStrike" kern="0" cap="none" spc="0" normalizeH="0" baseline="0" noProof="0" dirty="0" smtClean="0">
                <a:ln>
                  <a:noFill/>
                </a:ln>
                <a:effectLst/>
                <a:uLnTx/>
                <a:uFillTx/>
                <a:latin typeface="+mn-lt"/>
                <a:ea typeface="+mn-ea"/>
                <a:cs typeface="+mn-cs"/>
              </a:rPr>
              <a:t>     </a:t>
            </a:r>
            <a:r>
              <a:rPr kumimoji="0" lang="ru-RU" sz="2500" i="0" u="none" strike="noStrike" kern="0" cap="none" spc="0" normalizeH="0" baseline="0" noProof="0" dirty="0" smtClean="0">
                <a:ln>
                  <a:noFill/>
                </a:ln>
                <a:effectLst/>
                <a:uLnTx/>
                <a:uFillTx/>
                <a:latin typeface="+mn-lt"/>
                <a:ea typeface="+mn-ea"/>
                <a:cs typeface="+mn-cs"/>
              </a:rPr>
              <a:t>(це буде його </a:t>
            </a:r>
            <a:r>
              <a:rPr kumimoji="0" lang="ru-RU" sz="2500" b="1" i="0" u="none" strike="noStrike" kern="0" cap="none" spc="0" normalizeH="0" baseline="0" noProof="0" dirty="0" smtClean="0">
                <a:ln>
                  <a:noFill/>
                </a:ln>
                <a:solidFill>
                  <a:srgbClr val="0070C0"/>
                </a:solidFill>
                <a:effectLst/>
                <a:uLnTx/>
                <a:uFillTx/>
                <a:latin typeface="+mn-lt"/>
                <a:ea typeface="+mn-ea"/>
                <a:cs typeface="+mn-cs"/>
              </a:rPr>
              <a:t>клас</a:t>
            </a:r>
            <a:r>
              <a:rPr kumimoji="0" lang="ru-RU" sz="2500" i="0" u="none" strike="noStrike" kern="0" cap="none" spc="0" normalizeH="0" baseline="0" noProof="0" dirty="0" smtClean="0">
                <a:ln>
                  <a:noFill/>
                </a:ln>
                <a:effectLst/>
                <a:uLnTx/>
                <a:uFillTx/>
                <a:latin typeface="+mn-lt"/>
                <a:ea typeface="+mn-ea"/>
                <a:cs typeface="+mn-cs"/>
              </a:rPr>
              <a:t>)</a:t>
            </a:r>
            <a:endParaRPr kumimoji="0" lang="ru-RU" sz="2500" i="0" u="none" strike="noStrike" kern="0" cap="none" spc="0" normalizeH="0" baseline="0" noProof="0" dirty="0" smtClean="0">
              <a:ln>
                <a:noFill/>
              </a:ln>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500" i="0" u="none" strike="noStrike" kern="0" cap="none" spc="0" normalizeH="0" baseline="0" noProof="0" dirty="0" smtClean="0">
                <a:ln>
                  <a:noFill/>
                </a:ln>
                <a:effectLst/>
                <a:uLnTx/>
                <a:uFillTx/>
                <a:latin typeface="+mn-lt"/>
                <a:ea typeface="+mn-ea"/>
                <a:cs typeface="+mn-cs"/>
              </a:rPr>
              <a:t>- що ми знаємо про цей предмет? які його властивості, характеристики? (це будуть його </a:t>
            </a:r>
            <a:r>
              <a:rPr kumimoji="0" lang="ru-RU" sz="2500" b="1" i="0" u="none" strike="noStrike" kern="0" cap="none" spc="0" normalizeH="0" baseline="0" noProof="0" dirty="0" smtClean="0">
                <a:ln>
                  <a:noFill/>
                </a:ln>
                <a:solidFill>
                  <a:srgbClr val="0070C0"/>
                </a:solidFill>
                <a:effectLst/>
                <a:uLnTx/>
                <a:uFillTx/>
                <a:latin typeface="+mn-lt"/>
                <a:ea typeface="+mn-ea"/>
                <a:cs typeface="+mn-cs"/>
              </a:rPr>
              <a:t>поля</a:t>
            </a:r>
            <a:r>
              <a:rPr kumimoji="0" lang="ru-RU" sz="2500" i="0" u="none" strike="noStrike" kern="0" cap="none" spc="0" normalizeH="0" baseline="0" noProof="0" dirty="0" smtClean="0">
                <a:ln>
                  <a:noFill/>
                </a:ln>
                <a:effectLst/>
                <a:uLnTx/>
                <a:uFillTx/>
                <a:latin typeface="+mn-lt"/>
                <a:ea typeface="+mn-ea"/>
                <a:cs typeface="+mn-cs"/>
              </a:rPr>
              <a:t>)</a:t>
            </a:r>
            <a:endParaRPr kumimoji="0" lang="ru-RU" sz="2500" i="0" u="none" strike="noStrike" kern="0" cap="none" spc="0" normalizeH="0" baseline="0" noProof="0" dirty="0" smtClean="0">
              <a:ln>
                <a:noFill/>
              </a:ln>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500" i="0" u="none" strike="noStrike" kern="0" cap="none" spc="0" normalizeH="0" baseline="0" noProof="0" dirty="0" smtClean="0">
                <a:ln>
                  <a:noFill/>
                </a:ln>
                <a:effectLst/>
                <a:uLnTx/>
                <a:uFillTx/>
                <a:latin typeface="+mn-lt"/>
                <a:ea typeface="+mn-ea"/>
                <a:cs typeface="+mn-cs"/>
              </a:rPr>
              <a:t>- що цей предмет уміє робити, яка в нього поведінка? які дії можна здійснювати над цим предметом? (це будуть його </a:t>
            </a:r>
            <a:r>
              <a:rPr kumimoji="0" lang="ru-RU" sz="2500" b="1" i="0" u="none" strike="noStrike" kern="0" cap="none" spc="0" normalizeH="0" baseline="0" noProof="0" dirty="0" smtClean="0">
                <a:ln>
                  <a:noFill/>
                </a:ln>
                <a:solidFill>
                  <a:srgbClr val="0070C0"/>
                </a:solidFill>
                <a:effectLst/>
                <a:uLnTx/>
                <a:uFillTx/>
                <a:latin typeface="+mn-lt"/>
                <a:ea typeface="+mn-ea"/>
                <a:cs typeface="+mn-cs"/>
              </a:rPr>
              <a:t>методи</a:t>
            </a:r>
            <a:r>
              <a:rPr kumimoji="0" lang="ru-RU" sz="2500" i="0" u="none" strike="noStrike" kern="0" cap="none" spc="0" normalizeH="0" baseline="0" noProof="0" dirty="0" smtClean="0">
                <a:ln>
                  <a:noFill/>
                </a:ln>
                <a:effectLst/>
                <a:uLnTx/>
                <a:uFillTx/>
                <a:latin typeface="+mn-lt"/>
                <a:ea typeface="+mn-ea"/>
                <a:cs typeface="+mn-cs"/>
              </a:rPr>
              <a:t>)</a:t>
            </a:r>
            <a:endParaRPr kumimoji="0" lang="ru-RU" sz="2500" i="0" u="none" strike="noStrike" kern="0" cap="none" spc="0" normalizeH="0" baseline="0" noProof="0" dirty="0" smtClean="0">
              <a:ln>
                <a:noFill/>
              </a:ln>
              <a:effectLst/>
              <a:uLnTx/>
              <a:uFillTx/>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Заголовок 1"/>
          <p:cNvSpPr>
            <a:spLocks noGrp="1"/>
          </p:cNvSpPr>
          <p:nvPr>
            <p:ph type="title"/>
          </p:nvPr>
        </p:nvSpPr>
        <p:spPr/>
        <p:txBody>
          <a:bodyPr vert="horz" wrap="square" lIns="91440" tIns="45720" rIns="91440" bIns="45720" anchor="ctr" anchorCtr="0"/>
          <a:p>
            <a:r>
              <a:rPr lang="ru-RU" altLang="ru-RU" dirty="0">
                <a:sym typeface="+mn-ea"/>
              </a:rPr>
              <a:t>Застосовуємо ООП-підхід</a:t>
            </a:r>
            <a:endParaRPr lang="ru-RU" altLang="ru-RU" dirty="0">
              <a:sym typeface="+mn-ea"/>
            </a:endParaRPr>
          </a:p>
        </p:txBody>
      </p:sp>
      <p:sp>
        <p:nvSpPr>
          <p:cNvPr id="3" name="Объект 2"/>
          <p:cNvSpPr>
            <a:spLocks noGrp="1"/>
          </p:cNvSpPr>
          <p:nvPr>
            <p:ph idx="1"/>
          </p:nvPr>
        </p:nvSpPr>
        <p:spPr>
          <a:xfrm>
            <a:off x="463550" y="1412875"/>
            <a:ext cx="3892550" cy="467995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Char char="l"/>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Тип об'єкта: </a:t>
            </a:r>
            <a:r>
              <a:rPr kumimoji="0" lang="ru-RU" sz="2300" b="1" i="0" u="none" strike="noStrike" kern="0" cap="none" spc="0" normalizeH="0" baseline="0" noProof="0" dirty="0" smtClean="0">
                <a:ln>
                  <a:noFill/>
                </a:ln>
                <a:solidFill>
                  <a:schemeClr val="tx1"/>
                </a:solidFill>
                <a:effectLst/>
                <a:uLnTx/>
                <a:uFillTx/>
                <a:latin typeface="+mn-lt"/>
                <a:ea typeface="+mn-ea"/>
                <a:cs typeface="+mn-cs"/>
              </a:rPr>
              <a:t>маркер</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Char char="l"/>
              <a:defRPr/>
            </a:pPr>
            <a:r>
              <a:rPr kumimoji="0" lang="ru-RU" sz="2300" b="1" i="0" u="none" strike="noStrike" kern="0" cap="none" spc="0" normalizeH="0" baseline="0" noProof="0" dirty="0" smtClean="0">
                <a:ln>
                  <a:noFill/>
                </a:ln>
                <a:solidFill>
                  <a:schemeClr val="tx1"/>
                </a:solidFill>
                <a:effectLst/>
                <a:uLnTx/>
                <a:uFillTx/>
                <a:latin typeface="+mn-lt"/>
                <a:ea typeface="+mn-ea"/>
                <a:cs typeface="+mn-cs"/>
              </a:rPr>
              <a:t>Поля</a:t>
            </a:r>
            <a:r>
              <a:rPr kumimoji="0" lang="ru-RU" sz="2300" i="0" u="none" strike="noStrike" kern="0" cap="none" spc="0" normalizeH="0" baseline="0" noProof="0" dirty="0" smtClean="0">
                <a:ln>
                  <a:noFill/>
                </a:ln>
                <a:solidFill>
                  <a:schemeClr val="tx1"/>
                </a:solidFill>
                <a:effectLst/>
                <a:uLnTx/>
                <a:uFillTx/>
                <a:latin typeface="+mn-lt"/>
                <a:ea typeface="+mn-ea"/>
                <a:cs typeface="+mn-cs"/>
              </a:rPr>
              <a:t>:</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Модель: Friday</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Колір ковпачка: синій</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Довжина корпусу: 138 мм</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Char char="l"/>
              <a:defRPr/>
            </a:pPr>
            <a:r>
              <a:rPr kumimoji="0" lang="ru-RU" sz="2300" b="1" i="0" u="none" strike="noStrike" kern="0" cap="none" spc="0" normalizeH="0" baseline="0" noProof="0" dirty="0" smtClean="0">
                <a:ln>
                  <a:noFill/>
                </a:ln>
                <a:solidFill>
                  <a:schemeClr val="tx1"/>
                </a:solidFill>
                <a:effectLst/>
                <a:uLnTx/>
                <a:uFillTx/>
                <a:latin typeface="+mn-lt"/>
                <a:ea typeface="+mn-ea"/>
                <a:cs typeface="+mn-cs"/>
              </a:rPr>
              <a:t>Методи</a:t>
            </a:r>
            <a:r>
              <a:rPr kumimoji="0" lang="ru-RU" sz="2300" i="0" u="none" strike="noStrike" kern="0" cap="none" spc="0" normalizeH="0" baseline="0" noProof="0" dirty="0" smtClean="0">
                <a:ln>
                  <a:noFill/>
                </a:ln>
                <a:solidFill>
                  <a:schemeClr val="tx1"/>
                </a:solidFill>
                <a:effectLst/>
                <a:uLnTx/>
                <a:uFillTx/>
                <a:latin typeface="+mn-lt"/>
                <a:ea typeface="+mn-ea"/>
                <a:cs typeface="+mn-cs"/>
              </a:rPr>
              <a:t>:</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Чухатися</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Колупатися</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Влучно кидати</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2300" i="0" u="none" strike="noStrike" kern="0" cap="none" spc="0" normalizeH="0" baseline="0" noProof="0" dirty="0" smtClean="0">
                <a:ln>
                  <a:noFill/>
                </a:ln>
                <a:solidFill>
                  <a:schemeClr val="tx1"/>
                </a:solidFill>
                <a:effectLst/>
                <a:uLnTx/>
                <a:uFillTx/>
                <a:latin typeface="+mn-lt"/>
                <a:ea typeface="+mn-ea"/>
                <a:cs typeface="+mn-cs"/>
              </a:rPr>
              <a:t>- Писати по дошці</a:t>
            </a:r>
            <a:endParaRPr kumimoji="0" lang="ru-RU" sz="2300" i="0" u="none" strike="noStrike" kern="0" cap="none" spc="0" normalizeH="0" baseline="0" noProof="0" dirty="0" smtClean="0">
              <a:ln>
                <a:noFill/>
              </a:ln>
              <a:solidFill>
                <a:schemeClr val="tx1"/>
              </a:solidFill>
              <a:effectLst/>
              <a:uLnTx/>
              <a:uFillTx/>
              <a:latin typeface="+mn-lt"/>
              <a:ea typeface="+mn-ea"/>
              <a:cs typeface="+mn-cs"/>
            </a:endParaRPr>
          </a:p>
        </p:txBody>
      </p:sp>
      <p:pic>
        <p:nvPicPr>
          <p:cNvPr id="28675" name="Picture 2" descr="C:\Users\Саша\Desktop\marker.JPG"/>
          <p:cNvPicPr>
            <a:picLocks noChangeAspect="1"/>
          </p:cNvPicPr>
          <p:nvPr/>
        </p:nvPicPr>
        <p:blipFill>
          <a:blip r:embed="rId1"/>
          <a:stretch>
            <a:fillRect/>
          </a:stretch>
        </p:blipFill>
        <p:spPr>
          <a:xfrm>
            <a:off x="4514850" y="2133600"/>
            <a:ext cx="4521200" cy="3044825"/>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Заголовок 1"/>
          <p:cNvSpPr>
            <a:spLocks noGrp="1"/>
          </p:cNvSpPr>
          <p:nvPr>
            <p:ph type="title"/>
          </p:nvPr>
        </p:nvSpPr>
        <p:spPr/>
        <p:txBody>
          <a:bodyPr vert="horz" wrap="square" lIns="91440" tIns="45720" rIns="91440" bIns="45720" anchor="ctr" anchorCtr="0"/>
          <a:p>
            <a:r>
              <a:rPr lang="ru-RU" altLang="ru-RU" dirty="0"/>
              <a:t>Поняття класу</a:t>
            </a:r>
            <a:endParaRPr lang="ru-RU" altLang="ru-RU" dirty="0"/>
          </a:p>
        </p:txBody>
      </p:sp>
      <p:sp>
        <p:nvSpPr>
          <p:cNvPr id="30722" name="Объект 2"/>
          <p:cNvSpPr>
            <a:spLocks noGrp="1"/>
          </p:cNvSpPr>
          <p:nvPr>
            <p:ph idx="1"/>
          </p:nvPr>
        </p:nvSpPr>
        <p:spPr>
          <a:xfrm>
            <a:off x="679450" y="1457325"/>
            <a:ext cx="7924800" cy="4419600"/>
          </a:xfrm>
        </p:spPr>
        <p:txBody>
          <a:bodyPr vert="horz" wrap="square" lIns="91440" tIns="45720" rIns="91440" bIns="45720" anchor="t" anchorCtr="0"/>
          <a:p>
            <a:pPr marL="0" indent="0">
              <a:buNone/>
            </a:pPr>
            <a:r>
              <a:rPr lang="ru-RU" altLang="ru-RU" sz="2700" b="1" dirty="0">
                <a:solidFill>
                  <a:srgbClr val="FF0000"/>
                </a:solidFill>
              </a:rPr>
              <a:t>Клас - це загальний опис стану і поведінки деякої сутності, а також правил взаємодії</a:t>
            </a:r>
            <a:r>
              <a:rPr lang="uk-UA" altLang="ru-RU" sz="2700" b="1" dirty="0">
                <a:solidFill>
                  <a:srgbClr val="FF0000"/>
                </a:solidFill>
              </a:rPr>
              <a:t>    </a:t>
            </a:r>
            <a:r>
              <a:rPr lang="ru-RU" altLang="ru-RU" sz="2700" b="1" dirty="0">
                <a:solidFill>
                  <a:srgbClr val="FF0000"/>
                </a:solidFill>
              </a:rPr>
              <a:t> з нею.</a:t>
            </a:r>
            <a:r>
              <a:rPr lang="ru-RU" altLang="ru-RU" sz="2700" dirty="0"/>
              <a:t> Клас - це свого роду схема або креслення, за яким будуватимуться майбутні об'єкти. Клас можна розглядати як набір даних (властивостей, полів, атрибутів) і функцій</a:t>
            </a:r>
            <a:r>
              <a:rPr lang="uk-UA" altLang="ru-RU" sz="2700" dirty="0"/>
              <a:t>     </a:t>
            </a:r>
            <a:r>
              <a:rPr lang="ru-RU" altLang="ru-RU" sz="2700" dirty="0"/>
              <a:t> для роботи з ними (методів). Також це користувацький структурований тип даних, введений програмістом на основі </a:t>
            </a:r>
            <a:r>
              <a:rPr lang="uk-UA" altLang="ru-RU" sz="2700" dirty="0"/>
              <a:t>                   </a:t>
            </a:r>
            <a:r>
              <a:rPr lang="ru-RU" altLang="ru-RU" sz="2700" dirty="0"/>
              <a:t>вже існуючих типів.</a:t>
            </a:r>
            <a:endParaRPr lang="ru-RU" altLang="ru-RU" sz="2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Заголовок 1"/>
          <p:cNvSpPr>
            <a:spLocks noGrp="1"/>
          </p:cNvSpPr>
          <p:nvPr>
            <p:ph type="title"/>
          </p:nvPr>
        </p:nvSpPr>
        <p:spPr/>
        <p:txBody>
          <a:bodyPr vert="horz" wrap="square" lIns="91440" tIns="45720" rIns="91440" bIns="45720" anchor="ctr" anchorCtr="0"/>
          <a:p>
            <a:r>
              <a:rPr lang="ru-RU" altLang="ru-RU" dirty="0"/>
              <a:t>Об'єкт. </a:t>
            </a:r>
            <a:r>
              <a:rPr lang="uk-UA" altLang="ru-RU" dirty="0"/>
              <a:t>Атрибути </a:t>
            </a:r>
            <a:r>
              <a:rPr lang="ru-RU" altLang="ru-RU" dirty="0"/>
              <a:t>та методи</a:t>
            </a:r>
            <a:endParaRPr lang="ru-RU" altLang="ru-RU" dirty="0"/>
          </a:p>
        </p:txBody>
      </p:sp>
      <p:sp>
        <p:nvSpPr>
          <p:cNvPr id="31746" name="Объект 2"/>
          <p:cNvSpPr>
            <a:spLocks noGrp="1"/>
          </p:cNvSpPr>
          <p:nvPr>
            <p:ph idx="1"/>
          </p:nvPr>
        </p:nvSpPr>
        <p:spPr>
          <a:xfrm>
            <a:off x="602615" y="1484630"/>
            <a:ext cx="8006715" cy="4419600"/>
          </a:xfrm>
        </p:spPr>
        <p:txBody>
          <a:bodyPr vert="horz" wrap="square" lIns="91440" tIns="45720" rIns="91440" bIns="45720" anchor="t" anchorCtr="0"/>
          <a:p>
            <a:pPr marL="0" indent="0">
              <a:buNone/>
            </a:pPr>
            <a:r>
              <a:rPr lang="ru-RU" altLang="ru-RU" sz="1800" b="1" dirty="0">
                <a:solidFill>
                  <a:schemeClr val="tx1"/>
                </a:solidFill>
              </a:rPr>
              <a:t>Об'єкт</a:t>
            </a:r>
            <a:r>
              <a:rPr lang="ru-RU" altLang="ru-RU" sz="1800" dirty="0">
                <a:solidFill>
                  <a:schemeClr val="tx1"/>
                </a:solidFill>
              </a:rPr>
              <a:t> (екземпляр класу) - це окремий представник класу, що має свій конкретний стан, і поведінку, повністю визначену класом.</a:t>
            </a:r>
            <a:endParaRPr lang="ru-RU" altLang="ru-RU" sz="1800" dirty="0">
              <a:solidFill>
                <a:schemeClr val="tx1"/>
              </a:solidFill>
            </a:endParaRPr>
          </a:p>
          <a:p>
            <a:pPr marL="0" indent="0">
              <a:buNone/>
            </a:pPr>
            <a:endParaRPr lang="ru-RU" altLang="ru-RU" sz="1800" dirty="0">
              <a:solidFill>
                <a:schemeClr val="tx1"/>
              </a:solidFill>
            </a:endParaRPr>
          </a:p>
          <a:p>
            <a:pPr marL="0" indent="0">
              <a:buNone/>
            </a:pPr>
            <a:r>
              <a:rPr lang="en-US" altLang="en-US" sz="1800" b="1" dirty="0">
                <a:solidFill>
                  <a:schemeClr val="tx1"/>
                </a:solidFill>
              </a:rPr>
              <a:t>Атрибут </a:t>
            </a:r>
            <a:r>
              <a:rPr lang="en-US" altLang="en-US" sz="1800" dirty="0">
                <a:solidFill>
                  <a:schemeClr val="tx1"/>
                </a:solidFill>
              </a:rPr>
              <a:t>(або поле) — це змінна, пов'язана з класом або з конкретним екземпляром класу.</a:t>
            </a:r>
            <a:r>
              <a:rPr lang="uk-UA" altLang="en-US" sz="1800" dirty="0">
                <a:solidFill>
                  <a:schemeClr val="tx1"/>
                </a:solidFill>
              </a:rPr>
              <a:t> </a:t>
            </a:r>
            <a:r>
              <a:rPr lang="en-US" altLang="en-US" sz="1800" dirty="0">
                <a:solidFill>
                  <a:schemeClr val="tx1"/>
                </a:solidFill>
              </a:rPr>
              <a:t>Атрибути екземпляра (instance attributes) зберігають індивідуальний стан об'єкта.</a:t>
            </a:r>
            <a:r>
              <a:rPr lang="uk-UA" altLang="en-US" sz="1800" dirty="0">
                <a:solidFill>
                  <a:schemeClr val="tx1"/>
                </a:solidFill>
              </a:rPr>
              <a:t> </a:t>
            </a:r>
            <a:r>
              <a:rPr lang="en-US" altLang="en-US" sz="1800" dirty="0">
                <a:solidFill>
                  <a:schemeClr val="tx1"/>
                </a:solidFill>
              </a:rPr>
              <a:t>Атрибути класу (class attributes) є спільними для всіх екземплярів і зазвичай використовуються для констант, налаштувань або спільного стану.</a:t>
            </a:r>
            <a:endParaRPr lang="en-US" altLang="en-US" sz="1800" dirty="0">
              <a:solidFill>
                <a:schemeClr val="tx1"/>
              </a:solidFill>
            </a:endParaRPr>
          </a:p>
          <a:p>
            <a:pPr marL="0" indent="0">
              <a:buNone/>
            </a:pPr>
            <a:r>
              <a:rPr lang="en-US" altLang="en-US" sz="1800" dirty="0">
                <a:solidFill>
                  <a:schemeClr val="tx1"/>
                </a:solidFill>
              </a:rPr>
              <a:t>У сучасному Python тип атрибута можна вказати (анотувати) прямо в тілі класу — це type hint, який допомагає IDE, статичним аналізаторам</a:t>
            </a:r>
            <a:r>
              <a:rPr lang="uk-UA" altLang="en-US" sz="1800" dirty="0">
                <a:solidFill>
                  <a:schemeClr val="tx1"/>
                </a:solidFill>
              </a:rPr>
              <a:t>          </a:t>
            </a:r>
            <a:r>
              <a:rPr lang="en-US" altLang="en-US" sz="1800" dirty="0">
                <a:solidFill>
                  <a:schemeClr val="tx1"/>
                </a:solidFill>
              </a:rPr>
              <a:t> і читачам коду, але не впливає на виконання програми.</a:t>
            </a:r>
            <a:endParaRPr lang="en-US" altLang="en-US" sz="1800" dirty="0">
              <a:solidFill>
                <a:schemeClr val="tx1"/>
              </a:solidFill>
            </a:endParaRPr>
          </a:p>
          <a:p>
            <a:pPr marL="0" indent="0">
              <a:buNone/>
            </a:pPr>
            <a:endParaRPr lang="en-US" altLang="en-US" sz="1800" dirty="0">
              <a:solidFill>
                <a:schemeClr val="tx1"/>
              </a:solidFill>
            </a:endParaRPr>
          </a:p>
          <a:p>
            <a:pPr marL="0" indent="0">
              <a:buNone/>
            </a:pPr>
            <a:r>
              <a:rPr lang="ru-RU" altLang="ru-RU" sz="1800" b="1" dirty="0">
                <a:solidFill>
                  <a:schemeClr val="tx1"/>
                </a:solidFill>
              </a:rPr>
              <a:t>Метод </a:t>
            </a:r>
            <a:r>
              <a:rPr lang="ru-RU" altLang="ru-RU" sz="1800" dirty="0">
                <a:solidFill>
                  <a:schemeClr val="tx1"/>
                </a:solidFill>
              </a:rPr>
              <a:t>- це функція або процедура, що належить об'єкту або класу.</a:t>
            </a:r>
            <a:endParaRPr lang="ru-RU" altLang="ru-RU" sz="18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Заголовок 1"/>
          <p:cNvSpPr>
            <a:spLocks noGrp="1"/>
          </p:cNvSpPr>
          <p:nvPr>
            <p:ph type="title"/>
          </p:nvPr>
        </p:nvSpPr>
        <p:spPr/>
        <p:txBody>
          <a:bodyPr vert="horz" wrap="square" lIns="91440" tIns="45720" rIns="91440" bIns="45720" anchor="ctr" anchorCtr="0"/>
          <a:p>
            <a:r>
              <a:rPr lang="ru-RU" altLang="ru-RU" sz="3900" dirty="0"/>
              <a:t>Приклад об'єктної декомпозиції</a:t>
            </a:r>
            <a:endParaRPr lang="ru-RU" altLang="ru-RU" sz="3900" dirty="0"/>
          </a:p>
        </p:txBody>
      </p:sp>
      <p:pic>
        <p:nvPicPr>
          <p:cNvPr id="2" name="Picture 1" descr="1660798780_27-sportishka-com-p-razobrannii-avtomobil-krasivo-foto-54"/>
          <p:cNvPicPr>
            <a:picLocks noChangeAspect="1"/>
          </p:cNvPicPr>
          <p:nvPr/>
        </p:nvPicPr>
        <p:blipFill>
          <a:blip r:embed="rId1"/>
          <a:stretch>
            <a:fillRect/>
          </a:stretch>
        </p:blipFill>
        <p:spPr>
          <a:xfrm>
            <a:off x="-340360" y="1341120"/>
            <a:ext cx="9519920" cy="576707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Об'єктна декомпозиція</a:t>
            </a:r>
            <a:endParaRPr lang="ru-RU" altLang="ru-RU" dirty="0"/>
          </a:p>
        </p:txBody>
      </p:sp>
      <p:sp>
        <p:nvSpPr>
          <p:cNvPr id="35842" name="Объект 2"/>
          <p:cNvSpPr>
            <a:spLocks noGrp="1"/>
          </p:cNvSpPr>
          <p:nvPr>
            <p:ph idx="1"/>
          </p:nvPr>
        </p:nvSpPr>
        <p:spPr>
          <a:xfrm>
            <a:off x="600075" y="1457960"/>
            <a:ext cx="8075930" cy="4419600"/>
          </a:xfrm>
        </p:spPr>
        <p:txBody>
          <a:bodyPr vert="horz" wrap="square" lIns="91440" tIns="45720" rIns="91440" bIns="45720" anchor="t" anchorCtr="0"/>
          <a:p>
            <a:pPr marL="0" indent="0">
              <a:buNone/>
            </a:pPr>
            <a:r>
              <a:rPr lang="ru-RU" altLang="ru-RU" sz="3000" dirty="0"/>
              <a:t>Об'єктна декомпозиція в об'єктно-орієнтованому програмуванні (ООП) - </a:t>
            </a:r>
            <a:r>
              <a:rPr lang="uk-UA" altLang="ru-RU" sz="3000" dirty="0"/>
              <a:t>       </a:t>
            </a:r>
            <a:r>
              <a:rPr lang="ru-RU" altLang="ru-RU" sz="3000" dirty="0"/>
              <a:t>це методологія проєктування програм, </a:t>
            </a:r>
            <a:r>
              <a:rPr lang="uk-UA" altLang="ru-RU" sz="3000" dirty="0"/>
              <a:t>          </a:t>
            </a:r>
            <a:r>
              <a:rPr lang="ru-RU" altLang="ru-RU" sz="3000" dirty="0"/>
              <a:t>що передбачає </a:t>
            </a:r>
            <a:r>
              <a:rPr lang="ru-RU" altLang="ru-RU" sz="3000" b="1" dirty="0"/>
              <a:t>розбиття системи на дрібніші, але логічно пов'язані об'єкти</a:t>
            </a:r>
            <a:r>
              <a:rPr lang="ru-RU" altLang="ru-RU" sz="3000" dirty="0"/>
              <a:t>. Цей підхід дає змогу більш ефективно керувати складністю програми, роблячи код модульнішим, зрозумілішим і легше підтримуваним.</a:t>
            </a:r>
            <a:endParaRPr lang="ru-RU" altLang="ru-RU" sz="3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Об'єкти</a:t>
            </a:r>
            <a:endParaRPr lang="ru-RU" altLang="ru-RU" dirty="0"/>
          </a:p>
        </p:txBody>
      </p:sp>
      <p:sp>
        <p:nvSpPr>
          <p:cNvPr id="35842" name="Объект 2"/>
          <p:cNvSpPr>
            <a:spLocks noGrp="1"/>
          </p:cNvSpPr>
          <p:nvPr>
            <p:ph idx="1"/>
          </p:nvPr>
        </p:nvSpPr>
        <p:spPr>
          <a:xfrm>
            <a:off x="600075" y="1457960"/>
            <a:ext cx="8075930" cy="4419600"/>
          </a:xfrm>
        </p:spPr>
        <p:txBody>
          <a:bodyPr vert="horz" wrap="square" lIns="91440" tIns="45720" rIns="91440" bIns="45720" anchor="t" anchorCtr="0"/>
          <a:p>
            <a:pPr marL="0" indent="0">
              <a:buNone/>
            </a:pPr>
            <a:r>
              <a:rPr lang="ru-RU" altLang="ru-RU" sz="3000" dirty="0"/>
              <a:t>В ООП програми моделюються </a:t>
            </a:r>
            <a:r>
              <a:rPr lang="uk-UA" altLang="ru-RU" sz="3000" dirty="0"/>
              <a:t>                  </a:t>
            </a:r>
            <a:r>
              <a:rPr lang="ru-RU" altLang="ru-RU" sz="3000" dirty="0"/>
              <a:t>як сукупність об'єктів, які представляють реальні або абстрактні сутності. </a:t>
            </a:r>
            <a:r>
              <a:rPr lang="uk-UA" altLang="ru-RU" sz="3000" dirty="0"/>
              <a:t> </a:t>
            </a:r>
            <a:r>
              <a:rPr lang="ru-RU" altLang="ru-RU" sz="3000" dirty="0"/>
              <a:t>Наприклад, об'єкти можуть представляти студентів, автомобілі, книги тощо.</a:t>
            </a:r>
            <a:endParaRPr lang="ru-RU" altLang="ru-RU" sz="3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Декомпозиція</a:t>
            </a:r>
            <a:endParaRPr lang="ru-RU" altLang="ru-RU" dirty="0"/>
          </a:p>
        </p:txBody>
      </p:sp>
      <p:sp>
        <p:nvSpPr>
          <p:cNvPr id="35842" name="Объект 2"/>
          <p:cNvSpPr>
            <a:spLocks noGrp="1"/>
          </p:cNvSpPr>
          <p:nvPr>
            <p:ph idx="1"/>
          </p:nvPr>
        </p:nvSpPr>
        <p:spPr>
          <a:xfrm>
            <a:off x="600075" y="1457960"/>
            <a:ext cx="7607935" cy="4419600"/>
          </a:xfrm>
        </p:spPr>
        <p:txBody>
          <a:bodyPr vert="horz" wrap="square" lIns="91440" tIns="45720" rIns="91440" bIns="45720" anchor="t" anchorCtr="0"/>
          <a:p>
            <a:pPr marL="0" indent="0">
              <a:buNone/>
            </a:pPr>
            <a:r>
              <a:rPr lang="ru-RU" altLang="ru-RU" sz="3000" dirty="0"/>
              <a:t>Декомпозиція означає розбиття системи</a:t>
            </a:r>
            <a:r>
              <a:rPr lang="uk-UA" altLang="ru-RU" sz="3000" dirty="0"/>
              <a:t> </a:t>
            </a:r>
            <a:r>
              <a:rPr lang="ru-RU" altLang="ru-RU" sz="3000" dirty="0"/>
              <a:t> </a:t>
            </a:r>
            <a:r>
              <a:rPr lang="uk-UA" altLang="ru-RU" sz="3000" dirty="0"/>
              <a:t> </a:t>
            </a:r>
            <a:r>
              <a:rPr lang="ru-RU" altLang="ru-RU" sz="3000" dirty="0"/>
              <a:t>на більш дрібні компоненти або об'єкти. </a:t>
            </a:r>
            <a:r>
              <a:rPr lang="uk-UA" altLang="ru-RU" sz="3000" dirty="0"/>
              <a:t>    </a:t>
            </a:r>
            <a:r>
              <a:rPr lang="ru-RU" altLang="ru-RU" sz="3000" dirty="0"/>
              <a:t>Ці компоненти можуть взаємодіяти один </a:t>
            </a:r>
            <a:r>
              <a:rPr lang="uk-UA" altLang="ru-RU" sz="3000" dirty="0"/>
              <a:t>     </a:t>
            </a:r>
            <a:r>
              <a:rPr lang="ru-RU" altLang="ru-RU" sz="3000" dirty="0"/>
              <a:t>з одним, обмінюючись повідомленнями </a:t>
            </a:r>
            <a:r>
              <a:rPr lang="uk-UA" altLang="ru-RU" sz="3000" dirty="0"/>
              <a:t>       </a:t>
            </a:r>
            <a:r>
              <a:rPr lang="ru-RU" altLang="ru-RU" sz="3000" dirty="0"/>
              <a:t>і викликаючи методи.</a:t>
            </a:r>
            <a:endParaRPr lang="ru-RU" altLang="ru-RU" sz="3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Зв'язки</a:t>
            </a:r>
            <a:endParaRPr lang="ru-RU" altLang="ru-RU" dirty="0"/>
          </a:p>
        </p:txBody>
      </p:sp>
      <p:sp>
        <p:nvSpPr>
          <p:cNvPr id="35842" name="Объект 2"/>
          <p:cNvSpPr>
            <a:spLocks noGrp="1"/>
          </p:cNvSpPr>
          <p:nvPr>
            <p:ph idx="1"/>
          </p:nvPr>
        </p:nvSpPr>
        <p:spPr>
          <a:xfrm>
            <a:off x="600075" y="1457960"/>
            <a:ext cx="8075930" cy="4419600"/>
          </a:xfrm>
        </p:spPr>
        <p:txBody>
          <a:bodyPr vert="horz" wrap="square" lIns="91440" tIns="45720" rIns="91440" bIns="45720" anchor="t" anchorCtr="0"/>
          <a:p>
            <a:pPr marL="0" indent="0">
              <a:buNone/>
            </a:pPr>
            <a:r>
              <a:rPr lang="ru-RU" altLang="ru-RU" sz="3000" dirty="0"/>
              <a:t>Важливим аспектом об'єктної декомпозиції є відносини між об'єктами. Вони можуть бути виражені </a:t>
            </a:r>
            <a:r>
              <a:rPr lang="ru-RU" altLang="ru-RU" sz="3000" b="1" dirty="0"/>
              <a:t>асоціацією, агрегуванням, композицією, успадкуванням, </a:t>
            </a:r>
            <a:r>
              <a:rPr lang="en-US" altLang="ru-RU" sz="3000" b="1" dirty="0"/>
              <a:t>              </a:t>
            </a:r>
            <a:r>
              <a:rPr lang="ru-RU" altLang="ru-RU" sz="3000" b="1" dirty="0"/>
              <a:t>або реалізацією інтерфейсу</a:t>
            </a:r>
            <a:r>
              <a:rPr lang="ru-RU" altLang="ru-RU" sz="3000" dirty="0"/>
              <a:t>. </a:t>
            </a:r>
            <a:r>
              <a:rPr lang="en-US" altLang="ru-RU" sz="3000" dirty="0"/>
              <a:t>           </a:t>
            </a:r>
            <a:r>
              <a:rPr lang="ru-RU" altLang="ru-RU" sz="3000" dirty="0"/>
              <a:t>Зв'язки визначають, як об'єкти взаємодіють,</a:t>
            </a:r>
            <a:r>
              <a:rPr lang="uk-UA" altLang="ru-RU" sz="3000" dirty="0"/>
              <a:t>             </a:t>
            </a:r>
            <a:r>
              <a:rPr lang="ru-RU" altLang="ru-RU" sz="3000" dirty="0"/>
              <a:t> і як вони організовані в системі.</a:t>
            </a:r>
            <a:endParaRPr lang="ru-RU" altLang="ru-RU" sz="3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Модульність</a:t>
            </a:r>
            <a:endParaRPr lang="ru-RU" altLang="ru-RU" dirty="0"/>
          </a:p>
        </p:txBody>
      </p:sp>
      <p:sp>
        <p:nvSpPr>
          <p:cNvPr id="35842" name="Объект 2"/>
          <p:cNvSpPr>
            <a:spLocks noGrp="1"/>
          </p:cNvSpPr>
          <p:nvPr>
            <p:ph idx="1"/>
          </p:nvPr>
        </p:nvSpPr>
        <p:spPr>
          <a:xfrm>
            <a:off x="600075" y="1457960"/>
            <a:ext cx="8075930" cy="4419600"/>
          </a:xfrm>
        </p:spPr>
        <p:txBody>
          <a:bodyPr vert="horz" wrap="square" lIns="91440" tIns="45720" rIns="91440" bIns="45720" anchor="t" anchorCtr="0"/>
          <a:p>
            <a:pPr marL="0" indent="0">
              <a:buNone/>
            </a:pPr>
            <a:r>
              <a:rPr lang="ru-RU" altLang="ru-RU" sz="3000" dirty="0"/>
              <a:t>Підхід до об'єктної декомпозиції сприяє модульності коду, що означає, що кожен об'єкт виконує певні функції і може бути змінений незалежно від інших об'єктів. </a:t>
            </a:r>
            <a:r>
              <a:rPr lang="uk-UA" altLang="ru-RU" sz="3000" dirty="0"/>
              <a:t>     </a:t>
            </a:r>
            <a:r>
              <a:rPr lang="ru-RU" altLang="ru-RU" sz="3000" dirty="0"/>
              <a:t>Це спрощує розробку, тестування </a:t>
            </a:r>
            <a:r>
              <a:rPr lang="uk-UA" altLang="ru-RU" sz="3000" dirty="0"/>
              <a:t>               </a:t>
            </a:r>
            <a:r>
              <a:rPr lang="ru-RU" altLang="ru-RU" sz="3000" dirty="0"/>
              <a:t>та підтримку програм.</a:t>
            </a:r>
            <a:endParaRPr lang="ru-RU" altLang="ru-RU"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Заголовок 1"/>
          <p:cNvSpPr>
            <a:spLocks noGrp="1"/>
          </p:cNvSpPr>
          <p:nvPr>
            <p:ph type="title"/>
          </p:nvPr>
        </p:nvSpPr>
        <p:spPr/>
        <p:txBody>
          <a:bodyPr vert="horz" wrap="square" lIns="91440" tIns="45720" rIns="91440" bIns="45720" anchor="ctr" anchorCtr="0"/>
          <a:p>
            <a:r>
              <a:rPr lang="uk-UA" altLang="ru-RU" dirty="0"/>
              <a:t>Загальний вигляд класу</a:t>
            </a:r>
            <a:endParaRPr lang="uk-UA" altLang="ru-RU" dirty="0"/>
          </a:p>
        </p:txBody>
      </p:sp>
      <p:sp>
        <p:nvSpPr>
          <p:cNvPr id="39938" name="Объект 2"/>
          <p:cNvSpPr>
            <a:spLocks noGrp="1"/>
          </p:cNvSpPr>
          <p:nvPr>
            <p:ph idx="1"/>
          </p:nvPr>
        </p:nvSpPr>
        <p:spPr/>
        <p:txBody>
          <a:bodyPr vert="horz" wrap="square" lIns="91440" tIns="45720" rIns="91440" bIns="45720" anchor="t" anchorCtr="0"/>
          <a:p>
            <a:pPr marL="0" indent="0" algn="ctr">
              <a:buNone/>
            </a:pPr>
            <a:r>
              <a:rPr lang="en-US" altLang="en-US" b="1" dirty="0">
                <a:hlinkClick r:id="rId1" action="ppaction://hlinkfile"/>
              </a:rPr>
              <a:t>https://gist.github.com/sunmeat/a47344ddbcc19c2aeca972a24984aa9b</a:t>
            </a:r>
            <a:endParaRPr lang="en-US" altLang="en-US" b="1" dirty="0">
              <a:hlinkClick r:id="rId1" action="ppaction://hlinkfile"/>
            </a:endParaRPr>
          </a:p>
        </p:txBody>
      </p:sp>
      <p:pic>
        <p:nvPicPr>
          <p:cNvPr id="2" name="Picture 1"/>
          <p:cNvPicPr>
            <a:picLocks noChangeAspect="1"/>
          </p:cNvPicPr>
          <p:nvPr/>
        </p:nvPicPr>
        <p:blipFill>
          <a:blip r:embed="rId2"/>
          <a:stretch>
            <a:fillRect/>
          </a:stretch>
        </p:blipFill>
        <p:spPr>
          <a:xfrm>
            <a:off x="546100" y="3092450"/>
            <a:ext cx="7962900" cy="36957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Заголовок 1"/>
          <p:cNvSpPr>
            <a:spLocks noGrp="1"/>
          </p:cNvSpPr>
          <p:nvPr>
            <p:ph type="title"/>
          </p:nvPr>
        </p:nvSpPr>
        <p:spPr/>
        <p:txBody>
          <a:bodyPr vert="horz" wrap="square" lIns="91440" tIns="45720" rIns="91440" bIns="45720" anchor="ctr" anchorCtr="0"/>
          <a:p>
            <a:r>
              <a:rPr lang="uk-UA" dirty="0"/>
              <a:t>Приклад класу</a:t>
            </a:r>
            <a:endParaRPr lang="uk-UA" dirty="0"/>
          </a:p>
        </p:txBody>
      </p:sp>
      <p:sp>
        <p:nvSpPr>
          <p:cNvPr id="29698" name="Объект 2"/>
          <p:cNvSpPr>
            <a:spLocks noGrp="1"/>
          </p:cNvSpPr>
          <p:nvPr>
            <p:ph idx="1"/>
          </p:nvPr>
        </p:nvSpPr>
        <p:spPr>
          <a:xfrm>
            <a:off x="534988" y="1413193"/>
            <a:ext cx="7924800" cy="4419600"/>
          </a:xfrm>
        </p:spPr>
        <p:txBody>
          <a:bodyPr vert="horz" wrap="square" lIns="91440" tIns="45720" rIns="91440" bIns="45720" anchor="t" anchorCtr="0"/>
          <a:p>
            <a:pPr marL="0" indent="0" algn="ctr">
              <a:buNone/>
            </a:pPr>
            <a:r>
              <a:rPr lang="en-US" altLang="en-US" sz="2800" b="1" dirty="0">
                <a:latin typeface="Verdana" panose="020B0604030504040204" pitchFamily="34" charset="0"/>
                <a:ea typeface="Verdana" panose="020B0604030504040204" pitchFamily="34" charset="0"/>
                <a:hlinkClick r:id="rId1" action="ppaction://hlinkfile"/>
              </a:rPr>
              <a:t>https://gist.github.com/sunmeat/54c9950b7f4acec898f117856100ebae</a:t>
            </a:r>
            <a:endParaRPr lang="en-US" altLang="en-US" sz="2800" b="1" dirty="0">
              <a:latin typeface="Verdana" panose="020B0604030504040204" pitchFamily="34" charset="0"/>
              <a:ea typeface="Verdana" panose="020B0604030504040204" pitchFamily="34" charset="0"/>
              <a:hlinkClick r:id="rId1" action="ppaction://hlinkfile"/>
            </a:endParaRPr>
          </a:p>
        </p:txBody>
      </p:sp>
      <p:pic>
        <p:nvPicPr>
          <p:cNvPr id="2" name="Picture 1"/>
          <p:cNvPicPr>
            <a:picLocks noChangeAspect="1"/>
          </p:cNvPicPr>
          <p:nvPr/>
        </p:nvPicPr>
        <p:blipFill>
          <a:blip r:embed="rId2"/>
          <a:stretch>
            <a:fillRect/>
          </a:stretch>
        </p:blipFill>
        <p:spPr>
          <a:xfrm>
            <a:off x="2727325" y="2477770"/>
            <a:ext cx="3600450" cy="625792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Заголовок 1"/>
          <p:cNvSpPr>
            <a:spLocks noGrp="1"/>
          </p:cNvSpPr>
          <p:nvPr>
            <p:ph type="title"/>
          </p:nvPr>
        </p:nvSpPr>
        <p:spPr/>
        <p:txBody>
          <a:bodyPr vert="horz" wrap="square" lIns="91440" tIns="45720" rIns="91440" bIns="45720" anchor="ctr" anchorCtr="0"/>
          <a:p>
            <a:r>
              <a:rPr lang="ru-RU" altLang="ru-RU" dirty="0"/>
              <a:t>Синтаксис </a:t>
            </a:r>
            <a:r>
              <a:rPr lang="uk-UA" altLang="ru-RU" dirty="0"/>
              <a:t>створення об’єктів</a:t>
            </a:r>
            <a:endParaRPr lang="uk-UA" altLang="ru-RU" dirty="0"/>
          </a:p>
        </p:txBody>
      </p:sp>
      <p:sp>
        <p:nvSpPr>
          <p:cNvPr id="30722" name="Объект 2"/>
          <p:cNvSpPr>
            <a:spLocks noGrp="1"/>
          </p:cNvSpPr>
          <p:nvPr>
            <p:ph idx="1"/>
          </p:nvPr>
        </p:nvSpPr>
        <p:spPr>
          <a:xfrm>
            <a:off x="539115" y="1601470"/>
            <a:ext cx="8084185" cy="4419600"/>
          </a:xfrm>
        </p:spPr>
        <p:txBody>
          <a:bodyPr vert="horz" wrap="square" lIns="91440" tIns="45720" rIns="91440" bIns="45720" anchor="t" anchorCtr="0"/>
          <a:p>
            <a:pPr marL="0" indent="0" algn="ctr">
              <a:buNone/>
            </a:pPr>
            <a:r>
              <a:rPr lang="uk-UA" altLang="ru-RU" dirty="0"/>
              <a:t>і</a:t>
            </a:r>
            <a:r>
              <a:rPr lang="ru-RU" altLang="ru-RU" dirty="0"/>
              <a:t>дентиф</a:t>
            </a:r>
            <a:r>
              <a:rPr lang="uk-UA" altLang="ru-RU" dirty="0"/>
              <a:t>і</a:t>
            </a:r>
            <a:r>
              <a:rPr lang="ru-RU" altLang="ru-RU" dirty="0"/>
              <a:t>катор = </a:t>
            </a:r>
            <a:r>
              <a:rPr lang="ru-RU" altLang="ru-RU" dirty="0">
                <a:solidFill>
                  <a:srgbClr val="0070C0"/>
                </a:solidFill>
              </a:rPr>
              <a:t>тип</a:t>
            </a:r>
            <a:r>
              <a:rPr lang="ru-RU" altLang="ru-RU" dirty="0"/>
              <a:t>(параметр</a:t>
            </a:r>
            <a:r>
              <a:rPr lang="uk-UA" altLang="ru-RU" dirty="0"/>
              <a:t>и</a:t>
            </a:r>
            <a:r>
              <a:rPr lang="ru-RU" altLang="ru-RU" dirty="0"/>
              <a:t>)</a:t>
            </a:r>
            <a:endParaRPr lang="en-US" altLang="ru-RU" dirty="0"/>
          </a:p>
          <a:p>
            <a:pPr marL="0" indent="0">
              <a:buNone/>
            </a:pPr>
            <a:endParaRPr lang="en-US" altLang="ru-RU" dirty="0">
              <a:solidFill>
                <a:srgbClr val="00B050"/>
              </a:solidFill>
            </a:endParaRPr>
          </a:p>
          <a:p>
            <a:pPr marL="0" indent="0">
              <a:buNone/>
            </a:pPr>
            <a:endParaRPr lang="ru-RU" altLang="ru-RU" dirty="0"/>
          </a:p>
        </p:txBody>
      </p:sp>
      <p:pic>
        <p:nvPicPr>
          <p:cNvPr id="3" name="Picture 2"/>
          <p:cNvPicPr>
            <a:picLocks noChangeAspect="1"/>
          </p:cNvPicPr>
          <p:nvPr/>
        </p:nvPicPr>
        <p:blipFill>
          <a:blip r:embed="rId1"/>
          <a:stretch>
            <a:fillRect/>
          </a:stretch>
        </p:blipFill>
        <p:spPr>
          <a:xfrm>
            <a:off x="195580" y="2588260"/>
            <a:ext cx="8812530" cy="980440"/>
          </a:xfrm>
          <a:prstGeom prst="rect">
            <a:avLst/>
          </a:prstGeom>
        </p:spPr>
      </p:pic>
      <p:pic>
        <p:nvPicPr>
          <p:cNvPr id="4" name="Picture 3"/>
          <p:cNvPicPr>
            <a:picLocks noChangeAspect="1"/>
          </p:cNvPicPr>
          <p:nvPr/>
        </p:nvPicPr>
        <p:blipFill>
          <a:blip r:embed="rId2"/>
          <a:stretch>
            <a:fillRect/>
          </a:stretch>
        </p:blipFill>
        <p:spPr>
          <a:xfrm>
            <a:off x="210820" y="4276090"/>
            <a:ext cx="8761095" cy="224853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6" name="Text Box 7372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uk-UA" sz="4200" dirty="0" err="1">
                <a:solidFill>
                  <a:srgbClr val="FFFFFF"/>
                </a:solidFill>
                <a:latin typeface="Arial" panose="020B0604020202020204" pitchFamily="34" charset="0"/>
              </a:rPr>
              <a:t>Практика</a:t>
            </a:r>
            <a:endParaRPr lang="uk-UA" altLang="uk-UA" sz="4200" dirty="0" err="1">
              <a:solidFill>
                <a:srgbClr val="FFFFFF"/>
              </a:solidFill>
              <a:latin typeface="Arial" panose="020B0604020202020204" pitchFamily="34" charset="0"/>
            </a:endParaRPr>
          </a:p>
        </p:txBody>
      </p:sp>
      <p:sp>
        <p:nvSpPr>
          <p:cNvPr id="149507" name="Text Box 73729"/>
          <p:cNvSpPr txBox="1"/>
          <p:nvPr/>
        </p:nvSpPr>
        <p:spPr>
          <a:xfrm>
            <a:off x="395605" y="1341755"/>
            <a:ext cx="8088630" cy="4419600"/>
          </a:xfrm>
          <a:prstGeom prst="rect">
            <a:avLst/>
          </a:prstGeom>
          <a:noFill/>
          <a:ln w="9525">
            <a:noFill/>
          </a:ln>
        </p:spPr>
        <p:txBody>
          <a:bodyPr wrap="square" lIns="91440" tIns="45720" rIns="91440" bIns="45720" anchor="t" anchorCtr="0"/>
          <a:p>
            <a:pPr marL="339725" indent="-339725" defTabSz="457200">
              <a:spcBef>
                <a:spcPts val="450"/>
              </a:spcBef>
              <a:buClr>
                <a:srgbClr val="996666"/>
              </a:buClr>
              <a:buSzPct val="8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altLang="en-US" sz="1800" dirty="0" err="1">
                <a:solidFill>
                  <a:srgbClr val="000000"/>
                </a:solidFill>
                <a:latin typeface="Arial" panose="020B0604020202020204" pitchFamily="34" charset="0"/>
              </a:rPr>
              <a:t>Напишіть простий клас, який моделює щось дуже знайоме і трохи абсурдне з повсякденного життя. Оберіть один із трьох варіантів: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Банка з огірками</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Сусід згори</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або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Тапочок-одинак</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a:t>
            </a:r>
            <a:r>
              <a:rPr lang="uk-UA" altLang="en-US" sz="1800" dirty="0" err="1">
                <a:solidFill>
                  <a:srgbClr val="000000"/>
                </a:solidFill>
                <a:latin typeface="Arial" panose="020B0604020202020204" pitchFamily="34" charset="0"/>
              </a:rPr>
              <a:t>                    </a:t>
            </a:r>
            <a:r>
              <a:rPr lang="en-US" altLang="en-US" sz="1800" dirty="0" err="1">
                <a:solidFill>
                  <a:srgbClr val="000000"/>
                </a:solidFill>
                <a:latin typeface="Arial" panose="020B0604020202020204" pitchFamily="34" charset="0"/>
              </a:rPr>
              <a:t>У конструкторі класу прийміть 3–4 параметри, які описують початковий стан об’єкта, і збережіть їх як атрибути екземпляра. Додайте </a:t>
            </a:r>
            <a:r>
              <a:rPr lang="uk-UA" altLang="en-US" sz="1800" dirty="0" err="1">
                <a:solidFill>
                  <a:srgbClr val="000000"/>
                </a:solidFill>
                <a:latin typeface="Arial" panose="020B0604020202020204" pitchFamily="34" charset="0"/>
              </a:rPr>
              <a:t>                  </a:t>
            </a:r>
            <a:r>
              <a:rPr lang="en-US" altLang="en-US" sz="1800" dirty="0" err="1">
                <a:solidFill>
                  <a:srgbClr val="000000"/>
                </a:solidFill>
                <a:latin typeface="Arial" panose="020B0604020202020204" pitchFamily="34" charset="0"/>
              </a:rPr>
              <a:t>4 звичайних методи, які виводять смішні або типові фрази про те, </a:t>
            </a:r>
            <a:r>
              <a:rPr lang="uk-UA" altLang="en-US" sz="1800" dirty="0" err="1">
                <a:solidFill>
                  <a:srgbClr val="000000"/>
                </a:solidFill>
                <a:latin typeface="Arial" panose="020B0604020202020204" pitchFamily="34" charset="0"/>
              </a:rPr>
              <a:t>    </a:t>
            </a:r>
            <a:r>
              <a:rPr lang="en-US" altLang="en-US" sz="1800" dirty="0" err="1">
                <a:solidFill>
                  <a:srgbClr val="000000"/>
                </a:solidFill>
                <a:latin typeface="Arial" panose="020B0604020202020204" pitchFamily="34" charset="0"/>
              </a:rPr>
              <a:t>що цей об’єкт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робить</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або в якому він стані зараз. Використовуйте значення атрибутів у виводі, щоб усе виглядало живо і персоналізовано.</a:t>
            </a:r>
            <a:endParaRPr lang="en-US" altLang="en-US" sz="1800" dirty="0" err="1">
              <a:solidFill>
                <a:srgbClr val="000000"/>
              </a:solidFill>
              <a:latin typeface="Arial" panose="020B0604020202020204" pitchFamily="34" charset="0"/>
            </a:endParaRPr>
          </a:p>
          <a:p>
            <a:pPr marL="339725" indent="-339725" defTabSz="457200">
              <a:spcBef>
                <a:spcPts val="450"/>
              </a:spcBef>
              <a:buClr>
                <a:srgbClr val="996666"/>
              </a:buClr>
              <a:buSzPct val="80000"/>
              <a:buFont typeface="Wingdings" panose="05000000000000000000" pitchFamily="2" charset="2"/>
              <a:buChar char=""/>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pPr>
            <a:r>
              <a:rPr lang="en-US" altLang="en-US" sz="1800" dirty="0" err="1">
                <a:solidFill>
                  <a:srgbClr val="000000"/>
                </a:solidFill>
                <a:latin typeface="Arial" panose="020B0604020202020204" pitchFamily="34" charset="0"/>
              </a:rPr>
              <a:t>Наприклад, якщо оберете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Банку з огірками</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то конструктор може приймати марку огірків, чи відкрита банка, скільки розсолу залишилось (у відсотках) і скільки цілих огірків ще є. Методи можуть повідомляти, що хтось украв огірок, банка вже тече, огірки хрумтять чи розсіл закінчується. Аналогічно для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Сусіда згори</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(гучність, ім’я, </a:t>
            </a:r>
            <a:r>
              <a:rPr lang="uk-UA" altLang="en-US" sz="1800" dirty="0" err="1">
                <a:solidFill>
                  <a:srgbClr val="000000"/>
                </a:solidFill>
                <a:latin typeface="Arial" panose="020B0604020202020204" pitchFamily="34" charset="0"/>
              </a:rPr>
              <a:t>     </a:t>
            </a:r>
            <a:r>
              <a:rPr lang="en-US" altLang="en-US" sz="1800" dirty="0" err="1">
                <a:solidFill>
                  <a:srgbClr val="000000"/>
                </a:solidFill>
                <a:latin typeface="Arial" panose="020B0604020202020204" pitchFamily="34" charset="0"/>
              </a:rPr>
              <a:t>що саме він робить) або </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Тапочка-одинака</a:t>
            </a:r>
            <a:r>
              <a:rPr lang="en-US" altLang="en-US" sz="1800" dirty="0" err="1">
                <a:solidFill>
                  <a:srgbClr val="000000"/>
                </a:solidFill>
                <a:latin typeface="Arial" panose="020B0604020202020204" pitchFamily="34" charset="0"/>
              </a:rPr>
              <a:t>»</a:t>
            </a:r>
            <a:r>
              <a:rPr lang="en-US" altLang="en-US" sz="1800" dirty="0" err="1">
                <a:solidFill>
                  <a:srgbClr val="000000"/>
                </a:solidFill>
                <a:latin typeface="Arial" panose="020B0604020202020204" pitchFamily="34" charset="0"/>
              </a:rPr>
              <a:t> (колір, наскільки стоптаний, настрій, де його кинули). Після написання класу покажіть 2–3 приклади створення об’єктів і виклику методів</a:t>
            </a:r>
            <a:r>
              <a:rPr lang="uk-UA" altLang="en-US" sz="1800" dirty="0" err="1">
                <a:solidFill>
                  <a:srgbClr val="000000"/>
                </a:solidFill>
                <a:latin typeface="Arial" panose="020B0604020202020204" pitchFamily="34" charset="0"/>
              </a:rPr>
              <a:t>.</a:t>
            </a:r>
            <a:endParaRPr lang="uk-UA" altLang="en-US" sz="1800" dirty="0" err="1">
              <a:solidFill>
                <a:srgbClr val="000000"/>
              </a:solidFill>
              <a:latin typeface="Arial" panose="020B0604020202020204" pitchFamily="34" charset="0"/>
            </a:endParaRP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Заголовок 1"/>
          <p:cNvSpPr>
            <a:spLocks noGrp="1"/>
          </p:cNvSpPr>
          <p:nvPr>
            <p:ph type="title"/>
          </p:nvPr>
        </p:nvSpPr>
        <p:spPr/>
        <p:txBody>
          <a:bodyPr vert="horz" wrap="square" lIns="91440" tIns="45720" rIns="91440" bIns="45720" anchor="ctr" anchorCtr="0"/>
          <a:p>
            <a:r>
              <a:rPr lang="ru-RU" altLang="ru-RU" dirty="0"/>
              <a:t>Нульовий кит: </a:t>
            </a:r>
            <a:r>
              <a:rPr lang="ru-RU" altLang="ru-RU" dirty="0">
                <a:sym typeface="+mn-ea"/>
              </a:rPr>
              <a:t>Абстрагування </a:t>
            </a:r>
            <a:endParaRPr lang="ru-RU" altLang="ru-RU" dirty="0">
              <a:sym typeface="+mn-ea"/>
            </a:endParaRPr>
          </a:p>
        </p:txBody>
      </p:sp>
      <p:sp>
        <p:nvSpPr>
          <p:cNvPr id="33794" name="Объект 2"/>
          <p:cNvSpPr>
            <a:spLocks noGrp="1"/>
          </p:cNvSpPr>
          <p:nvPr>
            <p:ph idx="1"/>
          </p:nvPr>
        </p:nvSpPr>
        <p:spPr>
          <a:xfrm>
            <a:off x="534988" y="1385888"/>
            <a:ext cx="7924800" cy="4419600"/>
          </a:xfrm>
        </p:spPr>
        <p:txBody>
          <a:bodyPr vert="horz" wrap="square" lIns="91440" tIns="45720" rIns="91440" bIns="45720" anchor="t" anchorCtr="0"/>
          <a:p>
            <a:pPr marL="0" indent="0">
              <a:buNone/>
            </a:pPr>
            <a:r>
              <a:rPr lang="ru-RU" altLang="ru-RU" sz="2600" b="1" dirty="0">
                <a:gradFill>
                  <a:gsLst>
                    <a:gs pos="0">
                      <a:srgbClr val="E30000"/>
                    </a:gs>
                    <a:gs pos="100000">
                      <a:srgbClr val="760303"/>
                    </a:gs>
                  </a:gsLst>
                  <a:lin scaled="0"/>
                </a:gradFill>
              </a:rPr>
              <a:t>Абстрагування означає виокремлення значущої інформації та виключення </a:t>
            </a:r>
            <a:r>
              <a:rPr lang="uk-UA" altLang="ru-RU" sz="2600" b="1" dirty="0">
                <a:gradFill>
                  <a:gsLst>
                    <a:gs pos="0">
                      <a:srgbClr val="E30000"/>
                    </a:gs>
                    <a:gs pos="100000">
                      <a:srgbClr val="760303"/>
                    </a:gs>
                  </a:gsLst>
                  <a:lin scaled="0"/>
                </a:gradFill>
              </a:rPr>
              <a:t>                  </a:t>
            </a:r>
            <a:r>
              <a:rPr lang="ru-RU" altLang="ru-RU" sz="2600" b="1" dirty="0">
                <a:gradFill>
                  <a:gsLst>
                    <a:gs pos="0">
                      <a:srgbClr val="E30000"/>
                    </a:gs>
                    <a:gs pos="100000">
                      <a:srgbClr val="760303"/>
                    </a:gs>
                  </a:gsLst>
                  <a:lin scaled="0"/>
                </a:gradFill>
              </a:rPr>
              <a:t>з розгляду незначущої.</a:t>
            </a:r>
            <a:r>
              <a:rPr lang="ru-RU" altLang="ru-RU" sz="2600" dirty="0">
                <a:gradFill>
                  <a:gsLst>
                    <a:gs pos="0">
                      <a:srgbClr val="E30000"/>
                    </a:gs>
                    <a:gs pos="100000">
                      <a:srgbClr val="760303"/>
                    </a:gs>
                  </a:gsLst>
                  <a:lin scaled="0"/>
                </a:gradFill>
              </a:rPr>
              <a:t> </a:t>
            </a:r>
            <a:r>
              <a:rPr lang="ru-RU" altLang="ru-RU" sz="2600" dirty="0"/>
              <a:t>Абстракція - це набір значущих характеристик об'єкта, які відрізняють його від інших об'єктів. Дуже важливо вибрати правильний ступінь абстракції. Занадто високий ступінь дасть тільки приблизний опис об'єкта, </a:t>
            </a:r>
            <a:r>
              <a:rPr lang="uk-UA" altLang="ru-RU" sz="2600" dirty="0"/>
              <a:t>   </a:t>
            </a:r>
            <a:r>
              <a:rPr lang="ru-RU" altLang="ru-RU" sz="2600" dirty="0"/>
              <a:t>не дасть змоги правильно змоделювати його поведінку. Занадто низький ступінь абстракції зробить модель дуже складною, перевантаженою деталями, і тому непридатною. </a:t>
            </a:r>
            <a:endParaRPr lang="ru-RU" altLang="ru-RU" sz="2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Заголовок 1"/>
          <p:cNvSpPr>
            <a:spLocks noGrp="1"/>
          </p:cNvSpPr>
          <p:nvPr>
            <p:ph type="title"/>
          </p:nvPr>
        </p:nvSpPr>
        <p:spPr/>
        <p:txBody>
          <a:bodyPr vert="horz" wrap="square" lIns="91440" tIns="45720" rIns="91440" bIns="45720" anchor="ctr" anchorCtr="0"/>
          <a:p>
            <a:r>
              <a:rPr lang="ru-RU" altLang="ru-RU" dirty="0"/>
              <a:t>Абстракція даних</a:t>
            </a:r>
            <a:endParaRPr lang="ru-RU" altLang="ru-RU" dirty="0"/>
          </a:p>
        </p:txBody>
      </p:sp>
      <p:pic>
        <p:nvPicPr>
          <p:cNvPr id="34818" name="Picture 2" descr="C:\Users\Саша\Desktop\котик.JPG"/>
          <p:cNvPicPr>
            <a:picLocks noChangeAspect="1"/>
          </p:cNvPicPr>
          <p:nvPr/>
        </p:nvPicPr>
        <p:blipFill>
          <a:blip r:embed="rId1"/>
          <a:stretch>
            <a:fillRect/>
          </a:stretch>
        </p:blipFill>
        <p:spPr>
          <a:xfrm>
            <a:off x="876300" y="1412875"/>
            <a:ext cx="7224713" cy="467995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Інкапсуляція</a:t>
            </a:r>
            <a:endParaRPr lang="ru-RU" altLang="ru-RU" dirty="0"/>
          </a:p>
        </p:txBody>
      </p:sp>
      <p:sp>
        <p:nvSpPr>
          <p:cNvPr id="35842" name="Объект 2"/>
          <p:cNvSpPr>
            <a:spLocks noGrp="1"/>
          </p:cNvSpPr>
          <p:nvPr>
            <p:ph idx="1"/>
          </p:nvPr>
        </p:nvSpPr>
        <p:spPr>
          <a:xfrm>
            <a:off x="600075" y="1457960"/>
            <a:ext cx="8075930" cy="4419600"/>
          </a:xfrm>
        </p:spPr>
        <p:txBody>
          <a:bodyPr vert="horz" wrap="square" lIns="91440" tIns="45720" rIns="91440" bIns="45720" anchor="t" anchorCtr="0"/>
          <a:p>
            <a:pPr marL="0" indent="0">
              <a:buNone/>
            </a:pPr>
            <a:r>
              <a:rPr lang="ru-RU" altLang="ru-RU" sz="3500" dirty="0"/>
              <a:t>Об'єкти зазвичай приховують свою внутрішню реалізацію та надають інтерфейс для взаємодії з ними. </a:t>
            </a:r>
            <a:r>
              <a:rPr lang="uk-UA" altLang="ru-RU" sz="3500" dirty="0"/>
              <a:t>               </a:t>
            </a:r>
            <a:r>
              <a:rPr lang="ru-RU" altLang="ru-RU" sz="3500" dirty="0"/>
              <a:t>Це називається інкапсуляцією та забезпечує захист даних і зменшує залежність між об'єктами.</a:t>
            </a:r>
            <a:endParaRPr lang="ru-RU" altLang="ru-RU" sz="3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ru-RU" dirty="0"/>
              <a:t>Перший кит: Інкапсуляція</a:t>
            </a:r>
            <a:endParaRPr lang="ru-RU" altLang="ru-RU" dirty="0"/>
          </a:p>
        </p:txBody>
      </p:sp>
      <p:sp>
        <p:nvSpPr>
          <p:cNvPr id="35842" name="Объект 2"/>
          <p:cNvSpPr>
            <a:spLocks noGrp="1"/>
          </p:cNvSpPr>
          <p:nvPr>
            <p:ph idx="1"/>
          </p:nvPr>
        </p:nvSpPr>
        <p:spPr>
          <a:xfrm>
            <a:off x="679133" y="1457643"/>
            <a:ext cx="7924800" cy="4419600"/>
          </a:xfrm>
        </p:spPr>
        <p:txBody>
          <a:bodyPr vert="horz" wrap="square" lIns="91440" tIns="45720" rIns="91440" bIns="45720" anchor="t" anchorCtr="0"/>
          <a:p>
            <a:pPr marL="0" indent="0">
              <a:buNone/>
            </a:pPr>
            <a:r>
              <a:rPr lang="ru-RU" altLang="ru-RU" sz="3100" b="1" dirty="0">
                <a:gradFill>
                  <a:gsLst>
                    <a:gs pos="0">
                      <a:srgbClr val="E30000"/>
                    </a:gs>
                    <a:gs pos="100000">
                      <a:srgbClr val="760303"/>
                    </a:gs>
                  </a:gsLst>
                  <a:lin scaled="0"/>
                </a:gradFill>
              </a:rPr>
              <a:t>Інкапсуляція - це принцип, згідно </a:t>
            </a:r>
            <a:r>
              <a:rPr lang="uk-UA" altLang="ru-RU" sz="3100" b="1" dirty="0">
                <a:gradFill>
                  <a:gsLst>
                    <a:gs pos="0">
                      <a:srgbClr val="E30000"/>
                    </a:gs>
                    <a:gs pos="100000">
                      <a:srgbClr val="760303"/>
                    </a:gs>
                  </a:gsLst>
                  <a:lin scaled="0"/>
                </a:gradFill>
              </a:rPr>
              <a:t>         </a:t>
            </a:r>
            <a:r>
              <a:rPr lang="ru-RU" altLang="ru-RU" sz="3100" b="1" dirty="0">
                <a:gradFill>
                  <a:gsLst>
                    <a:gs pos="0">
                      <a:srgbClr val="E30000"/>
                    </a:gs>
                    <a:gs pos="100000">
                      <a:srgbClr val="760303"/>
                    </a:gs>
                  </a:gsLst>
                  <a:lin scaled="0"/>
                </a:gradFill>
              </a:rPr>
              <a:t>з яким дані про властивості об'єкта</a:t>
            </a:r>
            <a:r>
              <a:rPr lang="uk-UA" altLang="ru-RU" sz="3100" b="1" dirty="0">
                <a:gradFill>
                  <a:gsLst>
                    <a:gs pos="0">
                      <a:srgbClr val="E30000"/>
                    </a:gs>
                    <a:gs pos="100000">
                      <a:srgbClr val="760303"/>
                    </a:gs>
                  </a:gsLst>
                  <a:lin scaled="0"/>
                </a:gradFill>
              </a:rPr>
              <a:t>      </a:t>
            </a:r>
            <a:r>
              <a:rPr lang="ru-RU" altLang="ru-RU" sz="3100" b="1" dirty="0">
                <a:gradFill>
                  <a:gsLst>
                    <a:gs pos="0">
                      <a:srgbClr val="E30000"/>
                    </a:gs>
                    <a:gs pos="100000">
                      <a:srgbClr val="760303"/>
                    </a:gs>
                  </a:gsLst>
                  <a:lin scaled="0"/>
                </a:gradFill>
              </a:rPr>
              <a:t> і методи для роботи з цими даними об'єднані в єдине ціле - клас. </a:t>
            </a:r>
            <a:r>
              <a:rPr lang="uk-UA" altLang="ru-RU" sz="3100" b="1" dirty="0">
                <a:gradFill>
                  <a:gsLst>
                    <a:gs pos="0">
                      <a:srgbClr val="E30000"/>
                    </a:gs>
                    <a:gs pos="100000">
                      <a:srgbClr val="760303"/>
                    </a:gs>
                  </a:gsLst>
                  <a:lin scaled="0"/>
                </a:gradFill>
              </a:rPr>
              <a:t>           </a:t>
            </a:r>
            <a:r>
              <a:rPr lang="ru-RU" altLang="ru-RU" sz="3100" b="1" dirty="0">
                <a:gradFill>
                  <a:gsLst>
                    <a:gs pos="0">
                      <a:srgbClr val="E30000"/>
                    </a:gs>
                    <a:gs pos="100000">
                      <a:srgbClr val="760303"/>
                    </a:gs>
                  </a:gsLst>
                  <a:lin scaled="0"/>
                </a:gradFill>
              </a:rPr>
              <a:t>При цьому головною вимогою інкапсуляції є санкціонований доступ до полів класу, тобто доступ</a:t>
            </a:r>
            <a:r>
              <a:rPr lang="uk-UA" altLang="ru-RU" sz="3100" b="1" dirty="0">
                <a:gradFill>
                  <a:gsLst>
                    <a:gs pos="0">
                      <a:srgbClr val="E30000"/>
                    </a:gs>
                    <a:gs pos="100000">
                      <a:srgbClr val="760303"/>
                    </a:gs>
                  </a:gsLst>
                  <a:lin scaled="0"/>
                </a:gradFill>
              </a:rPr>
              <a:t>              </a:t>
            </a:r>
            <a:r>
              <a:rPr lang="ru-RU" altLang="ru-RU" sz="3100" b="1" dirty="0">
                <a:gradFill>
                  <a:gsLst>
                    <a:gs pos="0">
                      <a:srgbClr val="E30000"/>
                    </a:gs>
                    <a:gs pos="100000">
                      <a:srgbClr val="760303"/>
                    </a:gs>
                  </a:gsLst>
                  <a:lin scaled="0"/>
                </a:gradFill>
              </a:rPr>
              <a:t> не напряму, а через інтерфейс класу (його відкриті методи).</a:t>
            </a:r>
            <a:endParaRPr lang="ru-RU" altLang="ru-RU" sz="3100" b="1" dirty="0">
              <a:gradFill>
                <a:gsLst>
                  <a:gs pos="0">
                    <a:srgbClr val="E30000"/>
                  </a:gs>
                  <a:gs pos="100000">
                    <a:srgbClr val="760303"/>
                  </a:gs>
                </a:gsLst>
                <a:lin scaled="0"/>
              </a:gradFill>
            </a:endParaRPr>
          </a:p>
        </p:txBody>
      </p:sp>
      <p:pic>
        <p:nvPicPr>
          <p:cNvPr id="35843" name="Picture 5" descr="https://encrypted-tbn0.gstatic.com/images?q=tbn:ANd9GcS8xZZt4LJibvEpeylKd_RlustFM41DZgTD_MWaUc5pThmbrpHqsA"/>
          <p:cNvPicPr>
            <a:picLocks noChangeAspect="1"/>
          </p:cNvPicPr>
          <p:nvPr/>
        </p:nvPicPr>
        <p:blipFill>
          <a:blip r:embed="rId1"/>
          <a:stretch>
            <a:fillRect/>
          </a:stretch>
        </p:blipFill>
        <p:spPr>
          <a:xfrm>
            <a:off x="6616700" y="5661025"/>
            <a:ext cx="2419350" cy="1150938"/>
          </a:xfrm>
          <a:prstGeom prst="rect">
            <a:avLst/>
          </a:prstGeom>
          <a:noFill/>
          <a:ln w="9525">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Заголовок 1"/>
          <p:cNvSpPr>
            <a:spLocks noGrp="1"/>
          </p:cNvSpPr>
          <p:nvPr>
            <p:ph type="title"/>
          </p:nvPr>
        </p:nvSpPr>
        <p:spPr/>
        <p:txBody>
          <a:bodyPr vert="horz" wrap="square" lIns="91440" tIns="45720" rIns="91440" bIns="45720" anchor="ctr" anchorCtr="0"/>
          <a:p>
            <a:r>
              <a:rPr lang="ru-RU" altLang="ru-RU" dirty="0"/>
              <a:t>Другий кит: Спадкування</a:t>
            </a:r>
            <a:endParaRPr lang="ru-RU" altLang="ru-RU" dirty="0"/>
          </a:p>
        </p:txBody>
      </p:sp>
      <p:sp>
        <p:nvSpPr>
          <p:cNvPr id="36866" name="Объект 2"/>
          <p:cNvSpPr>
            <a:spLocks noGrp="1"/>
          </p:cNvSpPr>
          <p:nvPr>
            <p:ph sz="half" idx="1"/>
          </p:nvPr>
        </p:nvSpPr>
        <p:spPr>
          <a:xfrm>
            <a:off x="609600" y="1600200"/>
            <a:ext cx="7976870" cy="4419600"/>
          </a:xfrm>
        </p:spPr>
        <p:txBody>
          <a:bodyPr vert="horz" wrap="square" lIns="91440" tIns="45720" rIns="91440" bIns="45720" anchor="t" anchorCtr="0"/>
          <a:p>
            <a:pPr marL="0" indent="0">
              <a:buNone/>
            </a:pPr>
            <a:r>
              <a:rPr lang="ru-RU" altLang="ru-RU" sz="2100" b="1" dirty="0">
                <a:gradFill>
                  <a:gsLst>
                    <a:gs pos="0">
                      <a:srgbClr val="E30000"/>
                    </a:gs>
                    <a:gs pos="100000">
                      <a:srgbClr val="760303"/>
                    </a:gs>
                  </a:gsLst>
                  <a:lin scaled="0"/>
                </a:gradFill>
              </a:rPr>
              <a:t>Спадкування - це концепція, що дає змогу створювати нові класи на основі наявних (батьківських) класів.</a:t>
            </a:r>
            <a:r>
              <a:rPr lang="uk-UA" altLang="ru-RU" sz="2100" b="1" dirty="0">
                <a:gradFill>
                  <a:gsLst>
                    <a:gs pos="0">
                      <a:srgbClr val="E30000"/>
                    </a:gs>
                    <a:gs pos="100000">
                      <a:srgbClr val="760303"/>
                    </a:gs>
                  </a:gsLst>
                  <a:lin scaled="0"/>
                </a:gradFill>
              </a:rPr>
              <a:t>  </a:t>
            </a:r>
            <a:r>
              <a:rPr lang="uk-UA" altLang="ru-RU" sz="2100" b="1" dirty="0"/>
              <a:t>     </a:t>
            </a:r>
            <a:r>
              <a:rPr lang="ru-RU" altLang="ru-RU" sz="2100" dirty="0"/>
              <a:t> Це один із ключових принципів ООП і дає змогу повторно використовувати код, спрощувати його структуру та робити програми більш модульними.</a:t>
            </a:r>
            <a:endParaRPr lang="ru-RU" altLang="ru-RU" sz="2100" dirty="0"/>
          </a:p>
          <a:p>
            <a:pPr marL="0" indent="0">
              <a:buNone/>
            </a:pPr>
            <a:endParaRPr lang="ru-RU" altLang="ru-RU" sz="2100" dirty="0"/>
          </a:p>
          <a:p>
            <a:pPr marL="0" indent="0">
              <a:buNone/>
            </a:pPr>
            <a:r>
              <a:rPr lang="ru-RU" altLang="ru-RU" sz="2100" dirty="0"/>
              <a:t>Успадкування сприяє створенню ієрархії класів, що спрощує організацію коду і робить його більш зрозумілим і легко підтримуваним. Цей принцип також допомагає у створенні абстракцій та узагальнених рішень у програмуванні.</a:t>
            </a:r>
            <a:endParaRPr lang="ru-RU" altLang="ru-RU" sz="2100" dirty="0"/>
          </a:p>
        </p:txBody>
      </p:sp>
      <p:pic>
        <p:nvPicPr>
          <p:cNvPr id="2" name="Content Placeholder 1" descr="123"/>
          <p:cNvPicPr>
            <a:picLocks noChangeAspect="1"/>
          </p:cNvPicPr>
          <p:nvPr>
            <p:ph sz="half" idx="2"/>
          </p:nvPr>
        </p:nvPicPr>
        <p:blipFill>
          <a:blip r:embed="rId1"/>
          <a:stretch>
            <a:fillRect/>
          </a:stretch>
        </p:blipFill>
        <p:spPr>
          <a:xfrm>
            <a:off x="5147945" y="5157470"/>
            <a:ext cx="3886200" cy="158877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Заголовок 1"/>
          <p:cNvSpPr>
            <a:spLocks noGrp="1"/>
          </p:cNvSpPr>
          <p:nvPr>
            <p:ph type="title"/>
          </p:nvPr>
        </p:nvSpPr>
        <p:spPr/>
        <p:txBody>
          <a:bodyPr vert="horz" wrap="square" lIns="91440" tIns="45720" rIns="91440" bIns="45720" anchor="ctr" anchorCtr="0"/>
          <a:p>
            <a:r>
              <a:rPr lang="ru-RU" altLang="ru-RU" dirty="0"/>
              <a:t>Трет</a:t>
            </a:r>
            <a:r>
              <a:rPr lang="en-US" altLang="ru-RU" dirty="0"/>
              <a:t>i</a:t>
            </a:r>
            <a:r>
              <a:rPr lang="ru-RU" altLang="ru-RU" dirty="0"/>
              <a:t>й кит: Поліморфізм</a:t>
            </a:r>
            <a:endParaRPr lang="ru-RU" altLang="ru-RU" dirty="0"/>
          </a:p>
        </p:txBody>
      </p:sp>
      <p:sp>
        <p:nvSpPr>
          <p:cNvPr id="37890" name="Объект 2"/>
          <p:cNvSpPr>
            <a:spLocks noGrp="1"/>
          </p:cNvSpPr>
          <p:nvPr>
            <p:ph idx="1"/>
          </p:nvPr>
        </p:nvSpPr>
        <p:spPr>
          <a:xfrm>
            <a:off x="608013" y="1484313"/>
            <a:ext cx="7924800" cy="4419600"/>
          </a:xfrm>
        </p:spPr>
        <p:txBody>
          <a:bodyPr vert="horz" wrap="square" lIns="91440" tIns="45720" rIns="91440" bIns="45720" anchor="t" anchorCtr="0"/>
          <a:p>
            <a:pPr marL="0" indent="0">
              <a:buNone/>
            </a:pPr>
            <a:r>
              <a:rPr lang="ru-RU" altLang="ru-RU" sz="3000" b="1" dirty="0">
                <a:gradFill>
                  <a:gsLst>
                    <a:gs pos="0">
                      <a:srgbClr val="E30000"/>
                    </a:gs>
                    <a:gs pos="100000">
                      <a:srgbClr val="760303"/>
                    </a:gs>
                  </a:gsLst>
                  <a:lin scaled="0"/>
                </a:gradFill>
              </a:rPr>
              <a:t>Поліморфізм - це принцип, згідно з яким є можливість використовувати один </a:t>
            </a:r>
            <a:r>
              <a:rPr lang="uk-UA" altLang="ru-RU" sz="3000" b="1" dirty="0">
                <a:gradFill>
                  <a:gsLst>
                    <a:gs pos="0">
                      <a:srgbClr val="E30000"/>
                    </a:gs>
                    <a:gs pos="100000">
                      <a:srgbClr val="760303"/>
                    </a:gs>
                  </a:gsLst>
                  <a:lin scaled="0"/>
                </a:gradFill>
              </a:rPr>
              <a:t>      </a:t>
            </a:r>
            <a:r>
              <a:rPr lang="ru-RU" altLang="ru-RU" sz="3000" b="1" dirty="0">
                <a:gradFill>
                  <a:gsLst>
                    <a:gs pos="0">
                      <a:srgbClr val="E30000"/>
                    </a:gs>
                    <a:gs pos="100000">
                      <a:srgbClr val="760303"/>
                    </a:gs>
                  </a:gsLst>
                  <a:lin scaled="0"/>
                </a:gradFill>
              </a:rPr>
              <a:t>і той самий запис у коді для роботи </a:t>
            </a:r>
            <a:r>
              <a:rPr lang="en-US" altLang="ru-RU" sz="3000" b="1" dirty="0">
                <a:gradFill>
                  <a:gsLst>
                    <a:gs pos="0">
                      <a:srgbClr val="E30000"/>
                    </a:gs>
                    <a:gs pos="100000">
                      <a:srgbClr val="760303"/>
                    </a:gs>
                  </a:gsLst>
                  <a:lin scaled="0"/>
                </a:gradFill>
              </a:rPr>
              <a:t>         </a:t>
            </a:r>
            <a:r>
              <a:rPr lang="ru-RU" altLang="ru-RU" sz="3000" b="1" dirty="0">
                <a:gradFill>
                  <a:gsLst>
                    <a:gs pos="0">
                      <a:srgbClr val="E30000"/>
                    </a:gs>
                    <a:gs pos="100000">
                      <a:srgbClr val="760303"/>
                    </a:gs>
                  </a:gsLst>
                  <a:lin scaled="0"/>
                </a:gradFill>
              </a:rPr>
              <a:t>з об'єктами різних типів даних.</a:t>
            </a:r>
            <a:r>
              <a:rPr lang="ru-RU" altLang="ru-RU" sz="3000" dirty="0"/>
              <a:t> Коротко: "Один інтерфейс, безліч реалізацій". Поліморфізм дає змогу однаково працювати з об'єктами різних типів, підміняючи тільки самі об'єкти, а не код </a:t>
            </a:r>
            <a:r>
              <a:rPr lang="uk-UA" altLang="ru-RU" sz="3000" dirty="0"/>
              <a:t>     </a:t>
            </a:r>
            <a:r>
              <a:rPr lang="ru-RU" altLang="ru-RU" sz="3000" dirty="0"/>
              <a:t>з їхньої обробки. </a:t>
            </a:r>
            <a:endParaRPr lang="ru-RU" altLang="ru-RU" sz="3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Заголовок 1"/>
          <p:cNvSpPr>
            <a:spLocks noGrp="1"/>
          </p:cNvSpPr>
          <p:nvPr>
            <p:ph type="title"/>
          </p:nvPr>
        </p:nvSpPr>
        <p:spPr/>
        <p:txBody>
          <a:bodyPr vert="horz" wrap="square" lIns="91440" tIns="45720" rIns="91440" bIns="45720" anchor="ctr" anchorCtr="0"/>
          <a:p>
            <a:r>
              <a:rPr lang="uk-UA" altLang="ru-RU" dirty="0"/>
              <a:t>І</a:t>
            </a:r>
            <a:r>
              <a:rPr lang="ru-RU" altLang="ru-RU" dirty="0"/>
              <a:t>нтерфейс </a:t>
            </a:r>
            <a:r>
              <a:rPr lang="uk-UA" altLang="ru-RU" dirty="0"/>
              <a:t>та</a:t>
            </a:r>
            <a:r>
              <a:rPr lang="ru-RU" altLang="ru-RU" dirty="0"/>
              <a:t> реал</a:t>
            </a:r>
            <a:r>
              <a:rPr lang="uk-UA" altLang="ru-RU" dirty="0"/>
              <a:t>і</a:t>
            </a:r>
            <a:r>
              <a:rPr lang="ru-RU" altLang="ru-RU" dirty="0"/>
              <a:t>зац</a:t>
            </a:r>
            <a:r>
              <a:rPr lang="uk-UA" altLang="ru-RU" dirty="0"/>
              <a:t>і</a:t>
            </a:r>
            <a:r>
              <a:rPr lang="ru-RU" altLang="ru-RU" dirty="0"/>
              <a:t>я</a:t>
            </a:r>
            <a:endParaRPr lang="ru-RU" altLang="ru-RU" dirty="0"/>
          </a:p>
        </p:txBody>
      </p:sp>
      <p:sp>
        <p:nvSpPr>
          <p:cNvPr id="14338" name="Объект 2"/>
          <p:cNvSpPr>
            <a:spLocks noGrp="1"/>
          </p:cNvSpPr>
          <p:nvPr>
            <p:ph idx="1"/>
          </p:nvPr>
        </p:nvSpPr>
        <p:spPr>
          <a:xfrm>
            <a:off x="468313" y="1384618"/>
            <a:ext cx="8140700" cy="4419600"/>
          </a:xfrm>
        </p:spPr>
        <p:txBody>
          <a:bodyPr vert="horz" wrap="square" lIns="91440" tIns="45720" rIns="91440" bIns="45720" anchor="t" anchorCtr="0"/>
          <a:p>
            <a:pPr marL="0" indent="0" algn="l">
              <a:buNone/>
            </a:pPr>
            <a:r>
              <a:rPr lang="en-US" altLang="en-US" sz="2100" dirty="0"/>
              <a:t>Інкапсуляція дозволяє прикладному програмісту </a:t>
            </a:r>
            <a:r>
              <a:rPr lang="uk-UA" altLang="en-US" sz="2100" dirty="0"/>
              <a:t>                       </a:t>
            </a:r>
            <a:r>
              <a:rPr lang="en-US" altLang="en-US" sz="2100" dirty="0"/>
              <a:t>не замислюватися про складність реалізації використовуваного програмного компонента, а взаємодіяти з ним за допомогою </a:t>
            </a:r>
            <a:r>
              <a:rPr lang="en-US" altLang="en-US" sz="2100" b="1" dirty="0"/>
              <a:t>інтерфейсу </a:t>
            </a:r>
            <a:r>
              <a:rPr lang="en-US" altLang="en-US" sz="2100" dirty="0"/>
              <a:t>(публічних методів і полів), що надається, а також об'єднати і захистити від некоректного використання життєво важливі для компонента дані. У цьому програмісту-користувачу надається лише специфікація (інтерфейс) об'єкта. Програміст-користувач може взаємодіяти з об'єктом лише через цей інтерфейс. Програміст-користувач не може безпосередньо звертатися до закритих полів та методів – зміна </a:t>
            </a:r>
            <a:r>
              <a:rPr lang="en-US" altLang="en-US" sz="2100" b="1" dirty="0"/>
              <a:t>реалізації </a:t>
            </a:r>
            <a:r>
              <a:rPr lang="en-US" altLang="en-US" sz="2100" dirty="0"/>
              <a:t>(внутрішніх закритих даних) можлива лише через методи інтерфейсу.</a:t>
            </a:r>
            <a:endParaRPr lang="en-US" alt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Заголовок 1"/>
          <p:cNvSpPr>
            <a:spLocks noGrp="1"/>
          </p:cNvSpPr>
          <p:nvPr>
            <p:ph type="title"/>
          </p:nvPr>
        </p:nvSpPr>
        <p:spPr/>
        <p:txBody>
          <a:bodyPr vert="horz" wrap="square" lIns="91440" tIns="45720" rIns="91440" bIns="45720" anchor="ctr" anchorCtr="0"/>
          <a:p>
            <a:r>
              <a:rPr lang="ru-RU" altLang="ru-RU" dirty="0"/>
              <a:t>Концепція "чорн</a:t>
            </a:r>
            <a:r>
              <a:rPr lang="uk-UA" altLang="ru-RU" dirty="0"/>
              <a:t>а скринька</a:t>
            </a:r>
            <a:r>
              <a:rPr lang="ru-RU" altLang="ru-RU" dirty="0"/>
              <a:t>"</a:t>
            </a:r>
            <a:endParaRPr lang="ru-RU" altLang="ru-RU" dirty="0"/>
          </a:p>
        </p:txBody>
      </p:sp>
      <p:sp>
        <p:nvSpPr>
          <p:cNvPr id="29698" name="Объект 2"/>
          <p:cNvSpPr>
            <a:spLocks noGrp="1"/>
          </p:cNvSpPr>
          <p:nvPr>
            <p:ph idx="1"/>
          </p:nvPr>
        </p:nvSpPr>
        <p:spPr>
          <a:xfrm>
            <a:off x="395288" y="1412875"/>
            <a:ext cx="7924800" cy="4419600"/>
          </a:xfrm>
        </p:spPr>
        <p:txBody>
          <a:bodyPr vert="horz" wrap="square" lIns="91440" tIns="45720" rIns="91440" bIns="45720" anchor="t" anchorCtr="0"/>
          <a:p>
            <a:pPr>
              <a:buFont typeface="Wingdings" panose="05000000000000000000" pitchFamily="2" charset="2"/>
              <a:buChar char="§"/>
            </a:pPr>
            <a:r>
              <a:rPr lang="ru-RU" altLang="ru-RU" sz="2800" dirty="0"/>
              <a:t>Зовні об'єкт заведено розглядати як чорну скриньку (прилад із кнопками).</a:t>
            </a:r>
            <a:endParaRPr lang="ru-RU" altLang="ru-RU" sz="2800" dirty="0"/>
          </a:p>
          <a:p>
            <a:pPr>
              <a:buFont typeface="Wingdings" panose="05000000000000000000" pitchFamily="2" charset="2"/>
              <a:buChar char="§"/>
            </a:pPr>
            <a:r>
              <a:rPr lang="ru-RU" altLang="ru-RU" sz="2800" dirty="0"/>
              <a:t>Відомо, що буде, якщо натискати на кнопки (є інструкція).</a:t>
            </a:r>
            <a:endParaRPr lang="ru-RU" altLang="ru-RU" sz="2800" dirty="0"/>
          </a:p>
          <a:p>
            <a:pPr>
              <a:buFont typeface="Wingdings" panose="05000000000000000000" pitchFamily="2" charset="2"/>
              <a:buChar char="§"/>
            </a:pPr>
            <a:r>
              <a:rPr lang="ru-RU" altLang="ru-RU" sz="2800" dirty="0"/>
              <a:t>Невідомо, як усе влаштовано всередині і чому воно працює (та й не потрібно знати, чому).</a:t>
            </a:r>
            <a:endParaRPr lang="ru-RU" altLang="ru-RU" sz="2800" dirty="0"/>
          </a:p>
        </p:txBody>
      </p:sp>
      <p:pic>
        <p:nvPicPr>
          <p:cNvPr id="29699" name="Picture 2" descr="C:\Users\Саша\Desktop\box.JPG"/>
          <p:cNvPicPr>
            <a:picLocks noChangeAspect="1"/>
          </p:cNvPicPr>
          <p:nvPr/>
        </p:nvPicPr>
        <p:blipFill>
          <a:blip r:embed="rId1"/>
          <a:stretch>
            <a:fillRect/>
          </a:stretch>
        </p:blipFill>
        <p:spPr>
          <a:xfrm>
            <a:off x="1692275" y="4941888"/>
            <a:ext cx="5600700" cy="1171575"/>
          </a:xfrm>
          <a:prstGeom prst="rect">
            <a:avLst/>
          </a:prstGeom>
          <a:noFill/>
          <a:ln w="9525">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Заголовок 1"/>
          <p:cNvSpPr>
            <a:spLocks noGrp="1"/>
          </p:cNvSpPr>
          <p:nvPr>
            <p:ph type="title"/>
          </p:nvPr>
        </p:nvSpPr>
        <p:spPr/>
        <p:txBody>
          <a:bodyPr vert="horz" wrap="square" lIns="91440" tIns="45720" rIns="91440" bIns="45720" anchor="ctr" anchorCtr="0"/>
          <a:p>
            <a:r>
              <a:rPr lang="ru-RU" altLang="ru-RU" dirty="0"/>
              <a:t>Сенс інкапсуляції</a:t>
            </a:r>
            <a:endParaRPr lang="ru-RU" altLang="ru-RU" dirty="0"/>
          </a:p>
        </p:txBody>
      </p:sp>
      <p:sp>
        <p:nvSpPr>
          <p:cNvPr id="37890" name="Объект 2"/>
          <p:cNvSpPr>
            <a:spLocks noGrp="1"/>
          </p:cNvSpPr>
          <p:nvPr>
            <p:ph idx="1"/>
          </p:nvPr>
        </p:nvSpPr>
        <p:spPr>
          <a:xfrm>
            <a:off x="395288" y="1341438"/>
            <a:ext cx="8424862" cy="5138737"/>
          </a:xfrm>
        </p:spPr>
        <p:txBody>
          <a:bodyPr vert="horz" wrap="square" lIns="91440" tIns="45720" rIns="91440" bIns="45720" anchor="t" anchorCtr="0"/>
          <a:p>
            <a:pPr marL="0" indent="0">
              <a:buNone/>
            </a:pPr>
            <a:r>
              <a:rPr lang="ru-RU" altLang="ru-RU" sz="2500" dirty="0"/>
              <a:t>Усю суть інкапсуляції можна передати однією фразою: </a:t>
            </a:r>
            <a:r>
              <a:rPr lang="ru-RU" altLang="ru-RU" sz="2500" dirty="0">
                <a:solidFill>
                  <a:srgbClr val="FF0000"/>
                </a:solidFill>
              </a:rPr>
              <a:t>"змінюваність реалізації, незмінність інтерфейсу". </a:t>
            </a:r>
            <a:r>
              <a:rPr lang="ru-RU" altLang="ru-RU" sz="2500" dirty="0"/>
              <a:t>Розробник класу, визначаючи набір публічних методів, чітко позначає інтерфейс взаємодії з класом. Користувач цього класу (інший програміст) "звикає"</a:t>
            </a:r>
            <a:r>
              <a:rPr lang="uk-UA" altLang="ru-RU" sz="2500" dirty="0"/>
              <a:t>   </a:t>
            </a:r>
            <a:r>
              <a:rPr lang="ru-RU" altLang="ru-RU" sz="2500" dirty="0"/>
              <a:t> до інтерфейсу і починає його активно використовувати у своєму клієнтському коді. Згодом, навіть якщо розробник бібліотеки внесе якісь зміни в реалізацію класу, або ж додасть кілька класів-спадкоємців, користувачеві класу свій клієнтський код переписувати заново не доведеться.</a:t>
            </a:r>
            <a:endParaRPr lang="ru-RU" altLang="ru-RU" sz="2500" dirty="0"/>
          </a:p>
          <a:p>
            <a:pPr marL="0" indent="457200">
              <a:buNone/>
            </a:pPr>
            <a:r>
              <a:rPr lang="ru-RU" altLang="ru-RU" sz="2300" dirty="0"/>
              <a:t>приклад: заміна деталі в автомобілі в разі поломки</a:t>
            </a:r>
            <a:endParaRPr lang="ru-RU" altLang="ru-RU" sz="2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Заголовок 1"/>
          <p:cNvSpPr>
            <a:spLocks noGrp="1"/>
          </p:cNvSpPr>
          <p:nvPr>
            <p:ph type="title"/>
          </p:nvPr>
        </p:nvSpPr>
        <p:spPr/>
        <p:txBody>
          <a:bodyPr vert="horz" wrap="square" lIns="91440" tIns="45720" rIns="91440" bIns="45720" anchor="ctr" anchorCtr="0"/>
          <a:p>
            <a:r>
              <a:rPr lang="ru-RU" altLang="ru-RU" dirty="0"/>
              <a:t>Про інтерфейс і реалізацію</a:t>
            </a:r>
            <a:endParaRPr lang="ru-RU" altLang="ru-RU" dirty="0"/>
          </a:p>
        </p:txBody>
      </p:sp>
      <p:sp>
        <p:nvSpPr>
          <p:cNvPr id="37890" name="Объект 2"/>
          <p:cNvSpPr>
            <a:spLocks noGrp="1"/>
          </p:cNvSpPr>
          <p:nvPr>
            <p:ph idx="1"/>
          </p:nvPr>
        </p:nvSpPr>
        <p:spPr>
          <a:xfrm>
            <a:off x="522605" y="1412875"/>
            <a:ext cx="8084185" cy="4995545"/>
          </a:xfrm>
        </p:spPr>
        <p:txBody>
          <a:bodyPr vert="horz" wrap="square" lIns="91440" tIns="45720" rIns="91440" bIns="45720" anchor="t" anchorCtr="0"/>
          <a:p>
            <a:pPr marL="0" indent="0">
              <a:buNone/>
            </a:pPr>
            <a:r>
              <a:rPr lang="ru-RU" altLang="ru-RU" sz="2400" dirty="0"/>
              <a:t>При розробці класу, у програміста часто виникає питання: яку частину колись нового типу вважати інтерфейсом, а яку - реалізацією?</a:t>
            </a:r>
            <a:endParaRPr lang="ru-RU" altLang="ru-RU" sz="2400" dirty="0"/>
          </a:p>
          <a:p>
            <a:pPr marL="0" indent="0">
              <a:buNone/>
            </a:pPr>
            <a:r>
              <a:rPr lang="ru-RU" altLang="ru-RU" sz="2400" dirty="0"/>
              <a:t>Відповідь дуже проста: реалізація - це та частина класу, яка в майбутньому може змінитися. </a:t>
            </a:r>
            <a:r>
              <a:rPr lang="ru-RU" altLang="ru-RU" sz="2400" b="1" dirty="0"/>
              <a:t>Інтерфейс же змінюватися не буде ніколи.</a:t>
            </a:r>
            <a:endParaRPr lang="ru-RU" altLang="ru-RU" sz="2400" b="1" dirty="0"/>
          </a:p>
          <a:p>
            <a:pPr marL="0" indent="0">
              <a:buNone/>
            </a:pPr>
            <a:endParaRPr lang="ru-RU" altLang="ru-RU" sz="2400" dirty="0"/>
          </a:p>
          <a:p>
            <a:pPr marL="0" indent="0">
              <a:buNone/>
            </a:pPr>
            <a:r>
              <a:rPr lang="ru-RU" altLang="ru-RU" sz="2400" dirty="0">
                <a:gradFill>
                  <a:gsLst>
                    <a:gs pos="0">
                      <a:srgbClr val="E30000"/>
                    </a:gs>
                    <a:gs pos="100000">
                      <a:srgbClr val="760303"/>
                    </a:gs>
                  </a:gsLst>
                  <a:lin scaled="0"/>
                </a:gradFill>
              </a:rPr>
              <a:t>З технічної точки зору, завдання інкапсуляції полягає саме в тому, щоб відокремити інтерфейс і реалізацію.</a:t>
            </a:r>
            <a:endParaRPr lang="ru-RU" altLang="ru-RU" sz="2400" dirty="0">
              <a:gradFill>
                <a:gsLst>
                  <a:gs pos="0">
                    <a:srgbClr val="E30000"/>
                  </a:gs>
                  <a:gs pos="100000">
                    <a:srgbClr val="760303"/>
                  </a:gs>
                </a:gsLst>
                <a:lin scaled="0"/>
              </a:gra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Заголовок 1"/>
          <p:cNvSpPr>
            <a:spLocks noGrp="1"/>
          </p:cNvSpPr>
          <p:nvPr>
            <p:ph type="title"/>
          </p:nvPr>
        </p:nvSpPr>
        <p:spPr/>
        <p:txBody>
          <a:bodyPr vert="horz" wrap="square" lIns="91440" tIns="45720" rIns="91440" bIns="45720" anchor="ctr" anchorCtr="0"/>
          <a:p>
            <a:r>
              <a:rPr lang="ru-RU" altLang="ru-RU" dirty="0"/>
              <a:t>У чому абстракція?</a:t>
            </a:r>
            <a:endParaRPr lang="ru-RU" altLang="ru-RU" dirty="0"/>
          </a:p>
        </p:txBody>
      </p:sp>
      <p:sp>
        <p:nvSpPr>
          <p:cNvPr id="37890" name="Объект 2"/>
          <p:cNvSpPr>
            <a:spLocks noGrp="1"/>
          </p:cNvSpPr>
          <p:nvPr>
            <p:ph idx="1"/>
          </p:nvPr>
        </p:nvSpPr>
        <p:spPr>
          <a:xfrm>
            <a:off x="493395" y="1396365"/>
            <a:ext cx="8114030" cy="5083810"/>
          </a:xfrm>
        </p:spPr>
        <p:txBody>
          <a:bodyPr vert="horz" wrap="square" lIns="91440" tIns="45720" rIns="91440" bIns="45720" anchor="t" anchorCtr="0"/>
          <a:p>
            <a:pPr marL="0" indent="0">
              <a:buNone/>
            </a:pPr>
            <a:r>
              <a:rPr lang="ru-RU" altLang="ru-RU" sz="2000" b="1" dirty="0">
                <a:gradFill>
                  <a:gsLst>
                    <a:gs pos="0">
                      <a:srgbClr val="E30000"/>
                    </a:gs>
                    <a:gs pos="100000">
                      <a:srgbClr val="760303"/>
                    </a:gs>
                  </a:gsLst>
                  <a:lin scaled="0"/>
                </a:gradFill>
              </a:rPr>
              <a:t>Під час інкапсуляції ми абстрагуємося від внутрішніх деталей реалізації об'єкта.</a:t>
            </a:r>
            <a:r>
              <a:rPr lang="ru-RU" altLang="ru-RU" sz="2000" dirty="0"/>
              <a:t> Це означає, що зовнішній код, який використовує об'єкт, не повинен знати, як саме працює об'єкт всередині. Це створює абстракцію об'єкта, даючи змогу програмісту працювати з об'єктом на вищому рівні абстракції, просто викликаючи його методи й отримуючи доступ до його даних через інтерфейс.</a:t>
            </a:r>
            <a:endParaRPr lang="ru-RU" altLang="ru-RU" sz="2000" dirty="0"/>
          </a:p>
          <a:p>
            <a:pPr marL="0" indent="0">
              <a:buNone/>
            </a:pPr>
            <a:endParaRPr lang="ru-RU" altLang="ru-RU" sz="2000" dirty="0"/>
          </a:p>
          <a:p>
            <a:pPr marL="0" indent="0">
              <a:buNone/>
            </a:pPr>
            <a:r>
              <a:rPr lang="ru-RU" altLang="ru-RU" sz="2000" dirty="0"/>
              <a:t>Наприклад, якщо у вас є клас "Автомобіль" з методами "завести()" і "зупинити()", ви абстрагуєтесь від внутрішніх механізмів, що реалізують ці дії, таких як двигун, трансмісія тощо. Інкапсуляція приховує ці деталі реалізації, даючи змогу вам працювати з автомобілем як з абстрактним об'єктом, що надає потрібні функції.</a:t>
            </a:r>
            <a:endParaRPr lang="ru-RU" altLang="ru-RU"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Заголовок 1"/>
          <p:cNvSpPr>
            <a:spLocks noGrp="1"/>
          </p:cNvSpPr>
          <p:nvPr>
            <p:ph type="title"/>
          </p:nvPr>
        </p:nvSpPr>
        <p:spPr/>
        <p:txBody>
          <a:bodyPr vert="horz" wrap="square" lIns="91440" tIns="45720" rIns="91440" bIns="45720" anchor="ctr" anchorCtr="0"/>
          <a:p>
            <a:r>
              <a:rPr lang="uk-UA" altLang="ru-RU" dirty="0">
                <a:sym typeface="+mn-ea"/>
              </a:rPr>
              <a:t>Мета інкапсуляції</a:t>
            </a:r>
            <a:endParaRPr lang="ru-RU" altLang="ru-RU" dirty="0"/>
          </a:p>
        </p:txBody>
      </p:sp>
      <p:sp>
        <p:nvSpPr>
          <p:cNvPr id="3" name="Объект 2"/>
          <p:cNvSpPr>
            <a:spLocks noGrp="1"/>
          </p:cNvSpPr>
          <p:nvPr>
            <p:ph idx="1"/>
          </p:nvPr>
        </p:nvSpPr>
        <p:spPr>
          <a:xfrm>
            <a:off x="539750" y="1384618"/>
            <a:ext cx="7993063" cy="44196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Pct val="80000"/>
              <a:buFontTx/>
              <a:buChar char="-"/>
              <a:defRPr/>
            </a:pPr>
            <a:r>
              <a:rPr kumimoji="0" lang="en-US" altLang="en-US" sz="3200" b="0" i="0" u="none" strike="noStrike" kern="0" cap="none" spc="0" normalizeH="0" baseline="0" noProof="0" dirty="0">
                <a:ln>
                  <a:noFill/>
                </a:ln>
                <a:solidFill>
                  <a:schemeClr val="tx1"/>
                </a:solidFill>
                <a:effectLst/>
                <a:uLnTx/>
                <a:uFillTx/>
                <a:latin typeface="+mn-lt"/>
                <a:ea typeface="+mn-ea"/>
                <a:cs typeface="+mn-cs"/>
              </a:rPr>
              <a:t>забезпечити безпеку використання модуля, винести в інтерфейс і зробити загальнодоступними лише ті методи обробки інформації, які не можуть зіпсувати або видалити вихідні дані об'єктів чи класу</a:t>
            </a:r>
            <a:endParaRPr kumimoji="0" lang="en-US" alt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
                <a:schemeClr val="hlink"/>
              </a:buClr>
              <a:buSzPct val="80000"/>
              <a:buFontTx/>
              <a:buChar char="-"/>
              <a:defRPr/>
            </a:pPr>
            <a:r>
              <a:rPr kumimoji="0" lang="en-US" altLang="en-US" sz="3200" b="0" i="0" u="none" strike="noStrike" kern="0" cap="none" spc="0" normalizeH="0" baseline="0" noProof="0" dirty="0">
                <a:ln>
                  <a:noFill/>
                </a:ln>
                <a:solidFill>
                  <a:schemeClr val="tx1"/>
                </a:solidFill>
                <a:effectLst/>
                <a:uLnTx/>
                <a:uFillTx/>
                <a:latin typeface="+mn-lt"/>
                <a:ea typeface="+mn-ea"/>
                <a:cs typeface="+mn-cs"/>
              </a:rPr>
              <a:t>зменшити складність, приховавши </a:t>
            </a:r>
            <a:r>
              <a:rPr kumimoji="0" lang="uk-UA" altLang="en-US" sz="3200" b="0" i="0" u="none" strike="noStrike" kern="0" cap="none" spc="0" normalizeH="0" baseline="0" noProof="0" dirty="0">
                <a:ln>
                  <a:noFill/>
                </a:ln>
                <a:solidFill>
                  <a:schemeClr val="tx1"/>
                </a:solidFill>
                <a:effectLst/>
                <a:uLnTx/>
                <a:uFillTx/>
                <a:latin typeface="+mn-lt"/>
                <a:ea typeface="+mn-ea"/>
                <a:cs typeface="+mn-cs"/>
              </a:rPr>
              <a:t>   </a:t>
            </a:r>
            <a:r>
              <a:rPr kumimoji="0" lang="en-US" altLang="en-US" sz="3200" b="0" i="0" u="none" strike="noStrike" kern="0" cap="none" spc="0" normalizeH="0" baseline="0" noProof="0" dirty="0">
                <a:ln>
                  <a:noFill/>
                </a:ln>
                <a:solidFill>
                  <a:schemeClr val="tx1"/>
                </a:solidFill>
                <a:effectLst/>
                <a:uLnTx/>
                <a:uFillTx/>
                <a:latin typeface="+mn-lt"/>
                <a:ea typeface="+mn-ea"/>
                <a:cs typeface="+mn-cs"/>
              </a:rPr>
              <a:t>від </a:t>
            </a:r>
            <a:r>
              <a:rPr kumimoji="0" lang="en-US" altLang="en-US" sz="3200" b="0" i="0" u="none" strike="noStrike" kern="0" cap="none" spc="0" normalizeH="0" baseline="0" noProof="0" dirty="0">
                <a:ln>
                  <a:noFill/>
                </a:ln>
                <a:solidFill>
                  <a:schemeClr val="tx1"/>
                </a:solidFill>
                <a:effectLst/>
                <a:uLnTx/>
                <a:uFillTx/>
                <a:latin typeface="+mn-lt"/>
                <a:ea typeface="+mn-ea"/>
                <a:cs typeface="+mn-cs"/>
              </a:rPr>
              <a:t>«</a:t>
            </a:r>
            <a:r>
              <a:rPr kumimoji="0" lang="en-US" altLang="en-US" sz="3200" b="0" i="0" u="none" strike="noStrike" kern="0" cap="none" spc="0" normalizeH="0" baseline="0" noProof="0" dirty="0">
                <a:ln>
                  <a:noFill/>
                </a:ln>
                <a:solidFill>
                  <a:schemeClr val="tx1"/>
                </a:solidFill>
                <a:effectLst/>
                <a:uLnTx/>
                <a:uFillTx/>
                <a:latin typeface="+mn-lt"/>
                <a:ea typeface="+mn-ea"/>
                <a:cs typeface="+mn-cs"/>
              </a:rPr>
              <a:t>зовнішнього світу</a:t>
            </a:r>
            <a:r>
              <a:rPr kumimoji="0" lang="en-US" altLang="en-US" sz="3200" b="0" i="0" u="none" strike="noStrike" kern="0" cap="none" spc="0" normalizeH="0" baseline="0" noProof="0" dirty="0">
                <a:ln>
                  <a:noFill/>
                </a:ln>
                <a:solidFill>
                  <a:schemeClr val="tx1"/>
                </a:solidFill>
                <a:effectLst/>
                <a:uLnTx/>
                <a:uFillTx/>
                <a:latin typeface="+mn-lt"/>
                <a:ea typeface="+mn-ea"/>
                <a:cs typeface="+mn-cs"/>
              </a:rPr>
              <a:t>»</a:t>
            </a:r>
            <a:r>
              <a:rPr kumimoji="0" lang="en-US" altLang="en-US" sz="3200" b="0" i="0" u="none" strike="noStrike" kern="0" cap="none" spc="0" normalizeH="0" baseline="0" noProof="0" dirty="0">
                <a:ln>
                  <a:noFill/>
                </a:ln>
                <a:solidFill>
                  <a:schemeClr val="tx1"/>
                </a:solidFill>
                <a:effectLst/>
                <a:uLnTx/>
                <a:uFillTx/>
                <a:latin typeface="+mn-lt"/>
                <a:ea typeface="+mn-ea"/>
                <a:cs typeface="+mn-cs"/>
              </a:rPr>
              <a:t> непотрібні деталі реалізації</a:t>
            </a:r>
            <a:endParaRPr kumimoji="0" lang="en-US" alt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Заголовок 1"/>
          <p:cNvSpPr>
            <a:spLocks noGrp="1"/>
          </p:cNvSpPr>
          <p:nvPr>
            <p:ph type="title"/>
          </p:nvPr>
        </p:nvSpPr>
        <p:spPr/>
        <p:txBody>
          <a:bodyPr vert="horz" wrap="square" lIns="91440" tIns="45720" rIns="91440" bIns="45720" anchor="ctr" anchorCtr="0"/>
          <a:p>
            <a:r>
              <a:rPr lang="ru-RU" altLang="ru-RU" dirty="0"/>
              <a:t>Специф</a:t>
            </a:r>
            <a:r>
              <a:rPr lang="uk-UA" altLang="ru-RU" dirty="0"/>
              <a:t>і</a:t>
            </a:r>
            <a:r>
              <a:rPr lang="ru-RU" altLang="ru-RU" dirty="0"/>
              <a:t>катор</a:t>
            </a:r>
            <a:r>
              <a:rPr lang="uk-UA" altLang="ru-RU" dirty="0"/>
              <a:t>и</a:t>
            </a:r>
            <a:r>
              <a:rPr lang="ru-RU" altLang="ru-RU" dirty="0"/>
              <a:t> доступ</a:t>
            </a:r>
            <a:r>
              <a:rPr lang="uk-UA" altLang="ru-RU" dirty="0"/>
              <a:t>у</a:t>
            </a:r>
            <a:endParaRPr lang="uk-UA" altLang="ru-RU" dirty="0"/>
          </a:p>
        </p:txBody>
      </p:sp>
      <p:sp>
        <p:nvSpPr>
          <p:cNvPr id="8195" name="Содержимое 2"/>
          <p:cNvSpPr>
            <a:spLocks noGrp="1"/>
          </p:cNvSpPr>
          <p:nvPr>
            <p:ph idx="1"/>
          </p:nvPr>
        </p:nvSpPr>
        <p:spPr>
          <a:xfrm>
            <a:off x="508000" y="1385570"/>
            <a:ext cx="8096250" cy="4419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Інкапсуляція в Python реалізується не через жорсткі специфікатори доступу, а </a:t>
            </a:r>
            <a:r>
              <a:rPr kumimoji="0" lang="en-US" altLang="en-US" sz="1800" b="0" i="0" u="sng" strike="noStrike" kern="0" cap="none" spc="0" normalizeH="0" baseline="0" noProof="0" dirty="0" smtClean="0">
                <a:ln>
                  <a:noFill/>
                </a:ln>
                <a:solidFill>
                  <a:schemeClr val="tx1"/>
                </a:solidFill>
                <a:effectLst/>
                <a:uLnTx/>
                <a:uFillTx/>
                <a:latin typeface="+mn-lt"/>
                <a:ea typeface="+mn-ea"/>
                <a:cs typeface="+mn-cs"/>
              </a:rPr>
              <a:t>за допомогою домовленостей щодо іменування</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та механізму приховування імен:</a:t>
            </a:r>
            <a:endParaRPr kumimoji="0" lang="en-US" altLang="en-US" sz="1800" b="0" i="0" u="none" strike="noStrike" kern="0" cap="none" spc="0" normalizeH="0" baseline="0" noProof="0" dirty="0" smtClean="0">
              <a:ln>
                <a:noFill/>
              </a:ln>
              <a:solidFill>
                <a:schemeClr val="tx1"/>
              </a:solidFill>
              <a:effectLst/>
              <a:uLnTx/>
              <a:uFillTx/>
              <a:latin typeface="+mn-lt"/>
              <a:ea typeface="+mn-ea"/>
              <a:cs typeface="+mn-cs"/>
            </a:endParaRPr>
          </a:p>
          <a:p>
            <a:pPr marR="0" lvl="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1800" b="0" i="0" u="sng" strike="noStrike" kern="0" cap="none" spc="0" normalizeH="0" baseline="0" noProof="0" dirty="0" smtClean="0">
                <a:ln>
                  <a:noFill/>
                </a:ln>
                <a:solidFill>
                  <a:schemeClr val="tx1"/>
                </a:solidFill>
                <a:effectLst/>
                <a:uLnTx/>
                <a:uFillTx/>
                <a:latin typeface="+mn-lt"/>
                <a:ea typeface="+mn-ea"/>
                <a:cs typeface="+mn-cs"/>
              </a:rPr>
              <a:t>private</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компоненти класу, позначені </a:t>
            </a:r>
            <a:r>
              <a:rPr kumimoji="0" lang="en-US" altLang="en-US" sz="1800" b="1" i="0" u="none" strike="noStrike" kern="0" cap="none" spc="0" normalizeH="0" baseline="0" noProof="0" dirty="0" smtClean="0">
                <a:ln>
                  <a:noFill/>
                </a:ln>
                <a:solidFill>
                  <a:schemeClr val="tx1"/>
                </a:solidFill>
                <a:effectLst/>
                <a:uLnTx/>
                <a:uFillTx/>
                <a:latin typeface="+mn-lt"/>
                <a:ea typeface="+mn-ea"/>
                <a:cs typeface="+mn-cs"/>
              </a:rPr>
              <a:t>подвійним підкресленням</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a:t>
            </a:r>
            <a:r>
              <a:rPr kumimoji="0" lang="uk-UA" altLang="en-US" sz="18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на початку імені (__name), призначені для використання лише всередині поточного класу; інтерпретатор змінює їх ім’я </a:t>
            </a:r>
            <a:r>
              <a:rPr kumimoji="0" lang="uk-UA" altLang="en-US" sz="18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(name mangling), щоб ускладнити прямий доступ ззовні</a:t>
            </a:r>
            <a:endParaRPr kumimoji="0" lang="en-US" altLang="en-US" sz="1800" b="0" i="0" u="none" strike="noStrike" kern="0" cap="none" spc="0" normalizeH="0" baseline="0" noProof="0" dirty="0" smtClean="0">
              <a:ln>
                <a:noFill/>
              </a:ln>
              <a:solidFill>
                <a:schemeClr val="tx1"/>
              </a:solidFill>
              <a:effectLst/>
              <a:uLnTx/>
              <a:uFillTx/>
              <a:latin typeface="+mn-lt"/>
              <a:ea typeface="+mn-ea"/>
              <a:cs typeface="+mn-cs"/>
            </a:endParaRPr>
          </a:p>
          <a:p>
            <a:pPr marR="0" lvl="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якщо спеціальні позначення не використовуються, компоненти класу доступні звідусіль — як усередині класу, так і поза ним; </a:t>
            </a:r>
            <a:r>
              <a:rPr kumimoji="0" lang="uk-UA" altLang="en-US" sz="1800" b="0" i="0" u="none" strike="noStrike" kern="0" cap="none" spc="0" normalizeH="0" baseline="0" noProof="0" dirty="0" smtClean="0">
                <a:ln>
                  <a:noFill/>
                </a:ln>
                <a:solidFill>
                  <a:schemeClr val="tx1"/>
                </a:solidFill>
                <a:effectLst/>
                <a:uLnTx/>
                <a:uFillTx/>
                <a:latin typeface="+mn-lt"/>
                <a:ea typeface="+mn-ea"/>
                <a:cs typeface="+mn-cs"/>
              </a:rPr>
              <a:t>                        </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у Python це поведінка за замовчуванням</a:t>
            </a:r>
            <a:endParaRPr kumimoji="0" lang="en-US" altLang="en-US" sz="1800" b="0" i="0" u="none" strike="noStrike" kern="0" cap="none" spc="0" normalizeH="0" baseline="0" noProof="0" dirty="0" smtClean="0">
              <a:ln>
                <a:noFill/>
              </a:ln>
              <a:solidFill>
                <a:schemeClr val="tx1"/>
              </a:solidFill>
              <a:effectLst/>
              <a:uLnTx/>
              <a:uFillTx/>
              <a:latin typeface="+mn-lt"/>
              <a:ea typeface="+mn-ea"/>
              <a:cs typeface="+mn-cs"/>
            </a:endParaRPr>
          </a:p>
          <a:p>
            <a:pPr marR="0" lvl="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1800" b="0" i="0" u="sng" strike="noStrike" kern="0" cap="none" spc="0" normalizeH="0" baseline="0" noProof="0" dirty="0" smtClean="0">
                <a:ln>
                  <a:noFill/>
                </a:ln>
                <a:solidFill>
                  <a:schemeClr val="tx1"/>
                </a:solidFill>
                <a:effectLst/>
                <a:uLnTx/>
                <a:uFillTx/>
                <a:latin typeface="+mn-lt"/>
                <a:ea typeface="+mn-ea"/>
                <a:cs typeface="+mn-cs"/>
              </a:rPr>
              <a:t>protected</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компоненти класу, позначені </a:t>
            </a:r>
            <a:r>
              <a:rPr kumimoji="0" lang="en-US" altLang="en-US" sz="1800" b="1" i="0" u="none" strike="noStrike" kern="0" cap="none" spc="0" normalizeH="0" baseline="0" noProof="0" dirty="0" smtClean="0">
                <a:ln>
                  <a:noFill/>
                </a:ln>
                <a:solidFill>
                  <a:schemeClr val="tx1"/>
                </a:solidFill>
                <a:effectLst/>
                <a:uLnTx/>
                <a:uFillTx/>
                <a:latin typeface="+mn-lt"/>
                <a:ea typeface="+mn-ea"/>
                <a:cs typeface="+mn-cs"/>
              </a:rPr>
              <a:t>одним підкресленням</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(_name), вважаються внутрішніми для класу та його нащадків; доступ ззовні технічно можливий, але не рекомендується (це лише домовленість)</a:t>
            </a:r>
            <a:endParaRPr kumimoji="0" lang="en-US" altLang="en-US" sz="1800" b="0" i="0" u="none" strike="noStrike" kern="0" cap="none" spc="0" normalizeH="0" baseline="0" noProof="0" dirty="0" smtClean="0">
              <a:ln>
                <a:noFill/>
              </a:ln>
              <a:solidFill>
                <a:schemeClr val="tx1"/>
              </a:solidFill>
              <a:effectLst/>
              <a:uLnTx/>
              <a:uFillTx/>
              <a:latin typeface="+mn-lt"/>
              <a:ea typeface="+mn-ea"/>
              <a:cs typeface="+mn-cs"/>
            </a:endParaRPr>
          </a:p>
          <a:p>
            <a:pPr marR="0" lvl="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1800" b="0" i="0" u="sng" strike="noStrike" kern="0" cap="none" spc="0" normalizeH="0" baseline="0" noProof="0" dirty="0" smtClean="0">
                <a:ln>
                  <a:noFill/>
                </a:ln>
                <a:solidFill>
                  <a:schemeClr val="tx1"/>
                </a:solidFill>
                <a:effectLst/>
                <a:uLnTx/>
                <a:uFillTx/>
                <a:latin typeface="+mn-lt"/>
                <a:ea typeface="+mn-ea"/>
                <a:cs typeface="+mn-cs"/>
              </a:rPr>
              <a:t>public</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компоненти класу </a:t>
            </a:r>
            <a:r>
              <a:rPr kumimoji="0" lang="en-US" altLang="en-US" sz="1800" b="1" i="0" u="none" strike="noStrike" kern="0" cap="none" spc="0" normalizeH="0" baseline="0" noProof="0" dirty="0" smtClean="0">
                <a:ln>
                  <a:noFill/>
                </a:ln>
                <a:solidFill>
                  <a:schemeClr val="tx1"/>
                </a:solidFill>
                <a:effectLst/>
                <a:uLnTx/>
                <a:uFillTx/>
                <a:latin typeface="+mn-lt"/>
                <a:ea typeface="+mn-ea"/>
                <a:cs typeface="+mn-cs"/>
              </a:rPr>
              <a:t>без підкреслень</a:t>
            </a:r>
            <a:r>
              <a:rPr kumimoji="0" lang="en-US" altLang="en-US" sz="1800" b="0" i="0" u="none" strike="noStrike" kern="0" cap="none" spc="0" normalizeH="0" baseline="0" noProof="0" dirty="0" smtClean="0">
                <a:ln>
                  <a:noFill/>
                </a:ln>
                <a:solidFill>
                  <a:schemeClr val="tx1"/>
                </a:solidFill>
                <a:effectLst/>
                <a:uLnTx/>
                <a:uFillTx/>
                <a:latin typeface="+mn-lt"/>
                <a:ea typeface="+mn-ea"/>
                <a:cs typeface="+mn-cs"/>
              </a:rPr>
              <a:t> доступні всім без обмежень — для читання і запису з будь-якого місця програми</a:t>
            </a:r>
            <a:endParaRPr kumimoji="0" lang="en-US" altLang="en-US" sz="18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Заголовок 1"/>
          <p:cNvSpPr>
            <a:spLocks noGrp="1"/>
          </p:cNvSpPr>
          <p:nvPr>
            <p:ph type="title"/>
          </p:nvPr>
        </p:nvSpPr>
        <p:spPr/>
        <p:txBody>
          <a:bodyPr vert="horz" wrap="square" lIns="91440" tIns="45720" rIns="91440" bIns="45720" anchor="ctr" anchorCtr="0"/>
          <a:p>
            <a:r>
              <a:rPr lang="ru-RU" altLang="ru-RU" dirty="0"/>
              <a:t>Специф</a:t>
            </a:r>
            <a:r>
              <a:rPr lang="uk-UA" altLang="ru-RU" dirty="0"/>
              <a:t>і</a:t>
            </a:r>
            <a:r>
              <a:rPr lang="ru-RU" altLang="ru-RU" dirty="0"/>
              <a:t>катор</a:t>
            </a:r>
            <a:r>
              <a:rPr lang="uk-UA" altLang="ru-RU" dirty="0"/>
              <a:t>и</a:t>
            </a:r>
            <a:r>
              <a:rPr lang="ru-RU" altLang="ru-RU" dirty="0"/>
              <a:t> клас</a:t>
            </a:r>
            <a:r>
              <a:rPr lang="uk-UA" altLang="ru-RU" dirty="0"/>
              <a:t>і</a:t>
            </a:r>
            <a:r>
              <a:rPr lang="ru-RU" altLang="ru-RU" dirty="0"/>
              <a:t>в</a:t>
            </a:r>
            <a:endParaRPr lang="ru-RU" altLang="ru-RU" dirty="0"/>
          </a:p>
        </p:txBody>
      </p:sp>
      <p:sp>
        <p:nvSpPr>
          <p:cNvPr id="22530" name="Объект 2"/>
          <p:cNvSpPr>
            <a:spLocks noGrp="1"/>
          </p:cNvSpPr>
          <p:nvPr>
            <p:ph idx="1"/>
          </p:nvPr>
        </p:nvSpPr>
        <p:spPr>
          <a:xfrm>
            <a:off x="508000" y="1422400"/>
            <a:ext cx="8096250" cy="4481830"/>
          </a:xfrm>
        </p:spPr>
        <p:txBody>
          <a:bodyPr vert="horz" wrap="square" lIns="91440" tIns="45720" rIns="91440" bIns="45720" anchor="t" anchorCtr="0"/>
          <a:p>
            <a:pPr marL="0" indent="0">
              <a:buNone/>
            </a:pPr>
            <a:r>
              <a:rPr lang="en-US" altLang="en-US" sz="1800" dirty="0">
                <a:solidFill>
                  <a:schemeClr val="tx1"/>
                </a:solidFill>
              </a:rPr>
              <a:t>По відношенню до класу в Python </a:t>
            </a:r>
            <a:r>
              <a:rPr lang="en-US" altLang="en-US" sz="1800" b="1" dirty="0">
                <a:solidFill>
                  <a:schemeClr val="tx1"/>
                </a:solidFill>
              </a:rPr>
              <a:t>не застосовуються специфікатори доступу</a:t>
            </a:r>
            <a:r>
              <a:rPr lang="en-US" altLang="en-US" sz="1800" dirty="0">
                <a:solidFill>
                  <a:schemeClr val="tx1"/>
                </a:solidFill>
              </a:rPr>
              <a:t> на кшталт public / private / protected. Клас за замовчуванням доступний з інших модулів (файлів), якщо цей модуль імпортувати. Обмеження доступу реалізується умовно — через домовленості щодо іменування або механізми модуля.</a:t>
            </a:r>
            <a:endParaRPr lang="en-US" altLang="en-US" sz="1800" dirty="0">
              <a:solidFill>
                <a:schemeClr val="tx1"/>
              </a:solidFill>
            </a:endParaRPr>
          </a:p>
          <a:p>
            <a:pPr marL="0" indent="0">
              <a:buNone/>
            </a:pPr>
            <a:endParaRPr lang="en-US" altLang="en-US" sz="1800" dirty="0">
              <a:solidFill>
                <a:schemeClr val="tx1"/>
              </a:solidFill>
            </a:endParaRPr>
          </a:p>
          <a:p>
            <a:pPr marL="0" indent="0">
              <a:buNone/>
            </a:pPr>
            <a:r>
              <a:rPr lang="en-US" altLang="en-US" sz="1800" dirty="0">
                <a:solidFill>
                  <a:schemeClr val="tx1"/>
                </a:solidFill>
              </a:rPr>
              <a:t>Якщо потрібно позначити клас як внутрішній для модуля, зазвичай використовують </a:t>
            </a:r>
            <a:r>
              <a:rPr lang="en-US" altLang="en-US" sz="1800" b="1" dirty="0">
                <a:solidFill>
                  <a:schemeClr val="tx1"/>
                </a:solidFill>
              </a:rPr>
              <a:t>одне підкреслення</a:t>
            </a:r>
            <a:r>
              <a:rPr lang="en-US" altLang="en-US" sz="1800" dirty="0">
                <a:solidFill>
                  <a:schemeClr val="tx1"/>
                </a:solidFill>
              </a:rPr>
              <a:t> на початку імені (_ClassName) — </a:t>
            </a:r>
            <a:r>
              <a:rPr lang="uk-UA" altLang="en-US" sz="1800" dirty="0">
                <a:solidFill>
                  <a:schemeClr val="tx1"/>
                </a:solidFill>
              </a:rPr>
              <a:t>  </a:t>
            </a:r>
            <a:r>
              <a:rPr lang="en-US" altLang="en-US" sz="1800" dirty="0">
                <a:solidFill>
                  <a:schemeClr val="tx1"/>
                </a:solidFill>
              </a:rPr>
              <a:t>це сигнал, що клас не призначений для зовнішнього використання, </a:t>
            </a:r>
            <a:r>
              <a:rPr lang="uk-UA" altLang="en-US" sz="1800" dirty="0">
                <a:solidFill>
                  <a:schemeClr val="tx1"/>
                </a:solidFill>
              </a:rPr>
              <a:t>    </a:t>
            </a:r>
            <a:r>
              <a:rPr lang="en-US" altLang="en-US" sz="1800" dirty="0">
                <a:solidFill>
                  <a:schemeClr val="tx1"/>
                </a:solidFill>
              </a:rPr>
              <a:t>хоча технічно він доступний.</a:t>
            </a:r>
            <a:endParaRPr lang="en-US" altLang="en-US" sz="1800" dirty="0">
              <a:solidFill>
                <a:schemeClr val="tx1"/>
              </a:solidFill>
            </a:endParaRPr>
          </a:p>
          <a:p>
            <a:pPr marL="0" indent="0">
              <a:buNone/>
            </a:pPr>
            <a:endParaRPr lang="en-US" altLang="en-US" sz="1800" dirty="0">
              <a:solidFill>
                <a:schemeClr val="tx1"/>
              </a:solidFill>
            </a:endParaRPr>
          </a:p>
          <a:p>
            <a:pPr marL="0" indent="0">
              <a:buNone/>
            </a:pPr>
            <a:r>
              <a:rPr lang="en-US" altLang="en-US" sz="1800" dirty="0">
                <a:solidFill>
                  <a:schemeClr val="tx1"/>
                </a:solidFill>
              </a:rPr>
              <a:t>У Python в одному файлі (модулі) може бути будь-яка кількість класів — обмеження на один </a:t>
            </a:r>
            <a:r>
              <a:rPr lang="en-US" altLang="en-US" sz="1800" dirty="0">
                <a:solidFill>
                  <a:schemeClr val="tx1"/>
                </a:solidFill>
              </a:rPr>
              <a:t>«</a:t>
            </a:r>
            <a:r>
              <a:rPr lang="en-US" altLang="en-US" sz="1800" dirty="0">
                <a:solidFill>
                  <a:schemeClr val="tx1"/>
                </a:solidFill>
              </a:rPr>
              <a:t>публічний</a:t>
            </a:r>
            <a:r>
              <a:rPr lang="en-US" altLang="en-US" sz="1800" dirty="0">
                <a:solidFill>
                  <a:schemeClr val="tx1"/>
                </a:solidFill>
              </a:rPr>
              <a:t>»</a:t>
            </a:r>
            <a:r>
              <a:rPr lang="en-US" altLang="en-US" sz="1800" dirty="0">
                <a:solidFill>
                  <a:schemeClr val="tx1"/>
                </a:solidFill>
              </a:rPr>
              <a:t> клас відсутнє. За потреби можна явно вказати, які об’єкти експортуються з модуля, за допомогою списку __all__.</a:t>
            </a:r>
            <a:endParaRPr lang="en-US" altLang="en-US" sz="1800" dirty="0">
              <a:solidFill>
                <a:schemeClr val="tx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Заголовок 1"/>
          <p:cNvSpPr>
            <a:spLocks noGrp="1"/>
          </p:cNvSpPr>
          <p:nvPr>
            <p:ph type="title"/>
          </p:nvPr>
        </p:nvSpPr>
        <p:spPr/>
        <p:txBody>
          <a:bodyPr vert="horz" wrap="square" lIns="91440" tIns="45720" rIns="91440" bIns="45720" anchor="ctr" anchorCtr="0"/>
          <a:p>
            <a:r>
              <a:rPr lang="uk-UA" dirty="0"/>
              <a:t>Список __</a:t>
            </a:r>
            <a:r>
              <a:rPr lang="en-US" dirty="0"/>
              <a:t>all__</a:t>
            </a:r>
            <a:endParaRPr lang="en-US" dirty="0"/>
          </a:p>
        </p:txBody>
      </p:sp>
      <p:pic>
        <p:nvPicPr>
          <p:cNvPr id="2" name="Picture 1"/>
          <p:cNvPicPr>
            <a:picLocks noChangeAspect="1"/>
          </p:cNvPicPr>
          <p:nvPr/>
        </p:nvPicPr>
        <p:blipFill>
          <a:blip r:embed="rId1"/>
          <a:stretch>
            <a:fillRect/>
          </a:stretch>
        </p:blipFill>
        <p:spPr>
          <a:xfrm>
            <a:off x="828040" y="1449705"/>
            <a:ext cx="7344410" cy="3208020"/>
          </a:xfrm>
          <a:prstGeom prst="rect">
            <a:avLst/>
          </a:prstGeom>
        </p:spPr>
      </p:pic>
      <p:pic>
        <p:nvPicPr>
          <p:cNvPr id="3" name="Picture 2"/>
          <p:cNvPicPr>
            <a:picLocks noChangeAspect="1"/>
          </p:cNvPicPr>
          <p:nvPr/>
        </p:nvPicPr>
        <p:blipFill>
          <a:blip r:embed="rId2"/>
          <a:stretch>
            <a:fillRect/>
          </a:stretch>
        </p:blipFill>
        <p:spPr>
          <a:xfrm>
            <a:off x="0" y="4798060"/>
            <a:ext cx="9144000" cy="1884045"/>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Заголовок 1"/>
          <p:cNvSpPr>
            <a:spLocks noGrp="1"/>
          </p:cNvSpPr>
          <p:nvPr>
            <p:ph type="title"/>
          </p:nvPr>
        </p:nvSpPr>
        <p:spPr/>
        <p:txBody>
          <a:bodyPr vert="horz" wrap="square" lIns="91440" tIns="45720" rIns="91440" bIns="45720" anchor="ctr" anchorCtr="0"/>
          <a:p>
            <a:r>
              <a:rPr lang="ru-RU" altLang="ru-RU" dirty="0"/>
              <a:t>Пакет</a:t>
            </a:r>
            <a:r>
              <a:rPr lang="uk-UA" altLang="ru-RU" dirty="0"/>
              <a:t>и</a:t>
            </a:r>
            <a:endParaRPr lang="uk-UA" altLang="ru-RU" dirty="0"/>
          </a:p>
        </p:txBody>
      </p:sp>
      <p:sp>
        <p:nvSpPr>
          <p:cNvPr id="23554" name="Объект 2"/>
          <p:cNvSpPr>
            <a:spLocks noGrp="1"/>
          </p:cNvSpPr>
          <p:nvPr>
            <p:ph idx="1"/>
          </p:nvPr>
        </p:nvSpPr>
        <p:spPr>
          <a:xfrm>
            <a:off x="479425" y="1431925"/>
            <a:ext cx="8033385" cy="4472305"/>
          </a:xfrm>
        </p:spPr>
        <p:txBody>
          <a:bodyPr vert="horz" wrap="square" lIns="91440" tIns="45720" rIns="91440" bIns="45720" anchor="t" anchorCtr="0"/>
          <a:p>
            <a:pPr marL="0" indent="0">
              <a:buNone/>
            </a:pPr>
            <a:r>
              <a:rPr lang="en-US" altLang="en-US" sz="1800" b="1" dirty="0"/>
              <a:t>Пакети </a:t>
            </a:r>
            <a:r>
              <a:rPr lang="en-US" altLang="en-US" sz="1800" dirty="0"/>
              <a:t>в Python — це механізм, що дозволяє організувати модулі </a:t>
            </a:r>
            <a:r>
              <a:rPr lang="uk-UA" altLang="en-US" sz="1800" dirty="0"/>
              <a:t>  </a:t>
            </a:r>
            <a:r>
              <a:rPr lang="en-US" altLang="en-US" sz="1800" dirty="0"/>
              <a:t>(файли з кодом) у окремих просторах імен. Пакети дають змогу уникати конфліктів імен за наявності в проєкті модулів, класів або функцій </a:t>
            </a:r>
            <a:r>
              <a:rPr lang="uk-UA" altLang="en-US" sz="1800" dirty="0"/>
              <a:t>             </a:t>
            </a:r>
            <a:r>
              <a:rPr lang="en-US" altLang="en-US" sz="1800" dirty="0"/>
              <a:t>з однаковими назвами.</a:t>
            </a:r>
            <a:endParaRPr lang="en-US" altLang="en-US" sz="1800" dirty="0"/>
          </a:p>
          <a:p>
            <a:pPr marL="0" indent="0">
              <a:buNone/>
            </a:pPr>
            <a:endParaRPr lang="en-US" altLang="en-US" sz="1800" dirty="0"/>
          </a:p>
          <a:p>
            <a:pPr marL="0" indent="0">
              <a:buNone/>
            </a:pPr>
            <a:r>
              <a:rPr lang="en-US" altLang="en-US" sz="1800" dirty="0"/>
              <a:t>По суті, пакет у Python — це звичайна папка, що містить файли-модулі (.py). Щоб папка вважалася пакетом (у класичному варіанті), у ній розміщують файл __init__.py. Допускається наявність вкладених пакетів (підпакетів), тобто папок усередині папок.</a:t>
            </a:r>
            <a:endParaRPr lang="en-US" altLang="en-US" sz="1800" dirty="0"/>
          </a:p>
          <a:p>
            <a:pPr marL="0" indent="0">
              <a:buNone/>
            </a:pPr>
            <a:endParaRPr lang="en-US" altLang="en-US" sz="1800" dirty="0"/>
          </a:p>
          <a:p>
            <a:pPr marL="0" indent="0">
              <a:buNone/>
            </a:pPr>
            <a:r>
              <a:rPr lang="en-US" altLang="en-US" sz="1800" dirty="0"/>
              <a:t>Кожен пакет утворює власний простір імен, а доступ до об’єктів здійснюється через імпорт із зазначенням шляху пакета</a:t>
            </a:r>
            <a:r>
              <a:rPr lang="uk-UA" altLang="en-US" sz="1800" dirty="0"/>
              <a:t>         </a:t>
            </a:r>
            <a:r>
              <a:rPr lang="en-US" altLang="en-US" sz="1800" dirty="0"/>
              <a:t> (наприклад: package.subpackage.module).</a:t>
            </a:r>
            <a:endParaRPr lang="en-US" altLang="en-US" sz="1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Заголовок 1"/>
          <p:cNvSpPr>
            <a:spLocks noGrp="1"/>
          </p:cNvSpPr>
          <p:nvPr>
            <p:ph type="title"/>
          </p:nvPr>
        </p:nvSpPr>
        <p:spPr/>
        <p:txBody>
          <a:bodyPr vert="horz" wrap="square" lIns="91440" tIns="45720" rIns="91440" bIns="45720" anchor="ctr" anchorCtr="0"/>
          <a:p>
            <a:r>
              <a:rPr lang="ru-RU" altLang="ru-RU" dirty="0"/>
              <a:t>Правила </a:t>
            </a:r>
            <a:r>
              <a:rPr lang="uk-UA" altLang="ru-RU" dirty="0"/>
              <a:t>йменування пакетів</a:t>
            </a:r>
            <a:endParaRPr lang="uk-UA" altLang="ru-RU" dirty="0"/>
          </a:p>
        </p:txBody>
      </p:sp>
      <p:sp>
        <p:nvSpPr>
          <p:cNvPr id="24578" name="Объект 2"/>
          <p:cNvSpPr>
            <a:spLocks noGrp="1"/>
          </p:cNvSpPr>
          <p:nvPr>
            <p:ph idx="1"/>
          </p:nvPr>
        </p:nvSpPr>
        <p:spPr>
          <a:xfrm>
            <a:off x="521335" y="1421765"/>
            <a:ext cx="8092440" cy="4594860"/>
          </a:xfrm>
        </p:spPr>
        <p:txBody>
          <a:bodyPr vert="horz" wrap="square" lIns="91440" tIns="45720" rIns="91440" bIns="45720" anchor="t" anchorCtr="0"/>
          <a:p>
            <a:pPr>
              <a:buFont typeface="Arial" panose="020B0604020202020204" pitchFamily="34" charset="0"/>
              <a:buChar char="•"/>
            </a:pPr>
            <a:r>
              <a:rPr lang="en-US" altLang="en-US" sz="2000" dirty="0"/>
              <a:t>Назви пакетів у Python зазвичай записуються маленькими літерами (lowercase) відповідно до рекомендацій стилю </a:t>
            </a:r>
            <a:r>
              <a:rPr lang="en-US" altLang="en-US" sz="2000" dirty="0">
                <a:hlinkClick r:id="rId1" action="ppaction://hlinkfile"/>
              </a:rPr>
              <a:t>PEP 8</a:t>
            </a:r>
            <a:endParaRPr lang="en-US" altLang="en-US" sz="2000" dirty="0"/>
          </a:p>
          <a:p>
            <a:pPr>
              <a:buFont typeface="Arial" panose="020B0604020202020204" pitchFamily="34" charset="0"/>
              <a:buChar char="•"/>
            </a:pPr>
            <a:r>
              <a:rPr lang="en-US" altLang="en-US" sz="2000" dirty="0"/>
              <a:t>Допускається використання цифр і підкреслень, але бажано уникати зайвих символів і робити назви короткими                    та зрозумілими. Найчастіше використовують лише малі літери та, за потреби, підкреслення</a:t>
            </a:r>
            <a:endParaRPr lang="en-US" altLang="en-US" sz="2000" dirty="0"/>
          </a:p>
          <a:p>
            <a:pPr>
              <a:buFont typeface="Arial" panose="020B0604020202020204" pitchFamily="34" charset="0"/>
              <a:buChar char="•"/>
            </a:pPr>
            <a:r>
              <a:rPr lang="en-US" altLang="en-US" sz="2000" dirty="0"/>
              <a:t>На відміну від Java, у Python не використовується обов’язкова система доменних імен (com, org, ua тощо). Кореневим пакетом фактично є папка проєкту або встановлений пакет бібліотеки</a:t>
            </a:r>
            <a:endParaRPr lang="en-US" altLang="en-US" sz="2000" dirty="0"/>
          </a:p>
          <a:p>
            <a:pPr>
              <a:buFont typeface="Arial" panose="020B0604020202020204" pitchFamily="34" charset="0"/>
              <a:buChar char="•"/>
            </a:pPr>
            <a:r>
              <a:rPr lang="en-US" altLang="en-US" sz="2000" dirty="0"/>
              <a:t>Пакети зазвичай називають за змістом проєкту, компанії </a:t>
            </a:r>
            <a:r>
              <a:rPr lang="uk-UA" altLang="en-US" sz="2000" dirty="0"/>
              <a:t>       </a:t>
            </a:r>
            <a:r>
              <a:rPr lang="en-US" altLang="en-US" sz="2000" dirty="0"/>
              <a:t>або функціональної області коду (наприклад: step, dataart, microsoft, utils, core, animals). Вкладені пакети формують ієрархію за логікою структури проєкту, а не за доменним ім’ям</a:t>
            </a:r>
            <a:endParaRPr lang="en-US" altLang="en-US"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Заголовок 1"/>
          <p:cNvSpPr>
            <a:spLocks noGrp="1"/>
          </p:cNvSpPr>
          <p:nvPr>
            <p:ph type="title"/>
          </p:nvPr>
        </p:nvSpPr>
        <p:spPr/>
        <p:txBody>
          <a:bodyPr vert="horz" wrap="square" lIns="91440" tIns="45720" rIns="91440" bIns="45720" anchor="ctr" anchorCtr="0"/>
          <a:p>
            <a:r>
              <a:rPr lang="uk-UA" dirty="0"/>
              <a:t>Приклад структури проєкту</a:t>
            </a:r>
            <a:endParaRPr lang="uk-UA" dirty="0"/>
          </a:p>
        </p:txBody>
      </p:sp>
      <p:pic>
        <p:nvPicPr>
          <p:cNvPr id="2" name="Content Placeholder 1"/>
          <p:cNvPicPr>
            <a:picLocks noChangeAspect="1"/>
          </p:cNvPicPr>
          <p:nvPr>
            <p:ph idx="1"/>
          </p:nvPr>
        </p:nvPicPr>
        <p:blipFill>
          <a:blip r:embed="rId1"/>
          <a:stretch>
            <a:fillRect/>
          </a:stretch>
        </p:blipFill>
        <p:spPr>
          <a:xfrm>
            <a:off x="249555" y="1489075"/>
            <a:ext cx="4742815" cy="3368040"/>
          </a:xfrm>
          <a:prstGeom prst="rect">
            <a:avLst/>
          </a:prstGeom>
        </p:spPr>
      </p:pic>
      <p:pic>
        <p:nvPicPr>
          <p:cNvPr id="3" name="Picture 2"/>
          <p:cNvPicPr>
            <a:picLocks noChangeAspect="1"/>
          </p:cNvPicPr>
          <p:nvPr/>
        </p:nvPicPr>
        <p:blipFill>
          <a:blip r:embed="rId2"/>
          <a:stretch>
            <a:fillRect/>
          </a:stretch>
        </p:blipFill>
        <p:spPr>
          <a:xfrm>
            <a:off x="5112385" y="3319145"/>
            <a:ext cx="3970655" cy="1835785"/>
          </a:xfrm>
          <a:prstGeom prst="rect">
            <a:avLst/>
          </a:prstGeom>
        </p:spPr>
      </p:pic>
      <p:pic>
        <p:nvPicPr>
          <p:cNvPr id="4" name="Picture 3"/>
          <p:cNvPicPr>
            <a:picLocks noChangeAspect="1"/>
          </p:cNvPicPr>
          <p:nvPr/>
        </p:nvPicPr>
        <p:blipFill>
          <a:blip r:embed="rId3"/>
          <a:stretch>
            <a:fillRect/>
          </a:stretch>
        </p:blipFill>
        <p:spPr>
          <a:xfrm>
            <a:off x="5112385" y="5300345"/>
            <a:ext cx="3951605" cy="148463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Заголовок 1"/>
          <p:cNvSpPr>
            <a:spLocks noGrp="1"/>
          </p:cNvSpPr>
          <p:nvPr>
            <p:ph type="title"/>
          </p:nvPr>
        </p:nvSpPr>
        <p:spPr/>
        <p:txBody>
          <a:bodyPr vert="horz" wrap="square" lIns="91440" tIns="45720" rIns="91440" bIns="45720" anchor="ctr" anchorCtr="0"/>
          <a:p>
            <a:r>
              <a:rPr lang="ru-RU" altLang="ru-RU" dirty="0"/>
              <a:t>У кожного об'єкта - свої поля</a:t>
            </a:r>
            <a:endParaRPr lang="ru-RU" altLang="ru-RU" dirty="0"/>
          </a:p>
        </p:txBody>
      </p:sp>
      <p:sp>
        <p:nvSpPr>
          <p:cNvPr id="5122" name="Объект 2"/>
          <p:cNvSpPr>
            <a:spLocks noGrp="1"/>
          </p:cNvSpPr>
          <p:nvPr>
            <p:ph idx="1"/>
          </p:nvPr>
        </p:nvSpPr>
        <p:spPr>
          <a:xfrm>
            <a:off x="679450" y="1457325"/>
            <a:ext cx="7924800" cy="4419600"/>
          </a:xfrm>
        </p:spPr>
        <p:txBody>
          <a:bodyPr vert="horz" wrap="square" lIns="91440" tIns="45720" rIns="91440" bIns="45720" anchor="t" anchorCtr="0"/>
          <a:p>
            <a:pPr marL="0" indent="0">
              <a:buNone/>
            </a:pPr>
            <a:r>
              <a:rPr lang="ru-RU" altLang="ru-RU" dirty="0"/>
              <a:t>Кожен екземпляр класу (об'єкт) під час створення отримує у своє розпорядження копію всіх нестатичних полів, оголошених у </a:t>
            </a:r>
            <a:r>
              <a:rPr lang="uk-UA" altLang="ru-RU" dirty="0"/>
              <a:t>конструкторі класа</a:t>
            </a:r>
            <a:r>
              <a:rPr lang="ru-RU" altLang="ru-RU" dirty="0"/>
              <a:t>. Це дає змогу відрізняти стани різних об'єктів. Однак, нестатичних (втім, як </a:t>
            </a:r>
            <a:r>
              <a:rPr lang="en-US" altLang="ru-RU" dirty="0"/>
              <a:t>      </a:t>
            </a:r>
            <a:r>
              <a:rPr lang="ru-RU" altLang="ru-RU" dirty="0"/>
              <a:t>і статичних) методів це не стосується - вони</a:t>
            </a:r>
            <a:r>
              <a:rPr lang="uk-UA" altLang="ru-RU" dirty="0"/>
              <a:t> </a:t>
            </a:r>
            <a:r>
              <a:rPr lang="ru-RU" altLang="ru-RU" dirty="0"/>
              <a:t>не копіюються на кожен об'єкт!</a:t>
            </a:r>
            <a:endParaRPr lang="ru-RU" altLang="ru-RU"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5" name="Заголовок 1"/>
          <p:cNvSpPr>
            <a:spLocks noGrp="1"/>
          </p:cNvSpPr>
          <p:nvPr>
            <p:ph type="title"/>
          </p:nvPr>
        </p:nvSpPr>
        <p:spPr/>
        <p:txBody>
          <a:bodyPr vert="horz" wrap="square" lIns="91440" tIns="45720" rIns="91440" bIns="45720" anchor="ctr" anchorCtr="0"/>
          <a:p>
            <a:r>
              <a:rPr lang="ru-RU" altLang="ru-RU" dirty="0">
                <a:sym typeface="+mn-ea"/>
              </a:rPr>
              <a:t>На всі об'єкти - один метод</a:t>
            </a:r>
            <a:endParaRPr lang="ru-RU" altLang="ru-RU" dirty="0"/>
          </a:p>
        </p:txBody>
      </p:sp>
      <p:sp>
        <p:nvSpPr>
          <p:cNvPr id="6146" name="Объект 2"/>
          <p:cNvSpPr>
            <a:spLocks noGrp="1"/>
          </p:cNvSpPr>
          <p:nvPr>
            <p:ph idx="1"/>
          </p:nvPr>
        </p:nvSpPr>
        <p:spPr>
          <a:xfrm>
            <a:off x="612140" y="1484630"/>
            <a:ext cx="7924800" cy="4419600"/>
          </a:xfrm>
        </p:spPr>
        <p:txBody>
          <a:bodyPr vert="horz" wrap="square" lIns="91440" tIns="45720" rIns="91440" bIns="45720" anchor="t" anchorCtr="0"/>
          <a:p>
            <a:pPr marL="0" indent="0">
              <a:buNone/>
            </a:pPr>
            <a:r>
              <a:rPr lang="ru-RU" altLang="ru-RU" sz="2700" dirty="0">
                <a:sym typeface="+mn-ea"/>
              </a:rPr>
              <a:t>Виникає питання, чому ж тоді коректно відпрацьовує код на кшталт</a:t>
            </a:r>
            <a:r>
              <a:rPr lang="ru-RU" altLang="ru-RU" sz="2700" dirty="0"/>
              <a:t>:</a:t>
            </a:r>
            <a:endParaRPr lang="ru-RU" altLang="ru-RU" sz="2700" dirty="0"/>
          </a:p>
          <a:p>
            <a:pPr marL="0" indent="0">
              <a:buNone/>
            </a:pPr>
            <a:r>
              <a:rPr lang="en-US" altLang="ru-RU" sz="2700" dirty="0"/>
              <a:t>a = </a:t>
            </a:r>
            <a:r>
              <a:rPr lang="en-US" altLang="ru-RU" sz="2700" dirty="0">
                <a:solidFill>
                  <a:srgbClr val="0070C0"/>
                </a:solidFill>
              </a:rPr>
              <a:t>Person</a:t>
            </a:r>
            <a:r>
              <a:rPr lang="en-US" altLang="ru-RU" sz="2700" dirty="0"/>
              <a:t>(</a:t>
            </a:r>
            <a:r>
              <a:rPr lang="en-US" altLang="ru-RU" sz="2700" dirty="0">
                <a:solidFill>
                  <a:srgbClr val="C00000"/>
                </a:solidFill>
              </a:rPr>
              <a:t>"</a:t>
            </a:r>
            <a:r>
              <a:rPr lang="uk-UA" altLang="en-US" sz="2700" dirty="0">
                <a:solidFill>
                  <a:srgbClr val="C00000"/>
                </a:solidFill>
              </a:rPr>
              <a:t>Сашко</a:t>
            </a:r>
            <a:r>
              <a:rPr lang="ru-RU" altLang="ru-RU" sz="2700" dirty="0">
                <a:solidFill>
                  <a:srgbClr val="C00000"/>
                </a:solidFill>
              </a:rPr>
              <a:t>"</a:t>
            </a:r>
            <a:r>
              <a:rPr lang="ru-RU" altLang="ru-RU" sz="2700" dirty="0"/>
              <a:t>)</a:t>
            </a:r>
            <a:endParaRPr lang="ru-RU" altLang="ru-RU" sz="2700" dirty="0"/>
          </a:p>
          <a:p>
            <a:pPr marL="0" indent="0">
              <a:buNone/>
            </a:pPr>
            <a:r>
              <a:rPr lang="en-US" altLang="ru-RU" sz="2700" dirty="0"/>
              <a:t>b = </a:t>
            </a:r>
            <a:r>
              <a:rPr lang="en-US" altLang="ru-RU" sz="2700" dirty="0">
                <a:solidFill>
                  <a:srgbClr val="0070C0"/>
                </a:solidFill>
              </a:rPr>
              <a:t>Person</a:t>
            </a:r>
            <a:r>
              <a:rPr lang="en-US" altLang="ru-RU" sz="2700" dirty="0"/>
              <a:t>(</a:t>
            </a:r>
            <a:r>
              <a:rPr lang="en-US" altLang="ru-RU" sz="2700" dirty="0">
                <a:solidFill>
                  <a:srgbClr val="C00000"/>
                </a:solidFill>
              </a:rPr>
              <a:t>"</a:t>
            </a:r>
            <a:r>
              <a:rPr lang="uk-UA" altLang="ru-RU" sz="2700" dirty="0">
                <a:solidFill>
                  <a:srgbClr val="C00000"/>
                </a:solidFill>
              </a:rPr>
              <a:t>Марійка</a:t>
            </a:r>
            <a:r>
              <a:rPr lang="ru-RU" altLang="ru-RU" sz="2700" dirty="0">
                <a:solidFill>
                  <a:srgbClr val="C00000"/>
                </a:solidFill>
              </a:rPr>
              <a:t>"</a:t>
            </a:r>
            <a:r>
              <a:rPr lang="ru-RU" altLang="ru-RU" sz="2700" dirty="0"/>
              <a:t>)</a:t>
            </a:r>
            <a:endParaRPr lang="ru-RU" altLang="ru-RU" sz="2700" dirty="0"/>
          </a:p>
          <a:p>
            <a:pPr marL="0" indent="0">
              <a:buNone/>
            </a:pPr>
            <a:r>
              <a:rPr lang="en-US" altLang="ru-RU" sz="2700" dirty="0"/>
              <a:t>a.print_info() </a:t>
            </a:r>
            <a:r>
              <a:rPr lang="en-US" altLang="ru-RU" sz="2700" dirty="0">
                <a:solidFill>
                  <a:srgbClr val="00B050"/>
                </a:solidFill>
              </a:rPr>
              <a:t># </a:t>
            </a:r>
            <a:r>
              <a:rPr lang="uk-UA" altLang="en-US" sz="2700" dirty="0">
                <a:solidFill>
                  <a:srgbClr val="00B050"/>
                </a:solidFill>
                <a:sym typeface="+mn-ea"/>
              </a:rPr>
              <a:t>Сашко</a:t>
            </a:r>
            <a:endParaRPr lang="ru-RU" altLang="ru-RU" sz="2700" dirty="0">
              <a:solidFill>
                <a:srgbClr val="00B050"/>
              </a:solidFill>
            </a:endParaRPr>
          </a:p>
          <a:p>
            <a:pPr marL="0" indent="0">
              <a:buNone/>
            </a:pPr>
            <a:r>
              <a:rPr lang="en-US" altLang="ru-RU" sz="2700" dirty="0"/>
              <a:t>b.print_info() </a:t>
            </a:r>
            <a:r>
              <a:rPr lang="en-US" altLang="ru-RU" sz="2700" dirty="0">
                <a:solidFill>
                  <a:srgbClr val="00B050"/>
                </a:solidFill>
              </a:rPr>
              <a:t># </a:t>
            </a:r>
            <a:r>
              <a:rPr lang="uk-UA" altLang="ru-RU" sz="2700" dirty="0">
                <a:solidFill>
                  <a:srgbClr val="00B050"/>
                </a:solidFill>
                <a:sym typeface="+mn-ea"/>
              </a:rPr>
              <a:t>Марійка</a:t>
            </a:r>
            <a:endParaRPr lang="ru-RU" altLang="ru-RU" sz="2700" dirty="0">
              <a:solidFill>
                <a:srgbClr val="00B050"/>
              </a:solidFill>
            </a:endParaRPr>
          </a:p>
          <a:p>
            <a:pPr marL="0" indent="0">
              <a:buNone/>
            </a:pPr>
            <a:r>
              <a:rPr lang="ru-RU" altLang="ru-RU" sz="2700" dirty="0">
                <a:sym typeface="+mn-ea"/>
              </a:rPr>
              <a:t>Як метод </a:t>
            </a:r>
            <a:r>
              <a:rPr lang="en-US" altLang="ru-RU" sz="2700" dirty="0">
                <a:sym typeface="+mn-ea"/>
              </a:rPr>
              <a:t>p</a:t>
            </a:r>
            <a:r>
              <a:rPr lang="ru-RU" altLang="ru-RU" sz="2700" dirty="0">
                <a:sym typeface="+mn-ea"/>
              </a:rPr>
              <a:t>rint</a:t>
            </a:r>
            <a:r>
              <a:rPr lang="en-US" altLang="ru-RU" sz="2700" dirty="0">
                <a:sym typeface="+mn-ea"/>
              </a:rPr>
              <a:t>_info</a:t>
            </a:r>
            <a:r>
              <a:rPr lang="ru-RU" altLang="ru-RU" sz="2700" dirty="0">
                <a:sym typeface="+mn-ea"/>
              </a:rPr>
              <a:t> визначає, для якого саме об'єкта він був викликаний, і як він "бачить" стан цього об'єкта?</a:t>
            </a:r>
            <a:endParaRPr lang="ru-RU" altLang="ru-RU" sz="27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Заголовок 1"/>
          <p:cNvSpPr>
            <a:spLocks noGrp="1"/>
          </p:cNvSpPr>
          <p:nvPr>
            <p:ph type="title"/>
          </p:nvPr>
        </p:nvSpPr>
        <p:spPr/>
        <p:txBody>
          <a:bodyPr vert="horz" wrap="square" lIns="91440" tIns="45720" rIns="91440" bIns="45720" anchor="ctr" anchorCtr="0"/>
          <a:p>
            <a:r>
              <a:rPr lang="uk-UA" altLang="ru-RU" dirty="0"/>
              <a:t>Посилання </a:t>
            </a:r>
            <a:r>
              <a:rPr lang="en-US" altLang="ru-RU" dirty="0"/>
              <a:t>self</a:t>
            </a:r>
            <a:endParaRPr lang="en-US" altLang="ru-RU" dirty="0"/>
          </a:p>
        </p:txBody>
      </p:sp>
      <p:sp>
        <p:nvSpPr>
          <p:cNvPr id="7170" name="Объект 2"/>
          <p:cNvSpPr>
            <a:spLocks noGrp="1"/>
          </p:cNvSpPr>
          <p:nvPr>
            <p:ph idx="1"/>
          </p:nvPr>
        </p:nvSpPr>
        <p:spPr>
          <a:xfrm>
            <a:off x="539750" y="1412875"/>
            <a:ext cx="8140700" cy="4419600"/>
          </a:xfrm>
        </p:spPr>
        <p:txBody>
          <a:bodyPr vert="horz" wrap="square" lIns="91440" tIns="45720" rIns="91440" bIns="45720" anchor="t" anchorCtr="0"/>
          <a:p>
            <a:pPr marL="0" indent="0">
              <a:buNone/>
            </a:pPr>
            <a:r>
              <a:rPr lang="en-US" altLang="en-US" sz="2300" dirty="0">
                <a:solidFill>
                  <a:schemeClr val="tx1"/>
                </a:solidFill>
              </a:rPr>
              <a:t>У Python, коли метод класу викликається для обробки даних конкретного об’єкта, цьому методу автоматично і неявно як перший параметр передається посилання      на той об’єкт, для якого метод був викликаний.                  Це посилання за домовленістю має ім’я </a:t>
            </a:r>
            <a:r>
              <a:rPr lang="en-US" altLang="en-US" sz="2300" b="1" dirty="0">
                <a:solidFill>
                  <a:schemeClr val="tx1"/>
                </a:solidFill>
              </a:rPr>
              <a:t>self </a:t>
            </a:r>
            <a:r>
              <a:rPr lang="en-US" altLang="en-US" sz="2300" dirty="0">
                <a:solidFill>
                  <a:schemeClr val="tx1"/>
                </a:solidFill>
              </a:rPr>
              <a:t>і </a:t>
            </a:r>
            <a:r>
              <a:rPr lang="en-US" altLang="en-US" sz="2300" u="sng" dirty="0">
                <a:solidFill>
                  <a:schemeClr val="tx1"/>
                </a:solidFill>
              </a:rPr>
              <a:t>явно вказується програмістом</a:t>
            </a:r>
            <a:r>
              <a:rPr lang="en-US" altLang="en-US" sz="2300" dirty="0">
                <a:solidFill>
                  <a:schemeClr val="tx1"/>
                </a:solidFill>
              </a:rPr>
              <a:t> у списку параметрів кожного нестатичного методу класу.</a:t>
            </a:r>
            <a:endParaRPr lang="en-US" altLang="en-US" sz="2300" dirty="0">
              <a:solidFill>
                <a:schemeClr val="tx1"/>
              </a:solidFill>
            </a:endParaRPr>
          </a:p>
          <a:p>
            <a:pPr marL="0" indent="0">
              <a:buNone/>
            </a:pPr>
            <a:endParaRPr lang="en-US" altLang="en-US" sz="2300" dirty="0">
              <a:solidFill>
                <a:schemeClr val="tx1"/>
              </a:solidFill>
            </a:endParaRPr>
          </a:p>
          <a:p>
            <a:pPr marL="0" indent="0">
              <a:buNone/>
            </a:pPr>
            <a:r>
              <a:rPr lang="en-US" altLang="en-US" sz="2300" dirty="0">
                <a:solidFill>
                  <a:schemeClr val="tx1"/>
                </a:solidFill>
              </a:rPr>
              <a:t>Таким чином метод отримує доступ до полів і інших методів саме того об’єкта, який його викликав.                    Це дозволяє одному й тому самому методу працювати       </a:t>
            </a:r>
            <a:r>
              <a:rPr lang="uk-UA" altLang="en-US" sz="2300" dirty="0">
                <a:solidFill>
                  <a:schemeClr val="tx1"/>
                </a:solidFill>
              </a:rPr>
              <a:t>з</a:t>
            </a:r>
            <a:r>
              <a:rPr lang="en-US" altLang="en-US" sz="2300" dirty="0">
                <a:solidFill>
                  <a:schemeClr val="tx1"/>
                </a:solidFill>
              </a:rPr>
              <a:t> багатьма різними об’єктами одного класу.</a:t>
            </a:r>
            <a:endParaRPr lang="en-US" altLang="en-US" sz="2300" dirty="0">
              <a:solidFill>
                <a:schemeClr val="tx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3" name="Заголовок 1"/>
          <p:cNvSpPr>
            <a:spLocks noGrp="1"/>
          </p:cNvSpPr>
          <p:nvPr>
            <p:ph type="title"/>
          </p:nvPr>
        </p:nvSpPr>
        <p:spPr/>
        <p:txBody>
          <a:bodyPr vert="horz" wrap="square" lIns="91440" tIns="45720" rIns="91440" bIns="45720" anchor="ctr" anchorCtr="0"/>
          <a:p>
            <a:r>
              <a:rPr lang="ru-RU" altLang="ru-RU" dirty="0">
                <a:sym typeface="+mn-ea"/>
              </a:rPr>
              <a:t>Як це працює</a:t>
            </a:r>
            <a:endParaRPr lang="ru-RU" altLang="ru-RU" dirty="0"/>
          </a:p>
        </p:txBody>
      </p:sp>
      <p:sp>
        <p:nvSpPr>
          <p:cNvPr id="8194" name="Объект 2"/>
          <p:cNvSpPr>
            <a:spLocks noGrp="1"/>
          </p:cNvSpPr>
          <p:nvPr>
            <p:ph idx="1"/>
          </p:nvPr>
        </p:nvSpPr>
        <p:spPr/>
        <p:txBody>
          <a:bodyPr vert="horz" wrap="square" lIns="91440" tIns="45720" rIns="91440" bIns="45720" anchor="t" anchorCtr="0"/>
          <a:p>
            <a:pPr marL="0" indent="0">
              <a:buNone/>
            </a:pPr>
            <a:r>
              <a:rPr lang="ru-RU" noProof="0" dirty="0" smtClean="0">
                <a:ln>
                  <a:noFill/>
                </a:ln>
                <a:effectLst/>
                <a:uLnTx/>
                <a:uFillTx/>
                <a:sym typeface="+mn-ea"/>
              </a:rPr>
              <a:t>Коли ми пишемо</a:t>
            </a:r>
            <a:endParaRPr kumimoji="0" lang="ru-RU" b="0" i="0" u="none" strike="noStrike" kern="0" cap="none" spc="0" normalizeH="0" baseline="0" noProof="0" dirty="0" smtClean="0">
              <a:ln>
                <a:noFill/>
              </a:ln>
              <a:solidFill>
                <a:schemeClr val="tx1"/>
              </a:solidFill>
              <a:effectLst/>
              <a:uLnTx/>
              <a:uFillTx/>
              <a:latin typeface="+mn-lt"/>
              <a:ea typeface="+mn-ea"/>
              <a:cs typeface="+mn-cs"/>
            </a:endParaRPr>
          </a:p>
          <a:p>
            <a:pPr marL="0" indent="0">
              <a:buNone/>
            </a:pPr>
            <a:r>
              <a:rPr lang="ru-RU" altLang="ru-RU" dirty="0"/>
              <a:t>	</a:t>
            </a:r>
            <a:r>
              <a:rPr lang="en-US" altLang="ru-RU" b="1" dirty="0">
                <a:solidFill>
                  <a:srgbClr val="002060"/>
                </a:solidFill>
              </a:rPr>
              <a:t>a.print_info()</a:t>
            </a:r>
            <a:endParaRPr lang="ru-RU" altLang="ru-RU" b="1" dirty="0">
              <a:solidFill>
                <a:srgbClr val="002060"/>
              </a:solidFill>
            </a:endParaRPr>
          </a:p>
          <a:p>
            <a:pPr marL="0" indent="0">
              <a:buNone/>
            </a:pPr>
            <a:r>
              <a:rPr lang="ru-RU" noProof="0" dirty="0" smtClean="0">
                <a:ln>
                  <a:noFill/>
                </a:ln>
                <a:effectLst/>
                <a:uLnTx/>
                <a:uFillTx/>
                <a:sym typeface="+mn-ea"/>
              </a:rPr>
              <a:t>для </a:t>
            </a:r>
            <a:r>
              <a:rPr lang="en-US" altLang="en-US" noProof="0" dirty="0" smtClean="0">
                <a:ln>
                  <a:noFill/>
                </a:ln>
                <a:effectLst/>
                <a:uLnTx/>
                <a:uFillTx/>
                <a:sym typeface="+mn-ea"/>
              </a:rPr>
              <a:t>інтерпретатора </a:t>
            </a:r>
            <a:r>
              <a:rPr lang="ru-RU" noProof="0" dirty="0" smtClean="0">
                <a:ln>
                  <a:noFill/>
                </a:ln>
                <a:effectLst/>
                <a:uLnTx/>
                <a:uFillTx/>
                <a:sym typeface="+mn-ea"/>
              </a:rPr>
              <a:t>це щось на кшталт</a:t>
            </a:r>
            <a:r>
              <a:rPr lang="ru-RU" altLang="ru-RU" dirty="0"/>
              <a:t>:</a:t>
            </a:r>
            <a:endParaRPr lang="ru-RU" altLang="ru-RU" dirty="0"/>
          </a:p>
          <a:p>
            <a:pPr marL="0" indent="0">
              <a:buNone/>
            </a:pPr>
            <a:r>
              <a:rPr lang="ru-RU" altLang="ru-RU" dirty="0"/>
              <a:t>	</a:t>
            </a:r>
            <a:r>
              <a:rPr lang="en-US" altLang="ru-RU" b="1" dirty="0">
                <a:solidFill>
                  <a:srgbClr val="002060"/>
                </a:solidFill>
              </a:rPr>
              <a:t>Person.print_info(a)</a:t>
            </a:r>
            <a:endParaRPr lang="en-US" altLang="ru-RU" b="1" dirty="0">
              <a:solidFill>
                <a:srgbClr val="002060"/>
              </a:solidFill>
            </a:endParaRPr>
          </a:p>
          <a:p>
            <a:pPr marL="0" indent="0">
              <a:buNone/>
            </a:pPr>
            <a:r>
              <a:rPr lang="ru-RU" noProof="0" dirty="0" smtClean="0">
                <a:ln>
                  <a:noFill/>
                </a:ln>
                <a:effectLst/>
                <a:uLnTx/>
                <a:uFillTx/>
                <a:sym typeface="+mn-ea"/>
              </a:rPr>
              <a:t>а сам метод має такий вигляд</a:t>
            </a:r>
            <a:r>
              <a:rPr lang="ru-RU" altLang="ru-RU" dirty="0"/>
              <a:t>:</a:t>
            </a:r>
            <a:endParaRPr lang="ru-RU" altLang="ru-RU" dirty="0"/>
          </a:p>
          <a:p>
            <a:pPr marL="0" indent="0">
              <a:buNone/>
            </a:pPr>
            <a:r>
              <a:rPr lang="ru-RU" altLang="ru-RU" dirty="0"/>
              <a:t>	</a:t>
            </a:r>
            <a:r>
              <a:rPr lang="en-US" altLang="ru-RU" b="1" dirty="0">
                <a:solidFill>
                  <a:srgbClr val="002060"/>
                </a:solidFill>
              </a:rPr>
              <a:t>def print_info(self):</a:t>
            </a:r>
            <a:endParaRPr lang="en-US" altLang="ru-RU" b="1" dirty="0">
              <a:solidFill>
                <a:srgbClr val="002060"/>
              </a:solidFill>
            </a:endParaRPr>
          </a:p>
          <a:p>
            <a:pPr marL="457200" lvl="1" indent="457200">
              <a:buNone/>
            </a:pPr>
            <a:r>
              <a:rPr lang="en-US" altLang="ru-RU" b="1" dirty="0">
                <a:solidFill>
                  <a:srgbClr val="002060"/>
                </a:solidFill>
              </a:rPr>
              <a:t>...</a:t>
            </a:r>
            <a:endParaRPr lang="en-US" altLang="ru-RU" b="1" dirty="0">
              <a:solidFill>
                <a:srgbClr val="00206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Заголовок 1"/>
          <p:cNvSpPr>
            <a:spLocks noGrp="1"/>
          </p:cNvSpPr>
          <p:nvPr>
            <p:ph type="title"/>
          </p:nvPr>
        </p:nvSpPr>
        <p:spPr/>
        <p:txBody>
          <a:bodyPr vert="horz" wrap="square" lIns="91440" tIns="45720" rIns="91440" bIns="45720" anchor="ctr" anchorCtr="0"/>
          <a:p>
            <a:r>
              <a:rPr altLang="ru-RU" dirty="0">
                <a:sym typeface="+mn-ea"/>
              </a:rPr>
              <a:t>Властивості </a:t>
            </a:r>
            <a:r>
              <a:rPr lang="uk-UA" altLang="ru-RU" dirty="0">
                <a:sym typeface="+mn-ea"/>
              </a:rPr>
              <a:t>посилання </a:t>
            </a:r>
            <a:r>
              <a:rPr lang="en-US" dirty="0">
                <a:sym typeface="+mn-ea"/>
              </a:rPr>
              <a:t>self</a:t>
            </a:r>
            <a:endParaRPr lang="en-US" dirty="0">
              <a:sym typeface="+mn-ea"/>
            </a:endParaRPr>
          </a:p>
        </p:txBody>
      </p:sp>
      <p:sp>
        <p:nvSpPr>
          <p:cNvPr id="9218" name="Объект 2"/>
          <p:cNvSpPr>
            <a:spLocks noGrp="1"/>
          </p:cNvSpPr>
          <p:nvPr>
            <p:ph idx="1"/>
          </p:nvPr>
        </p:nvSpPr>
        <p:spPr>
          <a:xfrm>
            <a:off x="443230" y="1389380"/>
            <a:ext cx="8161020" cy="4419600"/>
          </a:xfrm>
        </p:spPr>
        <p:txBody>
          <a:bodyPr vert="horz" wrap="square" lIns="91440" tIns="45720" rIns="91440" bIns="45720" anchor="t" anchorCtr="0"/>
          <a:p>
            <a:pPr>
              <a:buFont typeface="Arial" panose="020B0604020202020204" pitchFamily="34" charset="0"/>
              <a:buChar char="•"/>
            </a:pPr>
            <a:r>
              <a:rPr lang="en-US" altLang="en-US" sz="2500" dirty="0"/>
              <a:t>Параметр self отримує посилання на об’єкт, </a:t>
            </a:r>
            <a:r>
              <a:rPr lang="uk-UA" altLang="en-US" sz="2500" dirty="0"/>
              <a:t>       </a:t>
            </a:r>
            <a:r>
              <a:rPr lang="en-US" altLang="en-US" sz="2500" dirty="0"/>
              <a:t>для якого викликано метод, автоматично під час виклику методу, ще до початку виконання коду цього методу</a:t>
            </a:r>
            <a:endParaRPr lang="en-US" altLang="en-US" sz="2500" dirty="0"/>
          </a:p>
          <a:p>
            <a:pPr>
              <a:buFont typeface="Arial" panose="020B0604020202020204" pitchFamily="34" charset="0"/>
              <a:buChar char="•"/>
            </a:pPr>
            <a:r>
              <a:rPr lang="en-US" altLang="en-US" sz="2500" dirty="0"/>
              <a:t>Ідентифікатор self </a:t>
            </a:r>
            <a:r>
              <a:rPr lang="en-US" altLang="en-US" sz="2500" u="sng" dirty="0"/>
              <a:t>не є ключовим словом</a:t>
            </a:r>
            <a:r>
              <a:rPr lang="en-US" altLang="en-US" sz="2500" dirty="0"/>
              <a:t> у Python — це лише домовленість. Тобто програміст повинен сам писати його як перший параметр </a:t>
            </a:r>
            <a:r>
              <a:rPr lang="uk-UA" altLang="en-US" sz="2500" dirty="0"/>
              <a:t>       </a:t>
            </a:r>
            <a:r>
              <a:rPr lang="en-US" altLang="en-US" sz="2500" dirty="0"/>
              <a:t>у методах класу</a:t>
            </a:r>
            <a:endParaRPr lang="en-US" altLang="en-US" sz="2500" dirty="0"/>
          </a:p>
          <a:p>
            <a:pPr>
              <a:buFont typeface="Arial" panose="020B0604020202020204" pitchFamily="34" charset="0"/>
              <a:buChar char="•"/>
            </a:pPr>
            <a:r>
              <a:rPr lang="en-US" altLang="en-US" sz="2500" dirty="0"/>
              <a:t>створити власну змінну self у глобальній області чи в іншому місці можна, але вона не матиме жодного автоматичного зв’язку з об’єктом</a:t>
            </a:r>
            <a:endParaRPr lang="en-US" altLang="en-US" sz="25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Заголовок 1"/>
          <p:cNvSpPr>
            <a:spLocks noGrp="1"/>
          </p:cNvSpPr>
          <p:nvPr>
            <p:ph type="title"/>
          </p:nvPr>
        </p:nvSpPr>
        <p:spPr/>
        <p:txBody>
          <a:bodyPr vert="horz" wrap="square" lIns="91440" tIns="45720" rIns="91440" bIns="45720" anchor="ctr" anchorCtr="0"/>
          <a:p>
            <a:r>
              <a:rPr altLang="ru-RU" dirty="0">
                <a:sym typeface="+mn-ea"/>
              </a:rPr>
              <a:t>Властивості </a:t>
            </a:r>
            <a:r>
              <a:rPr lang="uk-UA" dirty="0">
                <a:sym typeface="+mn-ea"/>
              </a:rPr>
              <a:t>посилання </a:t>
            </a:r>
            <a:r>
              <a:rPr lang="en-US" dirty="0">
                <a:sym typeface="+mn-ea"/>
              </a:rPr>
              <a:t>self</a:t>
            </a:r>
            <a:endParaRPr lang="en-US" dirty="0">
              <a:sym typeface="+mn-ea"/>
            </a:endParaRPr>
          </a:p>
        </p:txBody>
      </p:sp>
      <p:sp>
        <p:nvSpPr>
          <p:cNvPr id="10242" name="Объект 2"/>
          <p:cNvSpPr>
            <a:spLocks noGrp="1"/>
          </p:cNvSpPr>
          <p:nvPr>
            <p:ph idx="1"/>
          </p:nvPr>
        </p:nvSpPr>
        <p:spPr>
          <a:xfrm>
            <a:off x="471170" y="1412875"/>
            <a:ext cx="8131810" cy="4419600"/>
          </a:xfrm>
        </p:spPr>
        <p:txBody>
          <a:bodyPr vert="horz" wrap="square" lIns="91440" tIns="45720" rIns="91440" bIns="45720" anchor="t" anchorCtr="0"/>
          <a:p>
            <a:pPr marL="457200" indent="-457200">
              <a:buFont typeface="Arial" panose="020B0604020202020204" pitchFamily="34" charset="0"/>
              <a:buChar char="•"/>
            </a:pPr>
            <a:r>
              <a:rPr lang="en-US" altLang="en-US" sz="2700" dirty="0"/>
              <a:t>Параметр self у Python </a:t>
            </a:r>
            <a:r>
              <a:rPr lang="uk-UA" altLang="en-US" sz="2700" dirty="0"/>
              <a:t>задуманий </a:t>
            </a:r>
            <a:r>
              <a:rPr lang="en-US" altLang="uk-UA" sz="2700" dirty="0"/>
              <a:t>                 </a:t>
            </a:r>
            <a:r>
              <a:rPr lang="uk-UA" altLang="en-US" sz="2700" dirty="0"/>
              <a:t>як</a:t>
            </a:r>
            <a:r>
              <a:rPr lang="en-US" altLang="en-US" sz="2700" dirty="0"/>
              <a:t> константн</a:t>
            </a:r>
            <a:r>
              <a:rPr lang="uk-UA" altLang="en-US" sz="2700" dirty="0"/>
              <a:t>е</a:t>
            </a:r>
            <a:r>
              <a:rPr lang="en-US" altLang="en-US" sz="2700" dirty="0"/>
              <a:t> посилання на об’єкт: </a:t>
            </a:r>
            <a:r>
              <a:rPr lang="en-US" altLang="en-US" sz="2700" u="sng" dirty="0"/>
              <a:t>змінювати його, щоб воно вказувало на інший об’єкт</a:t>
            </a:r>
            <a:r>
              <a:rPr lang="uk-UA" altLang="en-US" sz="2700" u="sng" dirty="0"/>
              <a:t> будь-якого типу можна</a:t>
            </a:r>
            <a:r>
              <a:rPr lang="en-US" altLang="en-US" sz="2700" u="sng" dirty="0"/>
              <a:t>, </a:t>
            </a:r>
            <a:r>
              <a:rPr lang="uk-UA" altLang="en-US" sz="2700" u="sng" dirty="0"/>
              <a:t>але </a:t>
            </a:r>
            <a:r>
              <a:rPr lang="en-US" altLang="en-US" sz="2700" u="sng" dirty="0"/>
              <a:t>не слід</a:t>
            </a:r>
            <a:r>
              <a:rPr lang="en-US" altLang="en-US" sz="2700" dirty="0"/>
              <a:t>. Воно </a:t>
            </a:r>
            <a:r>
              <a:rPr lang="uk-UA" altLang="en-US" sz="2700" dirty="0"/>
              <a:t>має </a:t>
            </a:r>
            <a:r>
              <a:rPr lang="en-US" altLang="en-US" sz="2700" dirty="0"/>
              <a:t>завжди посилат</a:t>
            </a:r>
            <a:r>
              <a:rPr lang="uk-UA" altLang="en-US" sz="2700" dirty="0"/>
              <a:t>ися</a:t>
            </a:r>
            <a:r>
              <a:rPr lang="en-US" altLang="en-US" sz="2700" dirty="0"/>
              <a:t> на той об’єкт, для якого викликано метод</a:t>
            </a:r>
            <a:endParaRPr lang="en-US" altLang="en-US" sz="2700" dirty="0"/>
          </a:p>
          <a:p>
            <a:pPr marL="457200" indent="-457200">
              <a:buFont typeface="Arial" panose="020B0604020202020204" pitchFamily="34" charset="0"/>
              <a:buChar char="•"/>
            </a:pPr>
            <a:r>
              <a:rPr lang="en-US" altLang="en-US" sz="2700" dirty="0"/>
              <a:t>Об’єкт, на який вказує self, стає доступним всередині нестатичного методу саме через цей параметр, що дозволяє отримувати         та змінювати його атрибути та викликати </a:t>
            </a:r>
            <a:r>
              <a:rPr lang="uk-UA" altLang="en-US" sz="2700" dirty="0"/>
              <a:t>   </a:t>
            </a:r>
            <a:r>
              <a:rPr lang="en-US" altLang="en-US" sz="2700" dirty="0"/>
              <a:t>інші методи</a:t>
            </a:r>
            <a:endParaRPr lang="en-US" altLang="en-US" sz="27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Заголовок 1"/>
          <p:cNvSpPr>
            <a:spLocks noGrp="1"/>
          </p:cNvSpPr>
          <p:nvPr>
            <p:ph type="title"/>
          </p:nvPr>
        </p:nvSpPr>
        <p:spPr/>
        <p:txBody>
          <a:bodyPr vert="horz" wrap="square" lIns="91440" tIns="45720" rIns="91440" bIns="45720" anchor="ctr" anchorCtr="0"/>
          <a:p>
            <a:r>
              <a:rPr lang="ru-RU" altLang="ru-RU" dirty="0">
                <a:sym typeface="+mn-ea"/>
              </a:rPr>
              <a:t>Інкапсуляція</a:t>
            </a:r>
            <a:endParaRPr lang="ru-RU" altLang="ru-RU" dirty="0"/>
          </a:p>
        </p:txBody>
      </p:sp>
      <p:sp>
        <p:nvSpPr>
          <p:cNvPr id="13314" name="Объект 2"/>
          <p:cNvSpPr>
            <a:spLocks noGrp="1"/>
          </p:cNvSpPr>
          <p:nvPr>
            <p:ph idx="1"/>
          </p:nvPr>
        </p:nvSpPr>
        <p:spPr>
          <a:xfrm>
            <a:off x="501650" y="1395730"/>
            <a:ext cx="8013700" cy="4419600"/>
          </a:xfrm>
        </p:spPr>
        <p:txBody>
          <a:bodyPr vert="horz" wrap="square" lIns="91440" tIns="45720" rIns="91440" bIns="45720" anchor="t" anchorCtr="0"/>
          <a:p>
            <a:pPr marL="0" indent="0">
              <a:buNone/>
            </a:pPr>
            <a:r>
              <a:rPr lang="en-US" altLang="en-US" sz="1900" dirty="0"/>
              <a:t>Інкапсуляція в Python — це принцип об’єднання даних (атрибутів) </a:t>
            </a:r>
            <a:r>
              <a:rPr lang="uk-UA" altLang="en-US" sz="1900" dirty="0"/>
              <a:t>  </a:t>
            </a:r>
            <a:r>
              <a:rPr lang="en-US" altLang="en-US" sz="1900" dirty="0"/>
              <a:t>та методів, що працюють з цими даними, в єдину сутність — клас.</a:t>
            </a:r>
            <a:endParaRPr lang="en-US" altLang="en-US" sz="1900" dirty="0"/>
          </a:p>
          <a:p>
            <a:pPr marL="0" indent="0">
              <a:buNone/>
            </a:pPr>
            <a:r>
              <a:rPr lang="en-US" altLang="en-US" sz="1900" dirty="0"/>
              <a:t>Додатково інкапсуляція включає приховування внутрішньої реалізації та контроль доступу до даних за допомогою конвенцій іменування:</a:t>
            </a:r>
            <a:endParaRPr lang="en-US" altLang="en-US" sz="1900" dirty="0"/>
          </a:p>
          <a:p>
            <a:pPr>
              <a:buFont typeface="Arial" panose="020B0604020202020204" pitchFamily="34" charset="0"/>
              <a:buChar char="•"/>
            </a:pPr>
            <a:r>
              <a:rPr lang="en-US" altLang="en-US" sz="1900" dirty="0"/>
              <a:t>Од</a:t>
            </a:r>
            <a:r>
              <a:rPr lang="uk-UA" altLang="en-US" sz="1900" dirty="0"/>
              <a:t>не </a:t>
            </a:r>
            <a:r>
              <a:rPr lang="en-US" altLang="en-US" sz="1900" dirty="0"/>
              <a:t>підкреслення на початку (_name) — захищений (protected) атрибут/метод: за домовленістю не слід використовувати поза класом та його підкласами</a:t>
            </a:r>
            <a:endParaRPr lang="en-US" altLang="en-US" sz="1900" dirty="0"/>
          </a:p>
          <a:p>
            <a:pPr>
              <a:buFont typeface="Arial" panose="020B0604020202020204" pitchFamily="34" charset="0"/>
              <a:buChar char="•"/>
            </a:pPr>
            <a:r>
              <a:rPr lang="en-US" altLang="en-US" sz="1900" dirty="0"/>
              <a:t>Два підкреслення на початку (__name) — приватний (private) атрибут/метод: Python застосовує </a:t>
            </a:r>
            <a:r>
              <a:rPr lang="en-US" altLang="en-US" sz="1900" b="1" dirty="0">
                <a:hlinkClick r:id="rId1" action="ppaction://hlinkfile"/>
              </a:rPr>
              <a:t>name mangling</a:t>
            </a:r>
            <a:r>
              <a:rPr lang="en-US" altLang="en-US" sz="1900" dirty="0"/>
              <a:t> (перейменування імені на _Ім'яКласу__name), що ускладнює </a:t>
            </a:r>
            <a:r>
              <a:rPr lang="uk-UA" altLang="en-US" sz="1900" dirty="0"/>
              <a:t>  </a:t>
            </a:r>
            <a:r>
              <a:rPr lang="en-US" altLang="en-US" sz="1900" dirty="0"/>
              <a:t>(але не блокує) випадковий доступ ззовні</a:t>
            </a:r>
            <a:endParaRPr lang="en-US" altLang="en-US" sz="1900" dirty="0"/>
          </a:p>
          <a:p>
            <a:pPr marL="0" indent="0">
              <a:buNone/>
            </a:pPr>
            <a:r>
              <a:rPr lang="en-US" altLang="en-US" sz="1900" dirty="0"/>
              <a:t>На відміну від багатьох інших мов, Python не забороняє доступ </a:t>
            </a:r>
            <a:r>
              <a:rPr lang="uk-UA" altLang="en-US" sz="1900" dirty="0"/>
              <a:t>        </a:t>
            </a:r>
            <a:r>
              <a:rPr lang="en-US" altLang="en-US" sz="1900" dirty="0"/>
              <a:t>до </a:t>
            </a:r>
            <a:r>
              <a:rPr lang="en-US" altLang="en-US" sz="1900" dirty="0"/>
              <a:t>«</a:t>
            </a:r>
            <a:r>
              <a:rPr lang="en-US" altLang="en-US" sz="1900" dirty="0"/>
              <a:t>прихованих</a:t>
            </a:r>
            <a:r>
              <a:rPr lang="en-US" altLang="en-US" sz="1900" dirty="0"/>
              <a:t>»</a:t>
            </a:r>
            <a:r>
              <a:rPr lang="en-US" altLang="en-US" sz="1900" dirty="0"/>
              <a:t> компонентів — це лише сильна рекомендація </a:t>
            </a:r>
            <a:r>
              <a:rPr lang="uk-UA" altLang="en-US" sz="1900" dirty="0"/>
              <a:t>   	</a:t>
            </a:r>
            <a:r>
              <a:rPr lang="en-US" altLang="en-US" sz="1900" dirty="0"/>
              <a:t>(</a:t>
            </a:r>
            <a:r>
              <a:rPr lang="en-US" altLang="en-US" sz="1900" dirty="0"/>
              <a:t>«</a:t>
            </a:r>
            <a:r>
              <a:rPr lang="en-US" altLang="en-US" sz="1900" dirty="0"/>
              <a:t>ми дорослі люди, дотримуйтесь конвенцій</a:t>
            </a:r>
            <a:r>
              <a:rPr lang="en-US" altLang="en-US" sz="1900" dirty="0"/>
              <a:t>»</a:t>
            </a:r>
            <a:r>
              <a:rPr lang="en-US" altLang="en-US" sz="1900" dirty="0"/>
              <a:t>).</a:t>
            </a:r>
            <a:endParaRPr lang="en-US" altLang="en-US" sz="1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ru-RU" altLang="ru-RU" dirty="0"/>
              <a:t>Методи-аксесори</a:t>
            </a:r>
            <a:endParaRPr lang="ru-RU" altLang="ru-RU" dirty="0"/>
          </a:p>
        </p:txBody>
      </p:sp>
      <p:sp>
        <p:nvSpPr>
          <p:cNvPr id="3" name="Объект 2"/>
          <p:cNvSpPr>
            <a:spLocks noGrp="1"/>
          </p:cNvSpPr>
          <p:nvPr>
            <p:ph idx="1"/>
          </p:nvPr>
        </p:nvSpPr>
        <p:spPr>
          <a:xfrm>
            <a:off x="609600" y="1773238"/>
            <a:ext cx="7924800" cy="4419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ru-RU" sz="3200" i="0" u="none" strike="noStrike" kern="0" cap="none" spc="0" normalizeH="0" baseline="0" noProof="0" smtClean="0">
                <a:ln>
                  <a:noFill/>
                </a:ln>
                <a:solidFill>
                  <a:schemeClr val="tx1"/>
                </a:solidFill>
                <a:effectLst/>
                <a:uLnTx/>
                <a:uFillTx/>
                <a:latin typeface="+mn-lt"/>
                <a:ea typeface="+mn-ea"/>
                <a:cs typeface="+mn-cs"/>
              </a:rPr>
              <a:t>Для забезпечення санкціонованого доступу (як на читання, так і на запис) до приватних даних об'єктів класу призначені спеціальні методи-аксесори:</a:t>
            </a:r>
            <a:endParaRPr kumimoji="0" lang="ru-RU" sz="3200" i="0" u="none" strike="noStrike" kern="0" cap="none" spc="0" normalizeH="0" baseline="0" noProof="0" smtClean="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ru-RU" sz="3200" b="1" i="0" u="none" strike="noStrike" kern="0" cap="none" spc="0" normalizeH="0" baseline="0" noProof="0" smtClean="0">
                <a:ln>
                  <a:noFill/>
                </a:ln>
                <a:solidFill>
                  <a:schemeClr val="tx1"/>
                </a:solidFill>
                <a:effectLst/>
                <a:uLnTx/>
                <a:uFillTx/>
                <a:latin typeface="+mn-lt"/>
                <a:ea typeface="+mn-ea"/>
                <a:cs typeface="+mn-cs"/>
              </a:rPr>
              <a:t>Інспектори (геттери)</a:t>
            </a:r>
            <a:endParaRPr kumimoji="0" lang="ru-RU" sz="3200" b="1" i="0" u="none" strike="noStrike" kern="0" cap="none" spc="0" normalizeH="0" baseline="0" noProof="0" smtClean="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ru-RU" sz="3200" b="1" i="0" u="none" strike="noStrike" kern="0" cap="none" spc="0" normalizeH="0" baseline="0" noProof="0" smtClean="0">
                <a:ln>
                  <a:noFill/>
                </a:ln>
                <a:solidFill>
                  <a:schemeClr val="tx1"/>
                </a:solidFill>
                <a:effectLst/>
                <a:uLnTx/>
                <a:uFillTx/>
                <a:latin typeface="+mn-lt"/>
                <a:ea typeface="+mn-ea"/>
                <a:cs typeface="+mn-cs"/>
              </a:rPr>
              <a:t>Модифікатори (сеттери)</a:t>
            </a:r>
            <a:endParaRPr kumimoji="0" lang="ru-RU" sz="32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Заголовок 1"/>
          <p:cNvSpPr>
            <a:spLocks noGrp="1"/>
          </p:cNvSpPr>
          <p:nvPr>
            <p:ph type="title"/>
          </p:nvPr>
        </p:nvSpPr>
        <p:spPr/>
        <p:txBody>
          <a:bodyPr vert="horz" wrap="square" lIns="91440" tIns="45720" rIns="91440" bIns="45720" anchor="ctr" anchorCtr="0"/>
          <a:p>
            <a:r>
              <a:rPr lang="ru-RU" altLang="ru-RU" dirty="0"/>
              <a:t>Сеттер</a:t>
            </a:r>
            <a:endParaRPr lang="ru-RU" altLang="ru-RU" dirty="0"/>
          </a:p>
        </p:txBody>
      </p:sp>
      <p:sp>
        <p:nvSpPr>
          <p:cNvPr id="26626" name="Объект 2"/>
          <p:cNvSpPr>
            <a:spLocks noGrp="1"/>
          </p:cNvSpPr>
          <p:nvPr>
            <p:ph idx="1"/>
          </p:nvPr>
        </p:nvSpPr>
        <p:spPr>
          <a:xfrm>
            <a:off x="540703" y="1386840"/>
            <a:ext cx="7924800" cy="4419600"/>
          </a:xfrm>
        </p:spPr>
        <p:txBody>
          <a:bodyPr vert="horz" wrap="square" lIns="91440" tIns="45720" rIns="91440" bIns="45720" anchor="t" anchorCtr="0"/>
          <a:p>
            <a:pPr marL="0" indent="0">
              <a:buNone/>
            </a:pPr>
            <a:r>
              <a:rPr lang="ru-RU" altLang="ru-RU" b="1" dirty="0"/>
              <a:t>Сеттер </a:t>
            </a:r>
            <a:r>
              <a:rPr lang="ru-RU" altLang="ru-RU" dirty="0"/>
              <a:t>(метод, що встановлює</a:t>
            </a:r>
            <a:r>
              <a:rPr lang="en-US" altLang="ru-RU" dirty="0"/>
              <a:t> </a:t>
            </a:r>
            <a:r>
              <a:rPr lang="ru-RU" altLang="ru-RU" dirty="0"/>
              <a:t>значення, метод, що модифікує, мутатор) - це метод класу, призначений для того, щоб присвоїти будь-яке значення інкапсульованому полю (деколи - кільком полям). Зазвичай, </a:t>
            </a:r>
            <a:r>
              <a:rPr lang="uk-UA" altLang="ru-RU" dirty="0"/>
              <a:t>  </a:t>
            </a:r>
            <a:r>
              <a:rPr lang="ru-RU" altLang="ru-RU" dirty="0"/>
              <a:t>при цьому сеттер обробляє неприпустимі варіанти значень для </a:t>
            </a:r>
            <a:r>
              <a:rPr lang="uk-UA" altLang="ru-RU" dirty="0"/>
              <a:t> </a:t>
            </a:r>
            <a:r>
              <a:rPr lang="ru-RU" altLang="ru-RU" dirty="0"/>
              <a:t>поля за допомогою умовних операторів.</a:t>
            </a:r>
            <a:endParaRPr lang="ru-RU" altLang="ru-RU"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Заголовок 1"/>
          <p:cNvSpPr>
            <a:spLocks noGrp="1"/>
          </p:cNvSpPr>
          <p:nvPr>
            <p:ph type="title"/>
          </p:nvPr>
        </p:nvSpPr>
        <p:spPr/>
        <p:txBody>
          <a:bodyPr vert="horz" wrap="square" lIns="91440" tIns="45720" rIns="91440" bIns="45720" anchor="ctr" anchorCtr="0"/>
          <a:p>
            <a:r>
              <a:rPr lang="ru-RU" altLang="ru-RU" dirty="0"/>
              <a:t>Геттер</a:t>
            </a:r>
            <a:endParaRPr lang="ru-RU" altLang="ru-RU" dirty="0"/>
          </a:p>
        </p:txBody>
      </p:sp>
      <p:sp>
        <p:nvSpPr>
          <p:cNvPr id="28674" name="Объект 2"/>
          <p:cNvSpPr>
            <a:spLocks noGrp="1"/>
          </p:cNvSpPr>
          <p:nvPr>
            <p:ph idx="1"/>
          </p:nvPr>
        </p:nvSpPr>
        <p:spPr>
          <a:xfrm>
            <a:off x="684213" y="1622425"/>
            <a:ext cx="7924800" cy="4419600"/>
          </a:xfrm>
        </p:spPr>
        <p:txBody>
          <a:bodyPr vert="horz" wrap="square" lIns="91440" tIns="45720" rIns="91440" bIns="45720" anchor="t" anchorCtr="0"/>
          <a:p>
            <a:pPr marL="0" indent="0">
              <a:buNone/>
            </a:pPr>
            <a:r>
              <a:rPr lang="ru-RU" altLang="ru-RU" b="1" dirty="0"/>
              <a:t>Геттер </a:t>
            </a:r>
            <a:r>
              <a:rPr lang="ru-RU" altLang="ru-RU" dirty="0"/>
              <a:t>(одержувач) - це метод, що дає змогу отримати дані, доступ до яких безпосередньо обмежений (через забезпечення механізму інкапсуляції).</a:t>
            </a:r>
            <a:endParaRPr lang="ru-RU" altLang="ru-RU" dirty="0"/>
          </a:p>
          <a:p>
            <a:pPr marL="0" indent="0">
              <a:buNone/>
            </a:pPr>
            <a:r>
              <a:rPr lang="ru-RU" altLang="ru-RU" dirty="0"/>
              <a:t>У реалізації геттери простіші за сеттери - не приймають параметрів і не виконують жодних особливих перевірок.</a:t>
            </a:r>
            <a:endParaRPr lang="ru-RU" altLang="ru-RU"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Заголовок 1"/>
          <p:cNvSpPr>
            <a:spLocks noGrp="1"/>
          </p:cNvSpPr>
          <p:nvPr>
            <p:ph type="title"/>
          </p:nvPr>
        </p:nvSpPr>
        <p:spPr/>
        <p:txBody>
          <a:bodyPr vert="horz" wrap="square" lIns="91440" tIns="45720" rIns="91440" bIns="45720" anchor="ctr" anchorCtr="0"/>
          <a:p>
            <a:r>
              <a:rPr lang="ru-RU" altLang="ru-RU" dirty="0">
                <a:sym typeface="+mn-ea"/>
              </a:rPr>
              <a:t>Приклад </a:t>
            </a:r>
            <a:r>
              <a:rPr lang="uk-UA" altLang="ru-RU" dirty="0">
                <a:sym typeface="+mn-ea"/>
              </a:rPr>
              <a:t>властивості</a:t>
            </a:r>
            <a:endParaRPr lang="uk-UA" altLang="ru-RU" dirty="0">
              <a:sym typeface="+mn-ea"/>
            </a:endParaRPr>
          </a:p>
        </p:txBody>
      </p:sp>
      <p:pic>
        <p:nvPicPr>
          <p:cNvPr id="2" name="Picture 1"/>
          <p:cNvPicPr>
            <a:picLocks noChangeAspect="1"/>
          </p:cNvPicPr>
          <p:nvPr/>
        </p:nvPicPr>
        <p:blipFill>
          <a:blip r:embed="rId1"/>
          <a:stretch>
            <a:fillRect/>
          </a:stretch>
        </p:blipFill>
        <p:spPr>
          <a:xfrm>
            <a:off x="1191895" y="1089025"/>
            <a:ext cx="6652895" cy="563943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Заголовок 1"/>
          <p:cNvSpPr>
            <a:spLocks noGrp="1"/>
          </p:cNvSpPr>
          <p:nvPr>
            <p:ph type="title"/>
          </p:nvPr>
        </p:nvSpPr>
        <p:spPr/>
        <p:txBody>
          <a:bodyPr vert="horz" wrap="square" lIns="91440" tIns="45720" rIns="91440" bIns="45720" anchor="ctr" anchorCtr="0"/>
          <a:p>
            <a:r>
              <a:rPr lang="uk-UA" altLang="ru-RU" dirty="0"/>
              <a:t>Приклад</a:t>
            </a:r>
            <a:r>
              <a:rPr lang="ru-RU" altLang="uk-UA" dirty="0"/>
              <a:t> на </a:t>
            </a:r>
            <a:r>
              <a:rPr lang="uk-UA" altLang="ru-RU" dirty="0"/>
              <a:t>властивості</a:t>
            </a:r>
            <a:endParaRPr lang="uk-UA" altLang="ru-RU" dirty="0"/>
          </a:p>
        </p:txBody>
      </p:sp>
      <p:sp>
        <p:nvSpPr>
          <p:cNvPr id="3" name="Объект 2"/>
          <p:cNvSpPr>
            <a:spLocks noGrp="1"/>
          </p:cNvSpPr>
          <p:nvPr>
            <p:ph idx="1"/>
          </p:nvPr>
        </p:nvSpPr>
        <p:spPr/>
        <p:txBody>
          <a:bodyPr vert="horz" wrap="square" lIns="91440" tIns="45720" rIns="91440" bIns="45720" numCol="1" anchor="t" anchorCtr="0" compatLnSpc="1"/>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en-US" altLang="en-US" sz="3200" b="1" i="0" u="none" strike="noStrike" kern="0" cap="none" spc="0" normalizeH="0" baseline="0" noProof="0" dirty="0">
                <a:ln>
                  <a:noFill/>
                </a:ln>
                <a:solidFill>
                  <a:schemeClr val="tx1"/>
                </a:solidFill>
                <a:effectLst/>
                <a:uLnTx/>
                <a:uFillTx/>
                <a:latin typeface="+mn-lt"/>
                <a:ea typeface="+mn-ea"/>
                <a:cs typeface="+mn-cs"/>
                <a:hlinkClick r:id="rId1" action="ppaction://hlinkfile"/>
              </a:rPr>
              <a:t>https://gist.github.com/sunmeat/47d54795cc490590891293b1840aeaff</a:t>
            </a:r>
            <a:endParaRPr kumimoji="0" lang="en-US" altLang="en-US" sz="3200" b="1" i="0" u="none" strike="noStrike" kern="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727075" y="3292475"/>
            <a:ext cx="7600950" cy="329565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Заголовок 1"/>
          <p:cNvSpPr>
            <a:spLocks noGrp="1"/>
          </p:cNvSpPr>
          <p:nvPr>
            <p:ph type="title"/>
          </p:nvPr>
        </p:nvSpPr>
        <p:spPr/>
        <p:txBody>
          <a:bodyPr vert="horz" wrap="square" lIns="91440" tIns="45720" rIns="91440" bIns="45720" anchor="ctr" anchorCtr="0"/>
          <a:p>
            <a:r>
              <a:rPr lang="uk-UA" altLang="en-US" dirty="0"/>
              <a:t>Поняття конструктора</a:t>
            </a:r>
            <a:endParaRPr lang="uk-UA" altLang="en-US" dirty="0"/>
          </a:p>
        </p:txBody>
      </p:sp>
      <p:sp>
        <p:nvSpPr>
          <p:cNvPr id="14338" name="Объект 2"/>
          <p:cNvSpPr>
            <a:spLocks noGrp="1"/>
          </p:cNvSpPr>
          <p:nvPr>
            <p:ph idx="1"/>
          </p:nvPr>
        </p:nvSpPr>
        <p:spPr>
          <a:xfrm>
            <a:off x="469900" y="1412875"/>
            <a:ext cx="8161655" cy="4752975"/>
          </a:xfrm>
        </p:spPr>
        <p:txBody>
          <a:bodyPr vert="horz" wrap="square" lIns="91440" tIns="45720" rIns="91440" bIns="45720" anchor="t" anchorCtr="0"/>
          <a:p>
            <a:pPr marL="0" indent="0">
              <a:buNone/>
            </a:pPr>
            <a:r>
              <a:rPr lang="en-US" altLang="en-US" sz="2900" dirty="0"/>
              <a:t>У Python конструктор — це спеціальний метод класу з фіксованим іменем </a:t>
            </a:r>
            <a:r>
              <a:rPr lang="en-US" altLang="en-US" sz="2900" b="1" dirty="0"/>
              <a:t>__init__</a:t>
            </a:r>
            <a:r>
              <a:rPr lang="en-US" altLang="en-US" sz="2900" dirty="0"/>
              <a:t>.</a:t>
            </a:r>
            <a:endParaRPr lang="en-US" altLang="en-US" sz="2900" dirty="0"/>
          </a:p>
          <a:p>
            <a:pPr marL="0" indent="0">
              <a:buNone/>
            </a:pPr>
            <a:r>
              <a:rPr lang="en-US" altLang="en-US" sz="2900" dirty="0"/>
              <a:t>Для нього не вказується тип значення, </a:t>
            </a:r>
            <a:r>
              <a:rPr lang="uk-UA" altLang="en-US" sz="2900" dirty="0"/>
              <a:t>        </a:t>
            </a:r>
            <a:r>
              <a:rPr lang="en-US" altLang="en-US" sz="2900" dirty="0"/>
              <a:t>що повертається (навіть None не потрібно писати).</a:t>
            </a:r>
            <a:endParaRPr lang="en-US" altLang="en-US" sz="2900" dirty="0"/>
          </a:p>
          <a:p>
            <a:pPr marL="0" indent="0">
              <a:buNone/>
            </a:pPr>
            <a:endParaRPr lang="en-US" altLang="en-US" sz="2900" dirty="0"/>
          </a:p>
          <a:p>
            <a:pPr marL="0" indent="0">
              <a:buNone/>
            </a:pPr>
            <a:r>
              <a:rPr lang="en-US" altLang="en-US" sz="2900" dirty="0"/>
              <a:t>Конструктор автоматично викликається </a:t>
            </a:r>
            <a:r>
              <a:rPr lang="uk-UA" altLang="en-US" sz="2900" dirty="0"/>
              <a:t>      </a:t>
            </a:r>
            <a:r>
              <a:rPr lang="en-US" altLang="en-US" sz="2900" dirty="0"/>
              <a:t>під час створення об’єкта класу, </a:t>
            </a:r>
            <a:r>
              <a:rPr lang="uk-UA" altLang="en-US" sz="2900" dirty="0"/>
              <a:t>               </a:t>
            </a:r>
            <a:r>
              <a:rPr lang="en-US" altLang="en-US" sz="2900" dirty="0"/>
              <a:t>тобто викликати його вручну не потрібно</a:t>
            </a:r>
            <a:r>
              <a:rPr lang="uk-UA" altLang="en-US" sz="2900" dirty="0"/>
              <a:t>.</a:t>
            </a:r>
            <a:endParaRPr lang="uk-UA" altLang="en-US" sz="2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Заголовок 1"/>
          <p:cNvSpPr>
            <a:spLocks noGrp="1"/>
          </p:cNvSpPr>
          <p:nvPr>
            <p:ph type="title"/>
          </p:nvPr>
        </p:nvSpPr>
        <p:spPr/>
        <p:txBody>
          <a:bodyPr vert="horz" wrap="square" lIns="91440" tIns="45720" rIns="91440" bIns="45720" anchor="ctr" anchorCtr="0"/>
          <a:p>
            <a:r>
              <a:rPr lang="ru-RU" altLang="ru-RU" dirty="0"/>
              <a:t>Модиф</a:t>
            </a:r>
            <a:r>
              <a:rPr lang="uk-UA" altLang="ru-RU" dirty="0"/>
              <a:t>і</a:t>
            </a:r>
            <a:r>
              <a:rPr lang="ru-RU" altLang="ru-RU" dirty="0"/>
              <a:t>катор</a:t>
            </a:r>
            <a:r>
              <a:rPr lang="uk-UA" altLang="ru-RU" dirty="0"/>
              <a:t>и</a:t>
            </a:r>
            <a:r>
              <a:rPr lang="ru-RU" altLang="ru-RU" dirty="0"/>
              <a:t> конструктор</a:t>
            </a:r>
            <a:r>
              <a:rPr lang="uk-UA" altLang="ru-RU" dirty="0"/>
              <a:t>і</a:t>
            </a:r>
            <a:r>
              <a:rPr lang="ru-RU" altLang="ru-RU" dirty="0"/>
              <a:t>в</a:t>
            </a:r>
            <a:endParaRPr lang="ru-RU" altLang="ru-RU" dirty="0"/>
          </a:p>
        </p:txBody>
      </p:sp>
      <p:sp>
        <p:nvSpPr>
          <p:cNvPr id="15362" name="Объект 2"/>
          <p:cNvSpPr>
            <a:spLocks noGrp="1"/>
          </p:cNvSpPr>
          <p:nvPr>
            <p:ph idx="1"/>
          </p:nvPr>
        </p:nvSpPr>
        <p:spPr>
          <a:xfrm>
            <a:off x="514985" y="1412875"/>
            <a:ext cx="8114030" cy="4752975"/>
          </a:xfrm>
        </p:spPr>
        <p:txBody>
          <a:bodyPr vert="horz" wrap="square" lIns="91440" tIns="45720" rIns="91440" bIns="45720" anchor="t" anchorCtr="0"/>
          <a:p>
            <a:pPr marL="0" indent="0">
              <a:buNone/>
            </a:pPr>
            <a:r>
              <a:rPr lang="en-US" altLang="en-US" sz="2100" dirty="0"/>
              <a:t>У Python для конструктора __init__ не використовується модифікатор доступу — </a:t>
            </a:r>
            <a:r>
              <a:rPr lang="en-US" altLang="en-US" sz="2100" b="1" dirty="0"/>
              <a:t>він завжди публічний</a:t>
            </a:r>
            <a:r>
              <a:rPr lang="en-US" altLang="en-US" sz="2100" dirty="0"/>
              <a:t> і доступний для створення об’єктів класу. Інших рівнів доступу, як protected або private, для конструктора немає.</a:t>
            </a:r>
            <a:endParaRPr lang="en-US" altLang="en-US" sz="2100" dirty="0"/>
          </a:p>
          <a:p>
            <a:pPr marL="0" indent="0">
              <a:buNone/>
            </a:pPr>
            <a:endParaRPr lang="en-US" altLang="en-US" sz="2100" dirty="0"/>
          </a:p>
          <a:p>
            <a:pPr marL="0" indent="0">
              <a:buNone/>
            </a:pPr>
            <a:r>
              <a:rPr lang="en-US" altLang="en-US" sz="2100" dirty="0"/>
              <a:t>Параметри конструктора передаються під час створення об’єкта і використовуються для ініціалізації атрибутів</a:t>
            </a:r>
            <a:r>
              <a:rPr lang="uk-UA" altLang="en-US" sz="2100" dirty="0"/>
              <a:t>.</a:t>
            </a:r>
            <a:endParaRPr lang="en-US" altLang="en-US" sz="2100" dirty="0"/>
          </a:p>
          <a:p>
            <a:pPr marL="0" indent="0">
              <a:buNone/>
            </a:pPr>
            <a:r>
              <a:rPr lang="en-US" altLang="en-US" sz="2100" dirty="0"/>
              <a:t>У Python </a:t>
            </a:r>
            <a:r>
              <a:rPr lang="en-US" altLang="en-US" sz="2100" u="sng" dirty="0"/>
              <a:t>не підтримується пряме перевантаження</a:t>
            </a:r>
            <a:r>
              <a:rPr lang="en-US" altLang="en-US" sz="2100" dirty="0"/>
              <a:t> конструкторів (як у C# або C++). Замість цього можна використовувати параметри за замовчуванням, *args / **kwargs або додаткові клас-методи (@classmethod) для альтернативних способів створення об’єкта.</a:t>
            </a:r>
            <a:endParaRPr lang="en-US" altLang="en-US" sz="2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Заголовок 1"/>
          <p:cNvSpPr>
            <a:spLocks noGrp="1"/>
          </p:cNvSpPr>
          <p:nvPr>
            <p:ph type="title"/>
          </p:nvPr>
        </p:nvSpPr>
        <p:spPr/>
        <p:txBody>
          <a:bodyPr vert="horz" wrap="square" lIns="91440" tIns="45720" rIns="91440" bIns="45720" anchor="ctr" anchorCtr="0"/>
          <a:p>
            <a:r>
              <a:rPr lang="uk-UA" dirty="0"/>
              <a:t>Магічні методи</a:t>
            </a:r>
            <a:endParaRPr lang="uk-UA" dirty="0"/>
          </a:p>
        </p:txBody>
      </p:sp>
      <p:sp>
        <p:nvSpPr>
          <p:cNvPr id="19458" name="Объект 2"/>
          <p:cNvSpPr>
            <a:spLocks noGrp="1"/>
          </p:cNvSpPr>
          <p:nvPr>
            <p:ph idx="1"/>
          </p:nvPr>
        </p:nvSpPr>
        <p:spPr>
          <a:xfrm>
            <a:off x="463550" y="1412875"/>
            <a:ext cx="8104505" cy="4419600"/>
          </a:xfrm>
        </p:spPr>
        <p:txBody>
          <a:bodyPr vert="horz" wrap="square" lIns="91440" tIns="45720" rIns="91440" bIns="45720" anchor="t" anchorCtr="0"/>
          <a:p>
            <a:pPr marL="0" indent="0">
              <a:buNone/>
            </a:pPr>
            <a:r>
              <a:rPr lang="en-US" altLang="en-US" sz="1900" b="1" dirty="0"/>
              <a:t>Магічні методи</a:t>
            </a:r>
            <a:r>
              <a:rPr lang="en-US" altLang="en-US" sz="1900" dirty="0"/>
              <a:t> (або dunder-методи, від double underscore) у Python — це спеціальні методи з подвійними підкресленнями на початку </a:t>
            </a:r>
            <a:r>
              <a:rPr lang="uk-UA" altLang="en-US" sz="1900" dirty="0"/>
              <a:t>      </a:t>
            </a:r>
            <a:r>
              <a:rPr lang="en-US" altLang="en-US" sz="1900" dirty="0"/>
              <a:t>та в кінці назви (наприклад, __init__, __str__, __add__, __len__, __getitem__ тощо), які дозволяють налаштовувати поведінку об’єктів класу при використанні стандартних операторів, вбудованих функцій та синтаксичних конструкцій мови.</a:t>
            </a:r>
            <a:endParaRPr lang="en-US" altLang="en-US" sz="1900" dirty="0"/>
          </a:p>
          <a:p>
            <a:pPr marL="0" indent="0">
              <a:buNone/>
            </a:pPr>
            <a:r>
              <a:rPr lang="en-US" altLang="en-US" sz="1900" dirty="0"/>
              <a:t>Завдяки магічним методам об’єкти класу </a:t>
            </a:r>
            <a:r>
              <a:rPr lang="uk-UA" altLang="en-US" sz="1900" dirty="0"/>
              <a:t>можуть поводитися </a:t>
            </a:r>
            <a:r>
              <a:rPr lang="en-US" altLang="en-US" sz="1900" dirty="0"/>
              <a:t>подібно до вбудованих типів:</a:t>
            </a:r>
            <a:endParaRPr lang="en-US" altLang="en-US" sz="1900" dirty="0"/>
          </a:p>
          <a:p>
            <a:pPr>
              <a:buFont typeface="Arial" panose="020B0604020202020204" pitchFamily="34" charset="0"/>
              <a:buChar char="•"/>
            </a:pPr>
            <a:r>
              <a:rPr lang="en-US" altLang="en-US" sz="1500" b="1" dirty="0"/>
              <a:t>+, -, *, ==, &lt;, &gt;</a:t>
            </a:r>
            <a:endParaRPr lang="en-US" altLang="en-US" sz="1500" b="1" dirty="0"/>
          </a:p>
          <a:p>
            <a:pPr>
              <a:buFont typeface="Arial" panose="020B0604020202020204" pitchFamily="34" charset="0"/>
              <a:buChar char="•"/>
            </a:pPr>
            <a:r>
              <a:rPr lang="en-US" altLang="en-US" sz="1500" b="1" dirty="0"/>
              <a:t>print(obj), str(obj), repr(obj)</a:t>
            </a:r>
            <a:endParaRPr lang="en-US" altLang="en-US" sz="1500" b="1" dirty="0"/>
          </a:p>
          <a:p>
            <a:pPr>
              <a:buFont typeface="Arial" panose="020B0604020202020204" pitchFamily="34" charset="0"/>
              <a:buChar char="•"/>
            </a:pPr>
            <a:r>
              <a:rPr lang="en-US" altLang="en-US" sz="1500" b="1" dirty="0"/>
              <a:t>len(obj), obj[індекс], obj в колекції, if obj:</a:t>
            </a:r>
            <a:endParaRPr lang="en-US" altLang="en-US" sz="1500" b="1" dirty="0"/>
          </a:p>
          <a:p>
            <a:pPr>
              <a:buFont typeface="Arial" panose="020B0604020202020204" pitchFamily="34" charset="0"/>
              <a:buChar char="•"/>
            </a:pPr>
            <a:r>
              <a:rPr lang="en-US" altLang="en-US" sz="1500" b="1" dirty="0"/>
              <a:t>об’єкт можна використовувати як ключ у словнику (__hash__ + __eq__)</a:t>
            </a:r>
            <a:endParaRPr lang="en-US" altLang="en-US" sz="1500" b="1" dirty="0"/>
          </a:p>
          <a:p>
            <a:pPr>
              <a:buFont typeface="Arial" panose="020B0604020202020204" pitchFamily="34" charset="0"/>
              <a:buChar char="•"/>
            </a:pPr>
            <a:r>
              <a:rPr lang="en-US" altLang="en-US" sz="1500" b="1" dirty="0"/>
              <a:t>об’єкт м</a:t>
            </a:r>
            <a:r>
              <a:rPr lang="uk-UA" altLang="en-US" sz="1500" b="1" dirty="0"/>
              <a:t>оже працювати</a:t>
            </a:r>
            <a:r>
              <a:rPr lang="en-US" altLang="en-US" sz="1500" b="1" dirty="0"/>
              <a:t> в конструкції with (__enter__ / __exit__)</a:t>
            </a:r>
            <a:endParaRPr lang="en-US" altLang="en-US" sz="1500" b="1" dirty="0"/>
          </a:p>
          <a:p>
            <a:pPr>
              <a:buFont typeface="Arial" panose="020B0604020202020204" pitchFamily="34" charset="0"/>
              <a:buChar char="•"/>
            </a:pPr>
            <a:r>
              <a:rPr lang="en-US" altLang="en-US" sz="1500" b="1" dirty="0"/>
              <a:t>і багато іншого</a:t>
            </a:r>
            <a:endParaRPr lang="en-US" altLang="en-US" sz="1500" b="1" dirty="0"/>
          </a:p>
        </p:txBody>
      </p:sp>
      <p:sp>
        <p:nvSpPr>
          <p:cNvPr id="2" name="Text Box 1"/>
          <p:cNvSpPr txBox="1"/>
          <p:nvPr/>
        </p:nvSpPr>
        <p:spPr>
          <a:xfrm>
            <a:off x="48260" y="6351270"/>
            <a:ext cx="8997950" cy="414020"/>
          </a:xfrm>
          <a:prstGeom prst="rect">
            <a:avLst/>
          </a:prstGeom>
          <a:noFill/>
        </p:spPr>
        <p:txBody>
          <a:bodyPr wrap="square" rtlCol="0" anchor="t">
            <a:spAutoFit/>
          </a:bodyPr>
          <a:p>
            <a:pPr algn="ctr"/>
            <a:r>
              <a:rPr lang="en-US" altLang="en-US" sz="2100" b="1">
                <a:hlinkClick r:id="rId1" action="ppaction://hlinkfile"/>
              </a:rPr>
              <a:t>https://gist.github.com/sunmeat/e83be2c40370f001ef7f9550f1a306ff</a:t>
            </a:r>
            <a:endParaRPr lang="en-US" altLang="en-US" sz="2100" b="1">
              <a:hlinkClick r:id="rId1" action="ppaction://hlinkfile"/>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Заголовок 1"/>
          <p:cNvSpPr>
            <a:spLocks noGrp="1"/>
          </p:cNvSpPr>
          <p:nvPr>
            <p:ph type="title"/>
          </p:nvPr>
        </p:nvSpPr>
        <p:spPr/>
        <p:txBody>
          <a:bodyPr vert="horz" wrap="square" lIns="91440" tIns="45720" rIns="91440" bIns="45720" anchor="ctr" anchorCtr="0"/>
          <a:p>
            <a:r>
              <a:rPr lang="ru-RU" altLang="ru-RU" dirty="0"/>
              <a:t>Деструктор</a:t>
            </a:r>
            <a:r>
              <a:rPr lang="uk-UA" altLang="ru-RU" dirty="0"/>
              <a:t>и</a:t>
            </a:r>
            <a:endParaRPr lang="uk-UA" altLang="ru-RU" dirty="0"/>
          </a:p>
        </p:txBody>
      </p:sp>
      <p:sp>
        <p:nvSpPr>
          <p:cNvPr id="19458" name="Объект 2"/>
          <p:cNvSpPr>
            <a:spLocks noGrp="1"/>
          </p:cNvSpPr>
          <p:nvPr>
            <p:ph idx="1"/>
          </p:nvPr>
        </p:nvSpPr>
        <p:spPr>
          <a:xfrm>
            <a:off x="463550" y="1412875"/>
            <a:ext cx="8285163" cy="4419600"/>
          </a:xfrm>
        </p:spPr>
        <p:txBody>
          <a:bodyPr vert="horz" wrap="square" lIns="91440" tIns="45720" rIns="91440" bIns="45720" anchor="t" anchorCtr="0"/>
          <a:p>
            <a:pPr marL="0" indent="0">
              <a:buNone/>
            </a:pPr>
            <a:r>
              <a:rPr lang="en-US" altLang="en-US" sz="2500" dirty="0"/>
              <a:t>У Python немає явних деструкторів, як у C++ чи C#. Натомість існує спеціальний метод </a:t>
            </a:r>
            <a:r>
              <a:rPr lang="en-US" altLang="en-US" sz="2500" b="1" dirty="0"/>
              <a:t>__del__</a:t>
            </a:r>
            <a:r>
              <a:rPr lang="en-US" altLang="en-US" sz="2500" dirty="0"/>
              <a:t>, який виконує функцію, протилежну конструктору: він автоматично викликається, коли об’єкт видаляється збирачем сміття (garbage collector), тобто коли          на об’єкт більше немає посилань.</a:t>
            </a:r>
            <a:endParaRPr lang="en-US" altLang="en-US" sz="2500" dirty="0"/>
          </a:p>
          <a:p>
            <a:pPr marL="0" indent="0">
              <a:buNone/>
            </a:pPr>
            <a:r>
              <a:rPr lang="en-US" altLang="en-US" sz="2500" dirty="0"/>
              <a:t>У Python виклик __del__ не гарантовано одразу після виходу з області видимості об’єкта, бо збірка сміття працює автоматично. Тому для управління ресурсами частіше використовують </a:t>
            </a:r>
            <a:r>
              <a:rPr lang="en-US" altLang="en-US" sz="2500" b="1" dirty="0"/>
              <a:t>контекстні менеджери</a:t>
            </a:r>
            <a:r>
              <a:rPr lang="en-US" altLang="en-US" sz="2500" dirty="0"/>
              <a:t> (with) або методи очищення ресурсів.</a:t>
            </a:r>
            <a:endParaRPr lang="en-US" altLang="en-US" sz="25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Заголовок 1"/>
          <p:cNvSpPr>
            <a:spLocks noGrp="1"/>
          </p:cNvSpPr>
          <p:nvPr>
            <p:ph type="title"/>
          </p:nvPr>
        </p:nvSpPr>
        <p:spPr/>
        <p:txBody>
          <a:bodyPr vert="horz" wrap="square" lIns="91440" tIns="45720" rIns="91440" bIns="45720" anchor="ctr" anchorCtr="0"/>
          <a:p>
            <a:r>
              <a:rPr lang="ru-RU" altLang="ru-RU" dirty="0"/>
              <a:t>Статичн</a:t>
            </a:r>
            <a:r>
              <a:rPr lang="uk-UA" altLang="ru-RU" dirty="0"/>
              <a:t>і</a:t>
            </a:r>
            <a:r>
              <a:rPr lang="ru-RU" altLang="ru-RU" dirty="0"/>
              <a:t> пол</a:t>
            </a:r>
            <a:r>
              <a:rPr lang="uk-UA" altLang="ru-RU" dirty="0"/>
              <a:t>я (атрибути класу)</a:t>
            </a:r>
            <a:endParaRPr lang="uk-UA" altLang="ru-RU" dirty="0"/>
          </a:p>
        </p:txBody>
      </p:sp>
      <p:sp>
        <p:nvSpPr>
          <p:cNvPr id="9218" name="Объект 2"/>
          <p:cNvSpPr>
            <a:spLocks noGrp="1"/>
          </p:cNvSpPr>
          <p:nvPr>
            <p:ph idx="1"/>
          </p:nvPr>
        </p:nvSpPr>
        <p:spPr>
          <a:xfrm>
            <a:off x="609600" y="1466850"/>
            <a:ext cx="7921625" cy="4416425"/>
          </a:xfrm>
        </p:spPr>
        <p:txBody>
          <a:bodyPr vert="horz" wrap="square" lIns="91440" tIns="45720" rIns="91440" bIns="45720" anchor="t" anchorCtr="0"/>
          <a:p>
            <a:pPr marL="0" indent="0">
              <a:buNone/>
            </a:pPr>
            <a:r>
              <a:rPr lang="uk-UA" altLang="en-US" sz="2400" dirty="0"/>
              <a:t>У</a:t>
            </a:r>
            <a:r>
              <a:rPr lang="en-US" altLang="en-US" sz="2400" dirty="0"/>
              <a:t> Python є </a:t>
            </a:r>
            <a:r>
              <a:rPr lang="uk-UA" altLang="en-US" sz="2400" dirty="0"/>
              <a:t>своєрідні </a:t>
            </a:r>
            <a:r>
              <a:rPr lang="en-US" altLang="en-US" sz="2400" dirty="0"/>
              <a:t>статичні поля, але вони називаються трохи інакше — </a:t>
            </a:r>
            <a:r>
              <a:rPr lang="en-US" altLang="en-US" sz="2400" b="1" dirty="0"/>
              <a:t>атрибути класу</a:t>
            </a:r>
            <a:r>
              <a:rPr lang="en-US" altLang="en-US" sz="2400" dirty="0"/>
              <a:t> (class attributes) або статичні змінні класу.</a:t>
            </a:r>
            <a:endParaRPr lang="en-US" altLang="en-US" sz="2400" dirty="0"/>
          </a:p>
          <a:p>
            <a:pPr marL="0" indent="0">
              <a:buNone/>
            </a:pPr>
            <a:r>
              <a:rPr lang="en-US" altLang="en-US" sz="2400" dirty="0"/>
              <a:t>На відміну від </a:t>
            </a:r>
            <a:r>
              <a:rPr lang="uk-UA" altLang="en-US" sz="2400" dirty="0"/>
              <a:t>С++</a:t>
            </a:r>
            <a:r>
              <a:rPr lang="en-US" altLang="en-US" sz="2400" dirty="0"/>
              <a:t>/C#, у Python немає ключового слова static. Просто оголошу</a:t>
            </a:r>
            <a:r>
              <a:rPr lang="uk-UA" altLang="en-US" sz="2400" dirty="0"/>
              <a:t>ється</a:t>
            </a:r>
            <a:r>
              <a:rPr lang="en-US" altLang="en-US" sz="2400" dirty="0"/>
              <a:t> змінн</a:t>
            </a:r>
            <a:r>
              <a:rPr lang="uk-UA" altLang="en-US" sz="2400" dirty="0"/>
              <a:t>а</a:t>
            </a:r>
            <a:r>
              <a:rPr lang="en-US" altLang="en-US" sz="2400" dirty="0"/>
              <a:t> безпосередньо в тілі класу (поза методами) — і вона автоматично стає спільною для всіх екземплярів</a:t>
            </a:r>
            <a:r>
              <a:rPr lang="en-US" altLang="ru-RU" sz="2400" dirty="0"/>
              <a:t>:</a:t>
            </a:r>
            <a:endParaRPr lang="en-US" altLang="ru-RU" sz="2400" dirty="0"/>
          </a:p>
          <a:p>
            <a:pPr marL="0" indent="0">
              <a:buNone/>
            </a:pPr>
            <a:endParaRPr lang="en-US" altLang="ru-RU" sz="2400" dirty="0"/>
          </a:p>
          <a:p>
            <a:pPr marL="0" indent="0" algn="ctr">
              <a:buNone/>
            </a:pPr>
            <a:r>
              <a:rPr lang="en-US" altLang="en-US" b="1" dirty="0">
                <a:hlinkClick r:id="rId1" action="ppaction://hlinkfile"/>
              </a:rPr>
              <a:t>https://gist.github.com/sunmeat/6ada00a9010a4d092536209add4a8543</a:t>
            </a:r>
            <a:endParaRPr lang="en-US" altLang="en-US" b="1"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Заголовок 1"/>
          <p:cNvSpPr>
            <a:spLocks noGrp="1"/>
          </p:cNvSpPr>
          <p:nvPr>
            <p:ph type="title"/>
          </p:nvPr>
        </p:nvSpPr>
        <p:spPr/>
        <p:txBody>
          <a:bodyPr vert="horz" wrap="square" lIns="91440" tIns="45720" rIns="91440" bIns="45720" anchor="ctr" anchorCtr="0"/>
          <a:p>
            <a:r>
              <a:rPr lang="uk-UA" altLang="ru-RU" dirty="0"/>
              <a:t>Визначення атрибуту класу</a:t>
            </a:r>
            <a:endParaRPr lang="uk-UA" altLang="ru-RU" dirty="0"/>
          </a:p>
        </p:txBody>
      </p:sp>
      <p:sp>
        <p:nvSpPr>
          <p:cNvPr id="10242" name="Объект 2"/>
          <p:cNvSpPr>
            <a:spLocks noGrp="1"/>
          </p:cNvSpPr>
          <p:nvPr>
            <p:ph idx="1"/>
          </p:nvPr>
        </p:nvSpPr>
        <p:spPr>
          <a:xfrm>
            <a:off x="544830" y="1386205"/>
            <a:ext cx="7988300" cy="4419600"/>
          </a:xfrm>
        </p:spPr>
        <p:txBody>
          <a:bodyPr vert="horz" wrap="square" lIns="91440" tIns="45720" rIns="91440" bIns="45720" anchor="t" anchorCtr="0"/>
          <a:p>
            <a:pPr marL="0" indent="0" algn="l">
              <a:buNone/>
            </a:pPr>
            <a:r>
              <a:rPr lang="en-US" altLang="en-US" sz="2200" b="1" dirty="0"/>
              <a:t>Атрибут класу</a:t>
            </a:r>
            <a:r>
              <a:rPr lang="en-US" altLang="en-US" sz="2200" dirty="0"/>
              <a:t> (class attribute, class variable) — це змінна, яка належить класу, а не окремому об’єкту. Вона спільна для всіх екземплярів і існує навіть коли ще не створено жодного об’єкта. По суті це майже глобальна змінна, тільки доступна через ім’я класу (Monster.count), не захаращує глобальний простір імен і чітко прив’язана до класу.</a:t>
            </a:r>
            <a:endParaRPr lang="en-US" altLang="en-US" sz="2200" dirty="0"/>
          </a:p>
          <a:p>
            <a:pPr marL="0" indent="0" algn="l">
              <a:buNone/>
            </a:pPr>
            <a:r>
              <a:rPr lang="en-US" altLang="en-US" sz="2200" dirty="0"/>
              <a:t>У Python немає глобальних змінних як у C++</a:t>
            </a:r>
            <a:r>
              <a:rPr lang="uk-UA" altLang="en-US" sz="2200" dirty="0"/>
              <a:t> (з</a:t>
            </a:r>
            <a:r>
              <a:rPr lang="en-US" altLang="en-US" sz="2200" dirty="0"/>
              <a:t>мінна</a:t>
            </a:r>
            <a:r>
              <a:rPr lang="uk-UA" altLang="en-US" sz="2200" dirty="0"/>
              <a:t>, створена за межами функції,</a:t>
            </a:r>
            <a:r>
              <a:rPr lang="en-US" altLang="en-US" sz="2200" dirty="0"/>
              <a:t> належить конкретному модулю (файлу), а не всьому проєкту одразу</a:t>
            </a:r>
            <a:r>
              <a:rPr lang="uk-UA" altLang="en-US" sz="2200" dirty="0"/>
              <a:t>, і щ</a:t>
            </a:r>
            <a:r>
              <a:rPr lang="en-US" altLang="en-US" sz="2200" dirty="0"/>
              <a:t>об її побачити з іншого файлу — треба імпортувати модуль</a:t>
            </a:r>
            <a:r>
              <a:rPr lang="uk-UA" altLang="en-US" sz="2200" dirty="0"/>
              <a:t>)</a:t>
            </a:r>
            <a:r>
              <a:rPr lang="en-US" altLang="en-US" sz="2200" dirty="0"/>
              <a:t>, зате атрибути класу — найчистіший спосіб тримати спільні дані: лічильник об’єктів, константи, налаштування тощо.</a:t>
            </a:r>
            <a:endParaRPr lang="en-US" altLang="en-US" sz="2200" dirty="0"/>
          </a:p>
          <a:p>
            <a:pPr marL="0" indent="0" algn="l">
              <a:buNone/>
            </a:pPr>
            <a:endParaRPr lang="en-US" altLang="en-US" sz="2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Заголовок 1"/>
          <p:cNvSpPr>
            <a:spLocks noGrp="1"/>
          </p:cNvSpPr>
          <p:nvPr>
            <p:ph type="title"/>
          </p:nvPr>
        </p:nvSpPr>
        <p:spPr/>
        <p:txBody>
          <a:bodyPr vert="horz" wrap="square" lIns="91440" tIns="45720" rIns="91440" bIns="45720" anchor="ctr" anchorCtr="0"/>
          <a:p>
            <a:r>
              <a:rPr lang="uk-UA" altLang="ru-RU" dirty="0"/>
              <a:t>І</a:t>
            </a:r>
            <a:r>
              <a:rPr lang="ru-RU" altLang="ru-RU" dirty="0"/>
              <a:t>нкапсуляц</a:t>
            </a:r>
            <a:r>
              <a:rPr lang="uk-UA" altLang="ru-RU" dirty="0"/>
              <a:t>і</a:t>
            </a:r>
            <a:r>
              <a:rPr lang="ru-RU" altLang="ru-RU" dirty="0"/>
              <a:t>я </a:t>
            </a:r>
            <a:r>
              <a:rPr lang="uk-UA" altLang="ru-RU" dirty="0"/>
              <a:t>атрибуту класу</a:t>
            </a:r>
            <a:endParaRPr lang="uk-UA" altLang="ru-RU" dirty="0"/>
          </a:p>
        </p:txBody>
      </p:sp>
      <p:sp>
        <p:nvSpPr>
          <p:cNvPr id="16386" name="Объект 2"/>
          <p:cNvSpPr>
            <a:spLocks noGrp="1"/>
          </p:cNvSpPr>
          <p:nvPr>
            <p:ph idx="1"/>
          </p:nvPr>
        </p:nvSpPr>
        <p:spPr>
          <a:xfrm>
            <a:off x="536258" y="1413193"/>
            <a:ext cx="7924800" cy="4419600"/>
          </a:xfrm>
        </p:spPr>
        <p:txBody>
          <a:bodyPr vert="horz" wrap="square" lIns="91440" tIns="45720" rIns="91440" bIns="45720" anchor="t" anchorCtr="0"/>
          <a:p>
            <a:pPr marL="0" indent="0" algn="l">
              <a:buNone/>
            </a:pPr>
            <a:r>
              <a:rPr lang="uk-UA" sz="2700" dirty="0"/>
              <a:t>Варіант з геттером (не властивість):</a:t>
            </a:r>
            <a:endParaRPr lang="uk-UA" sz="2700" dirty="0"/>
          </a:p>
          <a:p>
            <a:pPr marL="0" indent="0" algn="ctr">
              <a:buNone/>
            </a:pPr>
            <a:r>
              <a:rPr lang="en-US" altLang="en-US" sz="2700" b="1" dirty="0">
                <a:hlinkClick r:id="rId1" action="ppaction://hlinkfile"/>
              </a:rPr>
              <a:t>https://gist.github.com/sunmeat/3a458084b67226f480cd21cecc6a26bb</a:t>
            </a:r>
            <a:endParaRPr lang="en-US" altLang="en-US" sz="2700" dirty="0"/>
          </a:p>
          <a:p>
            <a:pPr marL="0" indent="0" algn="l">
              <a:buNone/>
            </a:pPr>
            <a:endParaRPr lang="en-US" altLang="en-US" sz="2700" dirty="0"/>
          </a:p>
          <a:p>
            <a:pPr marL="0" indent="0" algn="l">
              <a:buNone/>
            </a:pPr>
            <a:r>
              <a:rPr lang="uk-UA" sz="2700" dirty="0"/>
              <a:t>Варіант з класом-дескриптором (не можна поєднати </a:t>
            </a:r>
            <a:r>
              <a:rPr lang="en-US" sz="2700" dirty="0"/>
              <a:t>@property </a:t>
            </a:r>
            <a:r>
              <a:rPr lang="uk-UA" sz="2700" dirty="0"/>
              <a:t>та </a:t>
            </a:r>
            <a:r>
              <a:rPr lang="en-US" sz="2700" dirty="0"/>
              <a:t>@classmethod):</a:t>
            </a:r>
            <a:endParaRPr lang="en-US" sz="2700" dirty="0"/>
          </a:p>
          <a:p>
            <a:pPr marL="0" indent="0" algn="ctr">
              <a:buNone/>
            </a:pPr>
            <a:r>
              <a:rPr lang="en-US" altLang="en-US" sz="2700" b="1" dirty="0">
                <a:hlinkClick r:id="rId2" action="ppaction://hlinkfile"/>
              </a:rPr>
              <a:t>https://gist.github.com/sunmeat/c4a0a1140bab954a44989666e872f38e</a:t>
            </a:r>
            <a:endParaRPr lang="en-US" altLang="en-US" sz="2700" b="1" dirty="0"/>
          </a:p>
          <a:p>
            <a:pPr marL="0" indent="0" algn="l">
              <a:buNone/>
            </a:pPr>
            <a:endParaRPr lang="en-US" altLang="uk-UA" sz="2700" dirty="0"/>
          </a:p>
          <a:p>
            <a:pPr marL="0" indent="0" algn="l">
              <a:buNone/>
            </a:pPr>
            <a:endParaRPr lang="en-US" altLang="uk-UA" sz="2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Заголовок 1"/>
          <p:cNvSpPr>
            <a:spLocks noGrp="1"/>
          </p:cNvSpPr>
          <p:nvPr>
            <p:ph type="title"/>
          </p:nvPr>
        </p:nvSpPr>
        <p:spPr/>
        <p:txBody>
          <a:bodyPr vert="horz" wrap="square" lIns="91440" tIns="45720" rIns="91440" bIns="45720" anchor="ctr" anchorCtr="0"/>
          <a:p>
            <a:r>
              <a:rPr lang="uk-UA" altLang="ru-RU" dirty="0"/>
              <a:t>Клас-дескриптор</a:t>
            </a:r>
            <a:endParaRPr lang="uk-UA" altLang="ru-RU" dirty="0"/>
          </a:p>
        </p:txBody>
      </p:sp>
      <p:sp>
        <p:nvSpPr>
          <p:cNvPr id="18434" name="Объект 2"/>
          <p:cNvSpPr>
            <a:spLocks noGrp="1"/>
          </p:cNvSpPr>
          <p:nvPr>
            <p:ph idx="1"/>
          </p:nvPr>
        </p:nvSpPr>
        <p:spPr>
          <a:xfrm>
            <a:off x="539750" y="1413510"/>
            <a:ext cx="7994650" cy="4419600"/>
          </a:xfrm>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https://www.it-notes.wiki/python/descriptor-in-python/</a:t>
            </a:r>
            <a:endParaRPr lang="en-US" altLang="en-US" b="1"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Заголовок 1"/>
          <p:cNvSpPr>
            <a:spLocks noGrp="1"/>
          </p:cNvSpPr>
          <p:nvPr>
            <p:ph type="title"/>
          </p:nvPr>
        </p:nvSpPr>
        <p:spPr/>
        <p:txBody>
          <a:bodyPr vert="horz" wrap="square" lIns="91440" tIns="45720" rIns="91440" bIns="45720" anchor="ctr" anchorCtr="0"/>
          <a:p>
            <a:r>
              <a:rPr lang="uk-UA" altLang="ru-RU" dirty="0"/>
              <a:t>Ще про магічні методи</a:t>
            </a:r>
            <a:endParaRPr lang="uk-UA" altLang="ru-RU" dirty="0"/>
          </a:p>
        </p:txBody>
      </p:sp>
      <p:sp>
        <p:nvSpPr>
          <p:cNvPr id="18434" name="Объект 2"/>
          <p:cNvSpPr>
            <a:spLocks noGrp="1"/>
          </p:cNvSpPr>
          <p:nvPr>
            <p:ph idx="1"/>
          </p:nvPr>
        </p:nvSpPr>
        <p:spPr>
          <a:xfrm>
            <a:off x="539750" y="1413510"/>
            <a:ext cx="7994650" cy="4419600"/>
          </a:xfrm>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https://uk.sharpcoderblog.com/blog/understanding-pythons-magic-methods-and-dunder-functions</a:t>
            </a:r>
            <a:endParaRPr lang="en-US" altLang="en-US" b="1"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Заголовок 1"/>
          <p:cNvSpPr>
            <a:spLocks noGrp="1"/>
          </p:cNvSpPr>
          <p:nvPr>
            <p:ph type="title"/>
          </p:nvPr>
        </p:nvSpPr>
        <p:spPr>
          <a:xfrm>
            <a:off x="195263" y="228600"/>
            <a:ext cx="8624887" cy="914400"/>
          </a:xfrm>
        </p:spPr>
        <p:txBody>
          <a:bodyPr vert="horz" wrap="square" lIns="91440" tIns="45720" rIns="91440" bIns="45720" anchor="ctr" anchorCtr="0"/>
          <a:p>
            <a:r>
              <a:rPr lang="uk-UA" altLang="ru-RU" sz="4000" dirty="0"/>
              <a:t>Статичний блок </a:t>
            </a:r>
            <a:r>
              <a:rPr lang="en-US" altLang="ru-RU" sz="4000" dirty="0"/>
              <a:t>/ </a:t>
            </a:r>
            <a:r>
              <a:rPr lang="uk-UA" altLang="ru-RU" sz="4000" dirty="0"/>
              <a:t>конструктор</a:t>
            </a:r>
            <a:endParaRPr lang="uk-UA" altLang="ru-RU" sz="4000" dirty="0"/>
          </a:p>
        </p:txBody>
      </p:sp>
      <p:sp>
        <p:nvSpPr>
          <p:cNvPr id="19458" name="Объект 2"/>
          <p:cNvSpPr>
            <a:spLocks noGrp="1"/>
          </p:cNvSpPr>
          <p:nvPr>
            <p:ph idx="1"/>
          </p:nvPr>
        </p:nvSpPr>
        <p:spPr>
          <a:xfrm>
            <a:off x="625475" y="1412875"/>
            <a:ext cx="7978775" cy="4419600"/>
          </a:xfrm>
        </p:spPr>
        <p:txBody>
          <a:bodyPr vert="horz" wrap="square" lIns="91440" tIns="45720" rIns="91440" bIns="45720" anchor="t" anchorCtr="0"/>
          <a:p>
            <a:pPr marL="0" indent="0" algn="l">
              <a:buNone/>
            </a:pPr>
            <a:r>
              <a:rPr lang="en-US" altLang="en-US" sz="2100" dirty="0"/>
              <a:t>У Python немає вбудованого аналога Java-статичного блоку static { … } чи статичного конструктора (static initializer / static constructor), який виконується автоматично один раз під час завантаження класу в пам’ять.</a:t>
            </a:r>
            <a:r>
              <a:rPr lang="uk-UA" altLang="en-US" sz="2100" dirty="0"/>
              <a:t> Цю задачу вирішують, пишучі </a:t>
            </a:r>
            <a:r>
              <a:rPr lang="en-US" altLang="en-US" sz="2100" dirty="0"/>
              <a:t>код на рівні класу</a:t>
            </a:r>
            <a:r>
              <a:rPr lang="uk-UA" altLang="en-US" sz="2100" dirty="0"/>
              <a:t>. </a:t>
            </a:r>
            <a:r>
              <a:rPr lang="en-US" altLang="en-US" sz="2100" dirty="0"/>
              <a:t>Усе, що стоїть безпосередньо в тілі класу (поза методами), виконується один раз під час визначення класу (тобто коли інтерпретатор доходить до рядка class)</a:t>
            </a:r>
            <a:r>
              <a:rPr lang="uk-UA" altLang="en-US" sz="2100" dirty="0"/>
              <a:t>:</a:t>
            </a:r>
            <a:endParaRPr lang="uk-UA" altLang="en-US" sz="2100" dirty="0"/>
          </a:p>
        </p:txBody>
      </p:sp>
      <p:pic>
        <p:nvPicPr>
          <p:cNvPr id="2" name="Picture 1"/>
          <p:cNvPicPr>
            <a:picLocks noChangeAspect="1"/>
          </p:cNvPicPr>
          <p:nvPr/>
        </p:nvPicPr>
        <p:blipFill>
          <a:blip r:embed="rId1"/>
          <a:stretch>
            <a:fillRect/>
          </a:stretch>
        </p:blipFill>
        <p:spPr>
          <a:xfrm>
            <a:off x="1240790" y="3796030"/>
            <a:ext cx="6617335" cy="298386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ext Box 51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ru-RU" sz="4200" dirty="0" err="1">
                <a:solidFill>
                  <a:srgbClr val="FFFFFF"/>
                </a:solidFill>
                <a:latin typeface="Arial" panose="020B0604020202020204" pitchFamily="34" charset="0"/>
              </a:rPr>
              <a:t>ДЗ на інкапсуляцію</a:t>
            </a:r>
            <a:endParaRPr lang="uk-UA" altLang="ru-RU" sz="4200" dirty="0" err="1">
              <a:solidFill>
                <a:srgbClr val="FFFFFF"/>
              </a:solidFill>
              <a:latin typeface="Arial" panose="020B0604020202020204" pitchFamily="34" charset="0"/>
            </a:endParaRPr>
          </a:p>
        </p:txBody>
      </p:sp>
      <p:sp>
        <p:nvSpPr>
          <p:cNvPr id="7170" name="Text Box 5121"/>
          <p:cNvSpPr txBox="1"/>
          <p:nvPr/>
        </p:nvSpPr>
        <p:spPr>
          <a:xfrm>
            <a:off x="684213" y="1479550"/>
            <a:ext cx="7862887" cy="4281488"/>
          </a:xfrm>
          <a:prstGeom prst="rect">
            <a:avLst/>
          </a:prstGeom>
          <a:noFill/>
          <a:ln w="9525">
            <a:noFill/>
          </a:ln>
        </p:spPr>
        <p:txBody>
          <a:bodyPr wrap="square" lIns="91440" tIns="45720" rIns="91440" bIns="45720" anchor="t" anchorCtr="0"/>
          <a:p>
            <a:pPr algn="ctr" defTabSz="457200">
              <a:spcBef>
                <a:spcPts val="7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latin typeface="Arial" panose="020B0604020202020204" pitchFamily="34" charset="0"/>
              <a:hlinkClick r:id="rId1" action="ppaction://hlinkfile"/>
            </a:endParaRPr>
          </a:p>
          <a:p>
            <a:pPr algn="ctr" defTabSz="457200">
              <a:spcBef>
                <a:spcPts val="7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endParaRPr lang="en-US" altLang="en-US" sz="3200" b="1" dirty="0" err="1">
              <a:solidFill>
                <a:srgbClr val="000000"/>
              </a:solidFill>
              <a:latin typeface="Arial" panose="020B0604020202020204" pitchFamily="34" charset="0"/>
              <a:hlinkClick r:id="rId1" action="ppaction://hlinkfile"/>
            </a:endParaRPr>
          </a:p>
          <a:p>
            <a:pPr algn="ctr" defTabSz="457200">
              <a:spcBef>
                <a:spcPts val="7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en-US" altLang="en-US" sz="3200" b="1" dirty="0" err="1">
                <a:solidFill>
                  <a:srgbClr val="000000"/>
                </a:solidFill>
                <a:latin typeface="Arial" panose="020B0604020202020204" pitchFamily="34" charset="0"/>
                <a:hlinkClick r:id="rId1" action="ppaction://hlinkfile"/>
              </a:rPr>
              <a:t>https://gist.github.com/sunmeat/97c62e3602ed9fc66ff30f60592ff2c4</a:t>
            </a:r>
            <a:endParaRPr lang="en-US" altLang="en-US" sz="3200" b="1" dirty="0" err="1">
              <a:solidFill>
                <a:srgbClr val="000000"/>
              </a:solidFill>
              <a:latin typeface="Arial" panose="020B0604020202020204" pitchFamily="34" charset="0"/>
              <a:hlinkClick r:id="rId1" action="ppaction://hlinkfile"/>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9" name="Text Box 51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Відносини класів</a:t>
            </a:r>
            <a:endParaRPr lang="ru-RU" altLang="x-none" sz="4200" dirty="0" err="1">
              <a:solidFill>
                <a:srgbClr val="FFFFFF"/>
              </a:solidFill>
              <a:latin typeface="Arial" panose="020B0604020202020204" pitchFamily="34" charset="0"/>
            </a:endParaRPr>
          </a:p>
        </p:txBody>
      </p:sp>
      <p:sp>
        <p:nvSpPr>
          <p:cNvPr id="7170" name="Text Box 5121"/>
          <p:cNvSpPr txBox="1"/>
          <p:nvPr/>
        </p:nvSpPr>
        <p:spPr>
          <a:xfrm>
            <a:off x="684213" y="1479550"/>
            <a:ext cx="7862887" cy="4281488"/>
          </a:xfrm>
          <a:prstGeom prst="rect">
            <a:avLst/>
          </a:prstGeom>
          <a:noFill/>
          <a:ln w="9525">
            <a:noFill/>
          </a:ln>
        </p:spPr>
        <p:txBody>
          <a:bodyPr wrap="square" lIns="91440" tIns="45720" rIns="91440" bIns="45720" anchor="t" anchorCtr="0"/>
          <a:p>
            <a:pPr defTabSz="457200">
              <a:spcBef>
                <a:spcPts val="7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100" dirty="0" err="1">
                <a:solidFill>
                  <a:srgbClr val="000000"/>
                </a:solidFill>
                <a:latin typeface="Arial" panose="020B0604020202020204" pitchFamily="34" charset="0"/>
              </a:rPr>
              <a:t>Крім внутрішнього устрою класів, визначення їхнього інтерфейсу </a:t>
            </a:r>
            <a:r>
              <a:rPr lang="en-US" altLang="ru-RU" sz="3100" dirty="0" err="1">
                <a:solidFill>
                  <a:srgbClr val="000000"/>
                </a:solidFill>
                <a:latin typeface="Arial" panose="020B0604020202020204" pitchFamily="34" charset="0"/>
              </a:rPr>
              <a:t>               </a:t>
            </a:r>
            <a:r>
              <a:rPr lang="ru-RU" altLang="x-none" sz="3100" dirty="0" err="1">
                <a:solidFill>
                  <a:srgbClr val="000000"/>
                </a:solidFill>
                <a:latin typeface="Arial" panose="020B0604020202020204" pitchFamily="34" charset="0"/>
              </a:rPr>
              <a:t>та реалізації, дуже важливу роль під час розроблення проєктованої системи мають різні види відносин між класами. Ці відносини можна зобразити графічно на діаграмі класів, що дасть змогу мати перед очима схематичне уявлення архітектури проекту.</a:t>
            </a:r>
            <a:endParaRPr lang="ru-RU" altLang="x-none" sz="3100" dirty="0" err="1">
              <a:solidFill>
                <a:srgbClr val="000000"/>
              </a:solidFill>
              <a:latin typeface="Arial" panose="020B0604020202020204" pitchFamily="34" charset="0"/>
            </a:endParaRP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ru-RU" sz="4200" dirty="0" err="1">
                <a:solidFill>
                  <a:srgbClr val="FFFFFF"/>
                </a:solidFill>
                <a:latin typeface="Arial" panose="020B0604020202020204" pitchFamily="34" charset="0"/>
              </a:rPr>
              <a:t>8</a:t>
            </a:r>
            <a:r>
              <a:rPr lang="ru-RU" altLang="x-none" sz="4200" dirty="0" err="1">
                <a:solidFill>
                  <a:srgbClr val="FFFFFF"/>
                </a:solidFill>
                <a:latin typeface="Arial" panose="020B0604020202020204" pitchFamily="34" charset="0"/>
              </a:rPr>
              <a:t> тип</a:t>
            </a:r>
            <a:r>
              <a:rPr lang="en-US" altLang="x-none" sz="4200" dirty="0" err="1">
                <a:solidFill>
                  <a:srgbClr val="FFFFFF"/>
                </a:solidFill>
                <a:latin typeface="Arial" panose="020B0604020202020204" pitchFamily="34" charset="0"/>
              </a:rPr>
              <a:t>i</a:t>
            </a:r>
            <a:r>
              <a:rPr lang="ru-RU" altLang="x-none" sz="4200" dirty="0" err="1">
                <a:solidFill>
                  <a:srgbClr val="FFFFFF"/>
                </a:solidFill>
                <a:latin typeface="Arial" panose="020B0604020202020204" pitchFamily="34" charset="0"/>
              </a:rPr>
              <a:t>в відносин (зв'язків)</a:t>
            </a:r>
            <a:endParaRPr lang="ru-RU" altLang="x-none" sz="4200" dirty="0" err="1">
              <a:solidFill>
                <a:srgbClr val="FFFFFF"/>
              </a:solidFill>
              <a:latin typeface="Arial" panose="020B0604020202020204" pitchFamily="34" charset="0"/>
            </a:endParaRPr>
          </a:p>
        </p:txBody>
      </p:sp>
      <p:sp>
        <p:nvSpPr>
          <p:cNvPr id="9218" name="Text Box 6145"/>
          <p:cNvSpPr txBox="1"/>
          <p:nvPr/>
        </p:nvSpPr>
        <p:spPr>
          <a:xfrm>
            <a:off x="539750" y="1457325"/>
            <a:ext cx="7924800" cy="4419600"/>
          </a:xfrm>
          <a:prstGeom prst="rect">
            <a:avLst/>
          </a:prstGeom>
          <a:noFill/>
          <a:ln w="9525">
            <a:noFill/>
          </a:ln>
        </p:spPr>
        <p:txBody>
          <a:bodyPr wrap="square" lIns="91440" tIns="45720" rIns="91440" bIns="45720" anchor="t" anchorCtr="0"/>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dirty="0" err="1">
                <a:solidFill>
                  <a:srgbClr val="000000"/>
                </a:solidFill>
                <a:latin typeface="Arial" panose="020B0604020202020204" pitchFamily="34" charset="0"/>
              </a:rPr>
              <a:t>обізнаність (acquaintance) / </a:t>
            </a:r>
            <a:r>
              <a:rPr lang="en-GB" altLang="x-none" sz="3200" b="1" dirty="0" err="1">
                <a:solidFill>
                  <a:srgbClr val="000000"/>
                </a:solidFill>
                <a:latin typeface="Arial" panose="020B0604020202020204" pitchFamily="34" charset="0"/>
              </a:rPr>
              <a:t>асоціація </a:t>
            </a:r>
            <a:r>
              <a:rPr lang="en-GB" altLang="x-none" sz="3200" dirty="0" err="1">
                <a:solidFill>
                  <a:srgbClr val="000000"/>
                </a:solidFill>
                <a:latin typeface="Arial" panose="020B0604020202020204" pitchFamily="34" charset="0"/>
              </a:rPr>
              <a:t>(association), відношення "використовує" (uses a)</a:t>
            </a:r>
            <a:endParaRPr lang="en-GB" altLang="x-none" sz="3200" dirty="0" err="1">
              <a:solidFill>
                <a:srgbClr val="000000"/>
              </a:solidFill>
              <a:latin typeface="Arial" panose="020B0604020202020204" pitchFamily="34" charset="0"/>
            </a:endParaRPr>
          </a:p>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b="1" dirty="0" err="1">
                <a:solidFill>
                  <a:srgbClr val="000000"/>
                </a:solidFill>
                <a:latin typeface="Arial" panose="020B0604020202020204" pitchFamily="34" charset="0"/>
              </a:rPr>
              <a:t>агрегування </a:t>
            </a:r>
            <a:r>
              <a:rPr lang="en-GB" altLang="x-none" sz="3200" dirty="0" err="1">
                <a:solidFill>
                  <a:srgbClr val="000000"/>
                </a:solidFill>
                <a:latin typeface="Arial" panose="020B0604020202020204" pitchFamily="34" charset="0"/>
              </a:rPr>
              <a:t>(aggregation) - окремий випадок асоціації, відношення "містить" (has a)</a:t>
            </a:r>
            <a:endParaRPr lang="en-GB" altLang="x-none" sz="3200" dirty="0" err="1">
              <a:solidFill>
                <a:srgbClr val="000000"/>
              </a:solidFill>
              <a:latin typeface="Arial" panose="020B0604020202020204" pitchFamily="34" charset="0"/>
            </a:endParaRPr>
          </a:p>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3200" b="1" dirty="0" err="1">
                <a:solidFill>
                  <a:srgbClr val="000000"/>
                </a:solidFill>
                <a:latin typeface="Arial" panose="020B0604020202020204" pitchFamily="34" charset="0"/>
              </a:rPr>
              <a:t>композиція </a:t>
            </a:r>
            <a:r>
              <a:rPr lang="en-GB" altLang="x-none" sz="3200" dirty="0" err="1">
                <a:solidFill>
                  <a:srgbClr val="000000"/>
                </a:solidFill>
                <a:latin typeface="Arial" panose="020B0604020202020204" pitchFamily="34" charset="0"/>
              </a:rPr>
              <a:t>(composition) - окремий випадок агрегування, відношення "містить" (owns a, is a</a:t>
            </a:r>
            <a:r>
              <a:rPr lang="en-US" altLang="zh-CN" sz="3200" dirty="0" err="1">
                <a:solidFill>
                  <a:srgbClr val="000000"/>
                </a:solidFill>
                <a:latin typeface="Arial" panose="020B0604020202020204" pitchFamily="34" charset="0"/>
              </a:rPr>
              <a:t>n integral</a:t>
            </a:r>
            <a:r>
              <a:rPr lang="en-GB" altLang="x-none" sz="3200" dirty="0" err="1">
                <a:solidFill>
                  <a:srgbClr val="000000"/>
                </a:solidFill>
                <a:latin typeface="Arial" panose="020B0604020202020204" pitchFamily="34" charset="0"/>
              </a:rPr>
              <a:t> part of)</a:t>
            </a:r>
            <a:endParaRPr lang="en-GB" altLang="x-none" sz="3200" dirty="0" err="1">
              <a:solidFill>
                <a:srgbClr val="000000"/>
              </a:solidFill>
              <a:latin typeface="Arial" panose="020B0604020202020204" pitchFamily="34" charset="0"/>
            </a:endParaRP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5" name="Text Box 716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uk-UA" altLang="ru-RU" sz="4200" dirty="0" err="1">
                <a:solidFill>
                  <a:srgbClr val="FFFFFF"/>
                </a:solidFill>
                <a:latin typeface="Arial" panose="020B0604020202020204" pitchFamily="34" charset="0"/>
              </a:rPr>
              <a:t>8</a:t>
            </a:r>
            <a:r>
              <a:rPr lang="ru-RU" altLang="x-none" sz="4200" dirty="0" err="1">
                <a:solidFill>
                  <a:srgbClr val="FFFFFF"/>
                </a:solidFill>
                <a:latin typeface="Arial" panose="020B0604020202020204" pitchFamily="34" charset="0"/>
              </a:rPr>
              <a:t> тип</a:t>
            </a:r>
            <a:r>
              <a:rPr lang="en-US" altLang="x-none" sz="4200" dirty="0" err="1">
                <a:solidFill>
                  <a:srgbClr val="FFFFFF"/>
                </a:solidFill>
                <a:latin typeface="Arial" panose="020B0604020202020204" pitchFamily="34" charset="0"/>
              </a:rPr>
              <a:t>i</a:t>
            </a:r>
            <a:r>
              <a:rPr lang="ru-RU" altLang="x-none" sz="4200" dirty="0" err="1">
                <a:solidFill>
                  <a:srgbClr val="FFFFFF"/>
                </a:solidFill>
                <a:latin typeface="Arial" panose="020B0604020202020204" pitchFamily="34" charset="0"/>
              </a:rPr>
              <a:t>в відносин (зв'язк</a:t>
            </a:r>
            <a:r>
              <a:rPr lang="ru-RU" altLang="x-none" sz="4200" dirty="0" err="1">
                <a:solidFill>
                  <a:srgbClr val="FFFFFF"/>
                </a:solidFill>
                <a:latin typeface="Arial" panose="020B0604020202020204" pitchFamily="34" charset="0"/>
                <a:sym typeface="Microsoft YaHei" panose="020B0503020204020204" charset="-122"/>
              </a:rPr>
              <a:t>ів</a:t>
            </a:r>
            <a:r>
              <a:rPr lang="ru-RU" altLang="x-none" sz="4200" dirty="0" err="1">
                <a:solidFill>
                  <a:srgbClr val="FFFFFF"/>
                </a:solidFill>
                <a:latin typeface="Arial" panose="020B0604020202020204" pitchFamily="34" charset="0"/>
              </a:rPr>
              <a:t>)</a:t>
            </a:r>
            <a:endParaRPr lang="ru-RU" altLang="x-none" sz="4200" dirty="0" err="1">
              <a:solidFill>
                <a:srgbClr val="FFFFFF"/>
              </a:solidFill>
              <a:latin typeface="Arial" panose="020B0604020202020204" pitchFamily="34" charset="0"/>
            </a:endParaRPr>
          </a:p>
        </p:txBody>
      </p:sp>
      <p:sp>
        <p:nvSpPr>
          <p:cNvPr id="11266" name="Text Box 7169"/>
          <p:cNvSpPr txBox="1"/>
          <p:nvPr/>
        </p:nvSpPr>
        <p:spPr>
          <a:xfrm>
            <a:off x="395288" y="1457325"/>
            <a:ext cx="8285162" cy="4419600"/>
          </a:xfrm>
          <a:prstGeom prst="rect">
            <a:avLst/>
          </a:prstGeom>
          <a:noFill/>
          <a:ln w="9525">
            <a:noFill/>
          </a:ln>
        </p:spPr>
        <p:txBody>
          <a:bodyPr wrap="square" lIns="91440" tIns="45720" rIns="91440" bIns="45720" anchor="t" anchorCtr="0"/>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800" dirty="0" err="1">
                <a:solidFill>
                  <a:srgbClr val="000000"/>
                </a:solidFill>
                <a:latin typeface="Arial" panose="020B0604020202020204" pitchFamily="34" charset="0"/>
              </a:rPr>
              <a:t>узагальнення (generalization) / </a:t>
            </a:r>
            <a:r>
              <a:rPr lang="en-GB" altLang="x-none" sz="2800" b="1" dirty="0" err="1">
                <a:solidFill>
                  <a:srgbClr val="000000"/>
                </a:solidFill>
                <a:latin typeface="Arial" panose="020B0604020202020204" pitchFamily="34" charset="0"/>
              </a:rPr>
              <a:t>успадкування </a:t>
            </a:r>
            <a:r>
              <a:rPr lang="en-GB" altLang="x-none" sz="2800" dirty="0" err="1">
                <a:solidFill>
                  <a:srgbClr val="000000"/>
                </a:solidFill>
                <a:latin typeface="Arial" panose="020B0604020202020204" pitchFamily="34" charset="0"/>
              </a:rPr>
              <a:t>(inheritance), відношення "є" (is a, extends)</a:t>
            </a:r>
            <a:endParaRPr lang="en-GB" altLang="x-none" sz="2800" dirty="0" err="1">
              <a:solidFill>
                <a:srgbClr val="000000"/>
              </a:solidFill>
              <a:latin typeface="Arial" panose="020B0604020202020204" pitchFamily="34" charset="0"/>
            </a:endParaRPr>
          </a:p>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800" b="1" dirty="0" err="1">
                <a:solidFill>
                  <a:srgbClr val="000000"/>
                </a:solidFill>
                <a:latin typeface="Arial" panose="020B0604020202020204" pitchFamily="34" charset="0"/>
              </a:rPr>
              <a:t>реалізація </a:t>
            </a:r>
            <a:r>
              <a:rPr lang="en-GB" altLang="x-none" sz="2800" dirty="0" err="1">
                <a:solidFill>
                  <a:srgbClr val="000000"/>
                </a:solidFill>
                <a:latin typeface="Arial" panose="020B0604020202020204" pitchFamily="34" charset="0"/>
              </a:rPr>
              <a:t>(realization) / впровадження (implementation), відношення "реалізує" (implements)</a:t>
            </a:r>
            <a:endParaRPr lang="en-GB" altLang="x-none" sz="2800" dirty="0" err="1">
              <a:solidFill>
                <a:srgbClr val="000000"/>
              </a:solidFill>
              <a:latin typeface="Arial" panose="020B0604020202020204" pitchFamily="34" charset="0"/>
            </a:endParaRPr>
          </a:p>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x-none" sz="2800" b="1" dirty="0" err="1">
                <a:solidFill>
                  <a:srgbClr val="000000"/>
                </a:solidFill>
                <a:latin typeface="Arial" panose="020B0604020202020204" pitchFamily="34" charset="0"/>
              </a:rPr>
              <a:t>залежність </a:t>
            </a:r>
            <a:r>
              <a:rPr lang="en-GB" altLang="x-none" sz="2800" dirty="0" err="1">
                <a:solidFill>
                  <a:srgbClr val="000000"/>
                </a:solidFill>
                <a:latin typeface="Arial" panose="020B0604020202020204" pitchFamily="34" charset="0"/>
              </a:rPr>
              <a:t>(dependency) - зміна коду одного класу спричиняє зміну коду іншого класу</a:t>
            </a:r>
            <a:endParaRPr lang="en-GB" altLang="x-none" sz="2800" dirty="0" err="1">
              <a:solidFill>
                <a:srgbClr val="000000"/>
              </a:solidFill>
              <a:latin typeface="Arial" panose="020B0604020202020204" pitchFamily="34" charset="0"/>
            </a:endParaRPr>
          </a:p>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uk-UA" altLang="en-GB" sz="2800" b="1" dirty="0" err="1">
                <a:solidFill>
                  <a:srgbClr val="000000"/>
                </a:solidFill>
                <a:latin typeface="Arial" panose="020B0604020202020204" pitchFamily="34" charset="0"/>
              </a:rPr>
              <a:t>вкладеність</a:t>
            </a:r>
            <a:endParaRPr lang="uk-UA" altLang="en-GB" sz="2800" dirty="0" err="1">
              <a:solidFill>
                <a:srgbClr val="000000"/>
              </a:solidFill>
              <a:latin typeface="Arial" panose="020B0604020202020204" pitchFamily="34" charset="0"/>
            </a:endParaRPr>
          </a:p>
          <a:p>
            <a:pPr marL="341630" indent="-341630" defTabSz="457200">
              <a:spcBef>
                <a:spcPts val="80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uk-UA" altLang="en-GB" sz="2800" dirty="0" err="1">
                <a:solidFill>
                  <a:srgbClr val="000000"/>
                </a:solidFill>
                <a:latin typeface="Arial" panose="020B0604020202020204" pitchFamily="34" charset="0"/>
              </a:rPr>
              <a:t>дружба (в </a:t>
            </a:r>
            <a:r>
              <a:rPr lang="en-US" altLang="en-GB" sz="2800" dirty="0" err="1">
                <a:solidFill>
                  <a:srgbClr val="000000"/>
                </a:solidFill>
                <a:latin typeface="Arial" panose="020B0604020202020204" pitchFamily="34" charset="0"/>
              </a:rPr>
              <a:t>Python </a:t>
            </a:r>
            <a:r>
              <a:rPr lang="uk-UA" altLang="en-GB" sz="2800" dirty="0" err="1">
                <a:solidFill>
                  <a:srgbClr val="000000"/>
                </a:solidFill>
                <a:latin typeface="Arial" panose="020B0604020202020204" pitchFamily="34" charset="0"/>
              </a:rPr>
              <a:t>такого немає)</a:t>
            </a:r>
            <a:endParaRPr lang="uk-UA" altLang="en-GB" sz="2800" dirty="0" err="1">
              <a:solidFill>
                <a:srgbClr val="000000"/>
              </a:solidFill>
              <a:latin typeface="Arial" panose="020B0604020202020204" pitchFamily="34" charset="0"/>
            </a:endParaRP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Text Box 819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Визначення асоціації</a:t>
            </a:r>
            <a:endParaRPr lang="ru-RU" altLang="x-none" sz="4200" dirty="0" err="1">
              <a:solidFill>
                <a:srgbClr val="FFFFFF"/>
              </a:solidFill>
              <a:latin typeface="Arial" panose="020B0604020202020204" pitchFamily="34" charset="0"/>
            </a:endParaRPr>
          </a:p>
        </p:txBody>
      </p:sp>
      <p:sp>
        <p:nvSpPr>
          <p:cNvPr id="13314" name="Text Box 8193"/>
          <p:cNvSpPr txBox="1"/>
          <p:nvPr/>
        </p:nvSpPr>
        <p:spPr>
          <a:xfrm>
            <a:off x="609600" y="1484313"/>
            <a:ext cx="7924800"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100" b="1" dirty="0" err="1">
                <a:solidFill>
                  <a:srgbClr val="000000"/>
                </a:solidFill>
                <a:latin typeface="Arial" panose="020B0604020202020204" pitchFamily="34" charset="0"/>
              </a:rPr>
              <a:t>Асоціація </a:t>
            </a:r>
            <a:r>
              <a:rPr lang="ru-RU" altLang="x-none" sz="3100" dirty="0" err="1">
                <a:solidFill>
                  <a:srgbClr val="000000"/>
                </a:solidFill>
                <a:latin typeface="Arial" panose="020B0604020202020204" pitchFamily="34" charset="0"/>
              </a:rPr>
              <a:t>(обізнаність) - це найзагальніший вид зв'язку між об'єктами, який практично нічого конкретного </a:t>
            </a:r>
            <a:r>
              <a:rPr lang="uk-UA" altLang="ru-RU" sz="3100" dirty="0" err="1">
                <a:solidFill>
                  <a:srgbClr val="000000"/>
                </a:solidFill>
                <a:latin typeface="Arial" panose="020B0604020202020204" pitchFamily="34" charset="0"/>
              </a:rPr>
              <a:t>       </a:t>
            </a:r>
            <a:r>
              <a:rPr lang="ru-RU" altLang="x-none" sz="3100" dirty="0" err="1">
                <a:solidFill>
                  <a:srgbClr val="000000"/>
                </a:solidFill>
                <a:latin typeface="Arial" panose="020B0604020202020204" pitchFamily="34" charset="0"/>
              </a:rPr>
              <a:t>про цей зв'язок не повідомляє.</a:t>
            </a:r>
            <a:endParaRPr lang="ru-RU" altLang="x-none" sz="3100" dirty="0" err="1">
              <a:solidFill>
                <a:srgbClr val="000000"/>
              </a:solidFill>
              <a:latin typeface="Arial" panose="020B0604020202020204" pitchFamily="34" charset="0"/>
            </a:endParaRPr>
          </a:p>
        </p:txBody>
      </p:sp>
      <p:pic>
        <p:nvPicPr>
          <p:cNvPr id="13315" name="Picture 8194"/>
          <p:cNvPicPr>
            <a:picLocks noChangeAspect="1"/>
          </p:cNvPicPr>
          <p:nvPr/>
        </p:nvPicPr>
        <p:blipFill>
          <a:blip r:embed="rId1"/>
          <a:stretch>
            <a:fillRect/>
          </a:stretch>
        </p:blipFill>
        <p:spPr>
          <a:xfrm>
            <a:off x="1828800" y="3721100"/>
            <a:ext cx="5119688" cy="3092450"/>
          </a:xfrm>
          <a:prstGeom prst="rect">
            <a:avLst/>
          </a:prstGeom>
          <a:noFill/>
          <a:ln w="9525">
            <a:noFill/>
          </a:ln>
        </p:spPr>
      </p:pic>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Text Box 921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4 способи реалізації асоціації</a:t>
            </a:r>
            <a:endParaRPr lang="ru-RU" altLang="x-none" sz="4200" dirty="0" err="1">
              <a:solidFill>
                <a:srgbClr val="FFFFFF"/>
              </a:solidFill>
              <a:latin typeface="Arial" panose="020B0604020202020204" pitchFamily="34" charset="0"/>
            </a:endParaRPr>
          </a:p>
        </p:txBody>
      </p:sp>
      <p:sp>
        <p:nvSpPr>
          <p:cNvPr id="14338" name="Text Box 9217"/>
          <p:cNvSpPr txBox="1"/>
          <p:nvPr/>
        </p:nvSpPr>
        <p:spPr>
          <a:xfrm>
            <a:off x="534988" y="1457325"/>
            <a:ext cx="7924800" cy="4419600"/>
          </a:xfrm>
          <a:prstGeom prst="rect">
            <a:avLst/>
          </a:prstGeom>
          <a:noFill/>
          <a:ln w="9525">
            <a:noFill/>
          </a:ln>
        </p:spPr>
        <p:txBody>
          <a:bodyPr wrap="square" lIns="91440" tIns="45720" rIns="91440" bIns="45720" anchor="t" anchorCtr="0"/>
          <a:p>
            <a:pPr defTabSz="457200">
              <a:spcBef>
                <a:spcPts val="75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500" noProof="1" dirty="0" err="1">
                <a:solidFill>
                  <a:srgbClr val="000000"/>
                </a:solidFill>
                <a:latin typeface="Arial" panose="020B0604020202020204" pitchFamily="34" charset="0"/>
                <a:ea typeface="Microsoft YaHei" panose="020B0503020204020204" charset="-122"/>
                <a:cs typeface="+mn-cs"/>
              </a:rPr>
              <a:t>Асоціація викону</a:t>
            </a:r>
            <a:r>
              <a:rPr lang="ru-RU" altLang="x-none" sz="2500" noProof="1" dirty="0" err="1">
                <a:solidFill>
                  <a:srgbClr val="000000"/>
                </a:solidFill>
                <a:latin typeface="Arial" panose="020B0604020202020204" pitchFamily="34" charset="0"/>
                <a:ea typeface="Microsoft YaHei" panose="020B0503020204020204" charset="-122"/>
                <a:cs typeface="+mn-cs"/>
                <a:sym typeface="+mn-ea"/>
              </a:rPr>
              <a:t>є</a:t>
            </a:r>
            <a:r>
              <a:rPr lang="ru-RU" altLang="x-none" sz="2500" noProof="1" dirty="0" err="1">
                <a:solidFill>
                  <a:srgbClr val="000000"/>
                </a:solidFill>
                <a:latin typeface="Arial" panose="020B0604020202020204" pitchFamily="34" charset="0"/>
                <a:ea typeface="Microsoft YaHei" panose="020B0503020204020204" charset="-122"/>
                <a:cs typeface="+mn-cs"/>
              </a:rPr>
              <a:t>ться найрізноманітнішими способами, наприклад:</a:t>
            </a:r>
            <a:endParaRPr lang="ru-RU" altLang="x-none" sz="2500" noProof="1" dirty="0" err="1">
              <a:solidFill>
                <a:srgbClr val="000000"/>
              </a:solidFill>
              <a:latin typeface="Arial" panose="020B0604020202020204" pitchFamily="34" charset="0"/>
            </a:endParaRPr>
          </a:p>
          <a:p>
            <a:pPr marL="342900" indent="-342900" defTabSz="457200">
              <a:spcBef>
                <a:spcPts val="75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500" noProof="1" dirty="0" err="1">
                <a:solidFill>
                  <a:srgbClr val="000000"/>
                </a:solidFill>
                <a:latin typeface="Arial" panose="020B0604020202020204" pitchFamily="34" charset="0"/>
                <a:ea typeface="Microsoft YaHei" panose="020B0503020204020204" charset="-122"/>
                <a:cs typeface="+mn-cs"/>
              </a:rPr>
              <a:t>передача посилання</a:t>
            </a:r>
            <a:r>
              <a:rPr lang="uk-UA" altLang="ru-RU" sz="2500" noProof="1" dirty="0" err="1">
                <a:solidFill>
                  <a:srgbClr val="000000"/>
                </a:solidFill>
                <a:latin typeface="Arial" panose="020B0604020202020204" pitchFamily="34" charset="0"/>
                <a:ea typeface="Microsoft YaHei" panose="020B0503020204020204" charset="-122"/>
                <a:cs typeface="+mn-cs"/>
              </a:rPr>
              <a:t> </a:t>
            </a:r>
            <a:r>
              <a:rPr lang="ru-RU" altLang="x-none" sz="2500" noProof="1" dirty="0" err="1">
                <a:solidFill>
                  <a:srgbClr val="000000"/>
                </a:solidFill>
                <a:latin typeface="Arial" panose="020B0604020202020204" pitchFamily="34" charset="0"/>
                <a:ea typeface="Microsoft YaHei" panose="020B0503020204020204" charset="-122"/>
                <a:cs typeface="+mn-cs"/>
              </a:rPr>
              <a:t>на об'єкт іншого класу </a:t>
            </a:r>
            <a:r>
              <a:rPr lang="uk-UA" altLang="ru-RU" sz="2500" noProof="1" dirty="0" err="1">
                <a:solidFill>
                  <a:srgbClr val="000000"/>
                </a:solidFill>
                <a:latin typeface="Arial" panose="020B0604020202020204" pitchFamily="34" charset="0"/>
                <a:ea typeface="Microsoft YaHei" panose="020B0503020204020204" charset="-122"/>
                <a:cs typeface="+mn-cs"/>
              </a:rPr>
              <a:t>         </a:t>
            </a:r>
            <a:r>
              <a:rPr lang="ru-RU" altLang="x-none" sz="2500" noProof="1" dirty="0" err="1">
                <a:solidFill>
                  <a:srgbClr val="000000"/>
                </a:solidFill>
                <a:latin typeface="Arial" panose="020B0604020202020204" pitchFamily="34" charset="0"/>
                <a:ea typeface="Microsoft YaHei" panose="020B0503020204020204" charset="-122"/>
                <a:cs typeface="+mn-cs"/>
              </a:rPr>
              <a:t>в метод поточного класу</a:t>
            </a:r>
            <a:endParaRPr lang="ru-RU" altLang="x-none" sz="2500" noProof="1" dirty="0" err="1">
              <a:solidFill>
                <a:srgbClr val="000000"/>
              </a:solidFill>
              <a:latin typeface="Arial" panose="020B0604020202020204" pitchFamily="34" charset="0"/>
            </a:endParaRPr>
          </a:p>
          <a:p>
            <a:pPr marL="342900" indent="-342900" defTabSz="457200">
              <a:spcBef>
                <a:spcPts val="75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500" noProof="1" dirty="0" err="1">
                <a:solidFill>
                  <a:srgbClr val="000000"/>
                </a:solidFill>
                <a:latin typeface="Arial" panose="020B0604020202020204" pitchFamily="34" charset="0"/>
                <a:ea typeface="Microsoft YaHei" panose="020B0503020204020204" charset="-122"/>
                <a:cs typeface="+mn-cs"/>
              </a:rPr>
              <a:t>повернення </a:t>
            </a:r>
            <a:r>
              <a:rPr lang="uk-UA" altLang="ru-RU" sz="2500" noProof="1" dirty="0" err="1">
                <a:solidFill>
                  <a:srgbClr val="000000"/>
                </a:solidFill>
                <a:latin typeface="Arial" panose="020B0604020202020204" pitchFamily="34" charset="0"/>
                <a:ea typeface="Microsoft YaHei" panose="020B0503020204020204" charset="-122"/>
                <a:cs typeface="+mn-cs"/>
              </a:rPr>
              <a:t>посилання на </a:t>
            </a:r>
            <a:r>
              <a:rPr lang="ru-RU" altLang="x-none" sz="2500" noProof="1" dirty="0" err="1">
                <a:solidFill>
                  <a:srgbClr val="000000"/>
                </a:solidFill>
                <a:latin typeface="Arial" panose="020B0604020202020204" pitchFamily="34" charset="0"/>
                <a:ea typeface="Microsoft YaHei" panose="020B0503020204020204" charset="-122"/>
                <a:cs typeface="+mn-cs"/>
              </a:rPr>
              <a:t>об'єкт з методу</a:t>
            </a:r>
            <a:endParaRPr lang="ru-RU" altLang="x-none" sz="2500" noProof="1" dirty="0" err="1">
              <a:solidFill>
                <a:srgbClr val="000000"/>
              </a:solidFill>
              <a:latin typeface="Arial" panose="020B0604020202020204" pitchFamily="34" charset="0"/>
            </a:endParaRPr>
          </a:p>
          <a:p>
            <a:pPr marL="342900" indent="-342900" defTabSz="457200">
              <a:spcBef>
                <a:spcPts val="75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500" noProof="1" dirty="0" err="1">
                <a:solidFill>
                  <a:srgbClr val="000000"/>
                </a:solidFill>
                <a:latin typeface="Arial" panose="020B0604020202020204" pitchFamily="34" charset="0"/>
                <a:ea typeface="Microsoft YaHei" panose="020B0503020204020204" charset="-122"/>
                <a:cs typeface="+mn-cs"/>
              </a:rPr>
              <a:t>створення локального об'єкта / посилання </a:t>
            </a:r>
            <a:r>
              <a:rPr lang="uk-UA" altLang="ru-RU" sz="2500" noProof="1" dirty="0" err="1">
                <a:solidFill>
                  <a:srgbClr val="000000"/>
                </a:solidFill>
                <a:latin typeface="Arial" panose="020B0604020202020204" pitchFamily="34" charset="0"/>
                <a:ea typeface="Microsoft YaHei" panose="020B0503020204020204" charset="-122"/>
                <a:cs typeface="+mn-cs"/>
              </a:rPr>
              <a:t>          </a:t>
            </a:r>
            <a:r>
              <a:rPr lang="ru-RU" altLang="x-none" sz="2500" noProof="1" dirty="0" err="1">
                <a:solidFill>
                  <a:srgbClr val="000000"/>
                </a:solidFill>
                <a:latin typeface="Arial" panose="020B0604020202020204" pitchFamily="34" charset="0"/>
                <a:ea typeface="Microsoft YaHei" panose="020B0503020204020204" charset="-122"/>
                <a:cs typeface="+mn-cs"/>
              </a:rPr>
              <a:t>на об'єкт іншого класу всередині методу</a:t>
            </a:r>
            <a:endParaRPr lang="ru-RU" altLang="x-none" sz="2500" noProof="1" dirty="0" err="1">
              <a:solidFill>
                <a:srgbClr val="000000"/>
              </a:solidFill>
              <a:latin typeface="Arial" panose="020B0604020202020204" pitchFamily="34" charset="0"/>
            </a:endParaRPr>
          </a:p>
          <a:p>
            <a:pPr marL="342900" indent="-342900" defTabSz="457200">
              <a:spcBef>
                <a:spcPts val="75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500" noProof="1" dirty="0" err="1">
                <a:solidFill>
                  <a:srgbClr val="000000"/>
                </a:solidFill>
                <a:latin typeface="Arial" panose="020B0604020202020204" pitchFamily="34" charset="0"/>
                <a:ea typeface="Microsoft YaHei" panose="020B0503020204020204" charset="-122"/>
                <a:cs typeface="+mn-cs"/>
              </a:rPr>
              <a:t>поле поточного класу є посиланням на об'єкт іншого класу</a:t>
            </a:r>
            <a:endParaRPr lang="ru-RU" altLang="x-none" sz="2500" noProof="1" dirty="0" err="1">
              <a:solidFill>
                <a:srgbClr val="000000"/>
              </a:solidFill>
              <a:latin typeface="Arial" panose="020B0604020202020204" pitchFamily="34" charset="0"/>
            </a:endParaRP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Text Box 1024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Види асоціацій</a:t>
            </a:r>
            <a:endParaRPr lang="ru-RU" altLang="x-none" sz="4200" dirty="0" err="1">
              <a:solidFill>
                <a:srgbClr val="FFFFFF"/>
              </a:solidFill>
              <a:latin typeface="Arial" panose="020B0604020202020204" pitchFamily="34" charset="0"/>
            </a:endParaRPr>
          </a:p>
        </p:txBody>
      </p:sp>
      <p:sp>
        <p:nvSpPr>
          <p:cNvPr id="17410" name="Text Box 10241"/>
          <p:cNvSpPr txBox="1"/>
          <p:nvPr/>
        </p:nvSpPr>
        <p:spPr>
          <a:xfrm>
            <a:off x="395605" y="1386205"/>
            <a:ext cx="8168005" cy="4419600"/>
          </a:xfrm>
          <a:prstGeom prst="rect">
            <a:avLst/>
          </a:prstGeom>
          <a:noFill/>
          <a:ln w="9525">
            <a:noFill/>
          </a:ln>
        </p:spPr>
        <p:txBody>
          <a:bodyPr wrap="square" lIns="91440" tIns="45720" rIns="91440" bIns="45720" anchor="t" anchorCtr="0"/>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x-none" sz="2200" dirty="0" err="1">
                <a:solidFill>
                  <a:schemeClr val="tx1"/>
                </a:solidFill>
                <a:latin typeface="Arial" panose="020B0604020202020204" pitchFamily="34" charset="0"/>
              </a:rPr>
              <a:t>бінарна (довільні відносини між двома класами, наприклад Співробітник і Компанія)</a:t>
            </a: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x-none" sz="2200" dirty="0" err="1">
                <a:solidFill>
                  <a:schemeClr val="tx1"/>
                </a:solidFill>
                <a:latin typeface="Arial" panose="020B0604020202020204" pitchFamily="34" charset="0"/>
              </a:rPr>
              <a:t>N-арна (асоціація між трьома і більшою кількістю класів, наприклад Співробітник, Компанія і Про</a:t>
            </a:r>
            <a:r>
              <a:rPr lang="uk-UA" altLang="x-none" sz="2200" dirty="0" err="1">
                <a:solidFill>
                  <a:schemeClr val="tx1"/>
                </a:solidFill>
                <a:latin typeface="Arial" panose="020B0604020202020204" pitchFamily="34" charset="0"/>
              </a:rPr>
              <a:t>є</a:t>
            </a:r>
            <a:r>
              <a:rPr lang="ru-RU" altLang="x-none" sz="2200" dirty="0" err="1">
                <a:solidFill>
                  <a:schemeClr val="tx1"/>
                </a:solidFill>
                <a:latin typeface="Arial" panose="020B0604020202020204" pitchFamily="34" charset="0"/>
              </a:rPr>
              <a:t>кт)</a:t>
            </a: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x-none" sz="2200" dirty="0" err="1">
                <a:solidFill>
                  <a:schemeClr val="tx1"/>
                </a:solidFill>
                <a:sym typeface="+mn-ea"/>
              </a:rPr>
              <a:t>рекурсивна (клас пов'язаний із самим собою, наприклад ЕлементСписку)</a:t>
            </a: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ru-RU" altLang="x-none" sz="2200" dirty="0" err="1">
                <a:solidFill>
                  <a:schemeClr val="tx1"/>
                </a:solidFill>
                <a:sym typeface="+mn-ea"/>
              </a:rPr>
              <a:t>виключна - з декількох можливих варіантів у кожен момент часу може використовуватися лише один, наприклад Рахунок і Фізична/ЮридичнаОсоба</a:t>
            </a: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a:p>
            <a:pPr marL="341630" indent="-341630" defTabSz="457200">
              <a:spcBef>
                <a:spcPts val="650"/>
              </a:spcBef>
              <a:buClr>
                <a:srgbClr val="996666"/>
              </a:buClr>
              <a:buSzPct val="80000"/>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ru-RU" altLang="x-none" sz="2200" dirty="0" err="1">
              <a:solidFill>
                <a:schemeClr val="tx1"/>
              </a:solidFill>
              <a:latin typeface="Arial" panose="020B0604020202020204" pitchFamily="34" charset="0"/>
            </a:endParaRPr>
          </a:p>
        </p:txBody>
      </p:sp>
      <p:pic>
        <p:nvPicPr>
          <p:cNvPr id="19459" name="Picture 11266"/>
          <p:cNvPicPr>
            <a:picLocks noChangeAspect="1"/>
          </p:cNvPicPr>
          <p:nvPr/>
        </p:nvPicPr>
        <p:blipFill>
          <a:blip r:embed="rId1"/>
          <a:stretch>
            <a:fillRect/>
          </a:stretch>
        </p:blipFill>
        <p:spPr>
          <a:xfrm>
            <a:off x="3147060" y="3276600"/>
            <a:ext cx="4025900" cy="1656080"/>
          </a:xfrm>
          <a:prstGeom prst="rect">
            <a:avLst/>
          </a:prstGeom>
          <a:noFill/>
          <a:ln w="9525">
            <a:noFill/>
          </a:ln>
        </p:spPr>
      </p:pic>
    </p:spTree>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Заголовок 1"/>
          <p:cNvSpPr>
            <a:spLocks noGrp="1"/>
          </p:cNvSpPr>
          <p:nvPr>
            <p:ph type="title"/>
          </p:nvPr>
        </p:nvSpPr>
        <p:spPr/>
        <p:txBody>
          <a:bodyPr vert="horz" wrap="square" lIns="91440" tIns="45720" rIns="91440" bIns="45720" anchor="ctr" anchorCtr="0"/>
          <a:p>
            <a:r>
              <a:rPr lang="ru-RU" altLang="x-none" dirty="0" err="1">
                <a:solidFill>
                  <a:srgbClr val="FFFFFF"/>
                </a:solidFill>
                <a:latin typeface="Arial" panose="020B0604020202020204" pitchFamily="34" charset="0"/>
                <a:sym typeface="+mn-ea"/>
              </a:rPr>
              <a:t>Приклад асоціації</a:t>
            </a:r>
            <a:endParaRPr lang="ru-RU" altLang="ru-RU" dirty="0"/>
          </a:p>
        </p:txBody>
      </p:sp>
      <p:sp>
        <p:nvSpPr>
          <p:cNvPr id="12290" name="Объект 2"/>
          <p:cNvSpPr>
            <a:spLocks noGrp="1"/>
          </p:cNvSpPr>
          <p:nvPr>
            <p:ph idx="1"/>
          </p:nvPr>
        </p:nvSpPr>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https://gist.github.com/sunmeat/4b6be0f78d41b078d63ea2cbb6d3dd9e</a:t>
            </a:r>
            <a:endParaRPr lang="en-US" altLang="en-US" b="1" dirty="0">
              <a:hlinkClick r:id="rId1" action="ppaction://hlinkfile"/>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Text Box 3072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Агрегування</a:t>
            </a:r>
            <a:endParaRPr lang="ru-RU" altLang="x-none" sz="4200" dirty="0" err="1">
              <a:solidFill>
                <a:srgbClr val="FFFFFF"/>
              </a:solidFill>
              <a:latin typeface="Arial" panose="020B0604020202020204" pitchFamily="34" charset="0"/>
            </a:endParaRPr>
          </a:p>
        </p:txBody>
      </p:sp>
      <p:sp>
        <p:nvSpPr>
          <p:cNvPr id="25602" name="Text Box 30721"/>
          <p:cNvSpPr txBox="1"/>
          <p:nvPr/>
        </p:nvSpPr>
        <p:spPr>
          <a:xfrm>
            <a:off x="611505" y="1412875"/>
            <a:ext cx="7965440" cy="4419600"/>
          </a:xfrm>
          <a:prstGeom prst="rect">
            <a:avLst/>
          </a:prstGeom>
          <a:noFill/>
          <a:ln w="9525">
            <a:noFill/>
          </a:ln>
        </p:spPr>
        <p:txBody>
          <a:bodyPr wrap="square" lIns="91440" tIns="45720" rIns="91440" bIns="45720" anchor="t" anchorCtr="0"/>
          <a:p>
            <a:pPr defTabSz="457200">
              <a:spcBef>
                <a:spcPts val="75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altLang="x-none" sz="2500" b="1" dirty="0" err="1">
                <a:solidFill>
                  <a:schemeClr val="tx1"/>
                </a:solidFill>
                <a:latin typeface="Arial" panose="020B0604020202020204" pitchFamily="34" charset="0"/>
              </a:rPr>
              <a:t>Агрегування </a:t>
            </a:r>
            <a:r>
              <a:rPr altLang="x-none" sz="2500" dirty="0" err="1">
                <a:solidFill>
                  <a:schemeClr val="tx1"/>
                </a:solidFill>
                <a:latin typeface="Arial" panose="020B0604020202020204" pitchFamily="34" charset="0"/>
              </a:rPr>
              <a:t>- це один із принципів взаємодії типів даних, який дає змогу створювати складні складові типи, об'єднуючи їх із дрібніших типів. Агрегування передбачає, що об'єкт може включати в себе інші об'єкти як свої частини. Частини при цьому можуть існувати незалежно від цілого, і їх можна використовувати в інших контекстах.</a:t>
            </a:r>
            <a:endParaRPr altLang="x-none" sz="2500" dirty="0" err="1">
              <a:solidFill>
                <a:schemeClr val="tx1"/>
              </a:solidFill>
              <a:latin typeface="Arial" panose="020B0604020202020204" pitchFamily="34" charset="0"/>
            </a:endParaRPr>
          </a:p>
          <a:p>
            <a:pPr defTabSz="457200">
              <a:spcBef>
                <a:spcPts val="75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altLang="x-none" sz="2500" dirty="0" err="1">
                <a:solidFill>
                  <a:schemeClr val="tx1"/>
                </a:solidFill>
                <a:latin typeface="Arial" panose="020B0604020202020204" pitchFamily="34" charset="0"/>
              </a:rPr>
              <a:t>У </a:t>
            </a:r>
            <a:r>
              <a:rPr lang="en-US" sz="2500" dirty="0" err="1">
                <a:solidFill>
                  <a:schemeClr val="tx1"/>
                </a:solidFill>
                <a:latin typeface="Arial" panose="020B0604020202020204" pitchFamily="34" charset="0"/>
              </a:rPr>
              <a:t>Python</a:t>
            </a:r>
            <a:r>
              <a:rPr altLang="x-none" sz="2500" dirty="0" err="1">
                <a:solidFill>
                  <a:schemeClr val="tx1"/>
                </a:solidFill>
                <a:latin typeface="Arial" panose="020B0604020202020204" pitchFamily="34" charset="0"/>
              </a:rPr>
              <a:t>, агрегування зазвичай реалізується шляхом включення одного класу в інший як поля-</a:t>
            </a:r>
            <a:r>
              <a:rPr lang="uk-UA" altLang="x-none" sz="2500" dirty="0" err="1">
                <a:solidFill>
                  <a:schemeClr val="tx1"/>
                </a:solidFill>
                <a:latin typeface="Arial" panose="020B0604020202020204" pitchFamily="34" charset="0"/>
              </a:rPr>
              <a:t>посилання</a:t>
            </a:r>
            <a:r>
              <a:rPr altLang="x-none" sz="2500" dirty="0" err="1">
                <a:solidFill>
                  <a:schemeClr val="tx1"/>
                </a:solidFill>
                <a:latin typeface="Arial" panose="020B0604020202020204" pitchFamily="34" charset="0"/>
              </a:rPr>
              <a:t>. Це створює відношення "містить" </a:t>
            </a:r>
            <a:r>
              <a:rPr lang="en-US" sz="2500" dirty="0" err="1">
                <a:solidFill>
                  <a:schemeClr val="tx1"/>
                </a:solidFill>
                <a:latin typeface="Arial" panose="020B0604020202020204" pitchFamily="34" charset="0"/>
              </a:rPr>
              <a:t>      </a:t>
            </a:r>
            <a:r>
              <a:rPr altLang="x-none" sz="2500" dirty="0" err="1">
                <a:solidFill>
                  <a:schemeClr val="tx1"/>
                </a:solidFill>
                <a:latin typeface="Arial" panose="020B0604020202020204" pitchFamily="34" charset="0"/>
              </a:rPr>
              <a:t>між об'єктами, де один об'єкт є частиною іншого.</a:t>
            </a:r>
            <a:endParaRPr altLang="x-none" sz="2500" dirty="0" err="1">
              <a:solidFill>
                <a:schemeClr val="tx1"/>
              </a:solidFill>
              <a:latin typeface="Arial" panose="020B0604020202020204" pitchFamily="34" charset="0"/>
            </a:endParaRP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Text Box 317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Незалежність контенту</a:t>
            </a:r>
            <a:endParaRPr lang="ru-RU" altLang="x-none" sz="4200" dirty="0" err="1">
              <a:solidFill>
                <a:srgbClr val="FFFFFF"/>
              </a:solidFill>
              <a:latin typeface="Arial" panose="020B0604020202020204" pitchFamily="34" charset="0"/>
            </a:endParaRPr>
          </a:p>
        </p:txBody>
      </p:sp>
      <p:sp>
        <p:nvSpPr>
          <p:cNvPr id="27650" name="Text Box 31745"/>
          <p:cNvSpPr txBox="1"/>
          <p:nvPr/>
        </p:nvSpPr>
        <p:spPr>
          <a:xfrm>
            <a:off x="608013" y="1457325"/>
            <a:ext cx="7924800" cy="4419600"/>
          </a:xfrm>
          <a:prstGeom prst="rect">
            <a:avLst/>
          </a:prstGeom>
          <a:noFill/>
          <a:ln w="9525">
            <a:noFill/>
          </a:ln>
        </p:spPr>
        <p:txBody>
          <a:bodyPr wrap="square" lIns="91440" tIns="45720" rIns="91440" bIns="45720" anchor="t" anchorCtr="0"/>
          <a:p>
            <a:pPr defTabSz="457200">
              <a:spcBef>
                <a:spcPts val="75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altLang="x-none" sz="3000" dirty="0" err="1">
                <a:solidFill>
                  <a:srgbClr val="000000"/>
                </a:solidFill>
                <a:latin typeface="Arial" panose="020B0604020202020204" pitchFamily="34" charset="0"/>
              </a:rPr>
              <a:t>Ціле в цьому випадку має всередині себе </a:t>
            </a:r>
            <a:r>
              <a:rPr lang="uk-UA" sz="3000" dirty="0" err="1">
                <a:solidFill>
                  <a:srgbClr val="000000"/>
                </a:solidFill>
                <a:latin typeface="Arial" panose="020B0604020202020204" pitchFamily="34" charset="0"/>
              </a:rPr>
              <a:t>посилання </a:t>
            </a:r>
            <a:r>
              <a:rPr altLang="x-none" sz="3000" dirty="0" err="1">
                <a:solidFill>
                  <a:srgbClr val="000000"/>
                </a:solidFill>
                <a:latin typeface="Arial" panose="020B0604020202020204" pitchFamily="34" charset="0"/>
              </a:rPr>
              <a:t>на частину, а</a:t>
            </a:r>
            <a:r>
              <a:rPr lang="ru-RU" sz="3000" dirty="0" err="1">
                <a:solidFill>
                  <a:srgbClr val="000000"/>
                </a:solidFill>
                <a:latin typeface="Arial" panose="020B0604020202020204" pitchFamily="34" charset="0"/>
              </a:rPr>
              <a:t>ле</a:t>
            </a:r>
            <a:r>
              <a:rPr altLang="x-none" sz="3000" dirty="0" err="1">
                <a:solidFill>
                  <a:srgbClr val="000000"/>
                </a:solidFill>
                <a:latin typeface="Arial" panose="020B0604020202020204" pitchFamily="34" charset="0"/>
              </a:rPr>
              <a:t> частина не має всередині себе </a:t>
            </a:r>
            <a:r>
              <a:rPr lang="uk-UA" sz="3000" dirty="0" err="1">
                <a:solidFill>
                  <a:srgbClr val="000000"/>
                </a:solidFill>
                <a:latin typeface="Arial" panose="020B0604020202020204" pitchFamily="34" charset="0"/>
              </a:rPr>
              <a:t>посилання </a:t>
            </a:r>
            <a:r>
              <a:rPr altLang="x-none" sz="3000" dirty="0" err="1">
                <a:solidFill>
                  <a:srgbClr val="000000"/>
                </a:solidFill>
                <a:latin typeface="Arial" panose="020B0604020202020204" pitchFamily="34" charset="0"/>
              </a:rPr>
              <a:t>на ціле. </a:t>
            </a:r>
            <a:r>
              <a:rPr lang="en-US" sz="3000" dirty="0" err="1">
                <a:solidFill>
                  <a:srgbClr val="000000"/>
                </a:solidFill>
                <a:latin typeface="Arial" panose="020B0604020202020204" pitchFamily="34" charset="0"/>
              </a:rPr>
              <a:t>          </a:t>
            </a:r>
            <a:r>
              <a:rPr altLang="x-none" sz="3000" dirty="0" err="1">
                <a:solidFill>
                  <a:srgbClr val="000000"/>
                </a:solidFill>
                <a:latin typeface="Arial" panose="020B0604020202020204" pitchFamily="34" charset="0"/>
              </a:rPr>
              <a:t>При цьому частина може в один момент часу перебувати тільки в одному цілому, або сама по собі. В агрегації обидва об'єкти можуть існувати незалежно: якщо контейнер буде знищено, то його вміст (контент) - ні.</a:t>
            </a:r>
            <a:endParaRPr altLang="x-none" sz="3000" dirty="0" err="1">
              <a:solidFill>
                <a:srgbClr val="000000"/>
              </a:solidFill>
              <a:latin typeface="Arial" panose="020B0604020202020204" pitchFamily="34" charset="0"/>
            </a:endParaRPr>
          </a:p>
        </p:txBody>
      </p: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3276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Приклад агрегування</a:t>
            </a:r>
            <a:endParaRPr lang="ru-RU" altLang="x-none" sz="4200" dirty="0" err="1">
              <a:solidFill>
                <a:srgbClr val="FFFFFF"/>
              </a:solidFill>
              <a:latin typeface="Arial" panose="020B0604020202020204" pitchFamily="34" charset="0"/>
            </a:endParaRPr>
          </a:p>
        </p:txBody>
      </p:sp>
      <p:sp>
        <p:nvSpPr>
          <p:cNvPr id="29698" name="Text Box 32769"/>
          <p:cNvSpPr txBox="1"/>
          <p:nvPr/>
        </p:nvSpPr>
        <p:spPr>
          <a:xfrm>
            <a:off x="463550" y="1341438"/>
            <a:ext cx="8140700" cy="4419600"/>
          </a:xfrm>
          <a:prstGeom prst="rect">
            <a:avLst/>
          </a:prstGeom>
          <a:noFill/>
          <a:ln w="9525">
            <a:noFill/>
          </a:ln>
        </p:spPr>
        <p:txBody>
          <a:bodyPr wrap="square" lIns="91440" tIns="45720" rIns="91440" bIns="45720" anchor="t" anchorCtr="0"/>
          <a:p>
            <a:pPr defTabSz="457200">
              <a:spcBef>
                <a:spcPts val="6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700" dirty="0" err="1">
                <a:solidFill>
                  <a:schemeClr val="tx1"/>
                </a:solidFill>
                <a:latin typeface="Arial" panose="020B0604020202020204" pitchFamily="34" charset="0"/>
              </a:rPr>
              <a:t>Клас "Факультет" агрегує в собі клас "Професор":</a:t>
            </a:r>
            <a:endParaRPr lang="ru-RU" altLang="x-none" sz="2700" dirty="0" err="1">
              <a:solidFill>
                <a:schemeClr val="tx1"/>
              </a:solidFill>
              <a:latin typeface="Arial" panose="020B0604020202020204" pitchFamily="34" charset="0"/>
            </a:endParaRPr>
          </a:p>
          <a:p>
            <a:pPr defTabSz="457200">
              <a:spcBef>
                <a:spcPts val="6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700" dirty="0" err="1">
                <a:solidFill>
                  <a:schemeClr val="tx1"/>
                </a:solidFill>
                <a:latin typeface="Arial" panose="020B0604020202020204" pitchFamily="34" charset="0"/>
              </a:rPr>
              <a:t>| Факультет | &lt;&gt;--------------- | Професор | </a:t>
            </a:r>
            <a:endParaRPr lang="ru-RU" altLang="x-none" sz="2700" dirty="0" err="1">
              <a:solidFill>
                <a:schemeClr val="tx1"/>
              </a:solidFill>
              <a:latin typeface="Arial" panose="020B0604020202020204" pitchFamily="34" charset="0"/>
            </a:endParaRPr>
          </a:p>
          <a:p>
            <a:pPr defTabSz="457200">
              <a:spcBef>
                <a:spcPts val="6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endParaRPr lang="ru-RU" altLang="x-none" sz="2700" dirty="0" err="1">
              <a:solidFill>
                <a:schemeClr val="tx1"/>
              </a:solidFill>
              <a:latin typeface="Arial" panose="020B0604020202020204" pitchFamily="34" charset="0"/>
            </a:endParaRPr>
          </a:p>
          <a:p>
            <a:pPr defTabSz="457200">
              <a:spcBef>
                <a:spcPts val="6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700" dirty="0" err="1">
                <a:solidFill>
                  <a:schemeClr val="tx1"/>
                </a:solidFill>
                <a:latin typeface="Arial" panose="020B0604020202020204" pitchFamily="34" charset="0"/>
              </a:rPr>
              <a:t>А тепер із зазначенням потужності зв'язку між класами, яка означає, що у зв'язку може брати участь 1 факультет і нуль або більше професорів:</a:t>
            </a:r>
            <a:endParaRPr lang="ru-RU" altLang="x-none" sz="2700" dirty="0" err="1">
              <a:solidFill>
                <a:schemeClr val="tx1"/>
              </a:solidFill>
              <a:latin typeface="Arial" panose="020B0604020202020204" pitchFamily="34" charset="0"/>
            </a:endParaRPr>
          </a:p>
          <a:p>
            <a:pPr defTabSz="457200">
              <a:spcBef>
                <a:spcPts val="6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endParaRPr lang="ru-RU" altLang="x-none" sz="2700" dirty="0" err="1">
              <a:solidFill>
                <a:schemeClr val="tx1"/>
              </a:solidFill>
              <a:latin typeface="Arial" panose="020B0604020202020204" pitchFamily="34" charset="0"/>
            </a:endParaRPr>
          </a:p>
          <a:p>
            <a:pPr defTabSz="457200">
              <a:spcBef>
                <a:spcPts val="675"/>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2700" dirty="0" err="1">
                <a:solidFill>
                  <a:schemeClr val="tx1"/>
                </a:solidFill>
                <a:latin typeface="Arial" panose="020B0604020202020204" pitchFamily="34" charset="0"/>
              </a:rPr>
              <a:t>| Факультет | 0...1 &lt;&gt;-------------- 0...* | Професор |</a:t>
            </a:r>
            <a:endParaRPr lang="ru-RU" altLang="x-none" sz="2700" dirty="0" err="1">
              <a:solidFill>
                <a:schemeClr val="tx1"/>
              </a:solidFill>
              <a:latin typeface="Arial" panose="020B0604020202020204" pitchFamily="34" charset="0"/>
            </a:endParaRPr>
          </a:p>
        </p:txBody>
      </p:sp>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Text Box 3276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Ще приклади</a:t>
            </a:r>
            <a:endParaRPr lang="ru-RU" altLang="x-none" sz="4200" dirty="0" err="1">
              <a:solidFill>
                <a:srgbClr val="FFFFFF"/>
              </a:solidFill>
              <a:latin typeface="Arial" panose="020B0604020202020204" pitchFamily="34" charset="0"/>
            </a:endParaRPr>
          </a:p>
        </p:txBody>
      </p:sp>
      <p:sp>
        <p:nvSpPr>
          <p:cNvPr id="29698" name="Text Box 32769"/>
          <p:cNvSpPr txBox="1"/>
          <p:nvPr/>
        </p:nvSpPr>
        <p:spPr>
          <a:xfrm>
            <a:off x="463550" y="1508125"/>
            <a:ext cx="8140700" cy="4253230"/>
          </a:xfrm>
          <a:prstGeom prst="rect">
            <a:avLst/>
          </a:prstGeom>
          <a:noFill/>
          <a:ln w="9525">
            <a:noFill/>
          </a:ln>
        </p:spPr>
        <p:txBody>
          <a:bodyPr wrap="square" lIns="91440" tIns="45720" rIns="91440" bIns="45720" anchor="t" anchorCtr="0"/>
          <a:p>
            <a:pPr marL="457200" indent="-457200" defTabSz="457200">
              <a:spcBef>
                <a:spcPts val="675"/>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000" dirty="0" err="1">
                <a:solidFill>
                  <a:schemeClr val="tx1"/>
                </a:solidFill>
                <a:latin typeface="Arial" panose="020B0604020202020204" pitchFamily="34" charset="0"/>
              </a:rPr>
              <a:t>Бібліотека та Книга</a:t>
            </a:r>
            <a:endParaRPr lang="ru-RU" altLang="x-none" sz="3000" dirty="0" err="1">
              <a:solidFill>
                <a:schemeClr val="tx1"/>
              </a:solidFill>
              <a:latin typeface="Arial" panose="020B0604020202020204" pitchFamily="34" charset="0"/>
            </a:endParaRPr>
          </a:p>
          <a:p>
            <a:pPr marL="457200" indent="-457200" defTabSz="457200">
              <a:spcBef>
                <a:spcPts val="675"/>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000" dirty="0" err="1">
                <a:solidFill>
                  <a:schemeClr val="tx1"/>
                </a:solidFill>
                <a:latin typeface="Arial" panose="020B0604020202020204" pitchFamily="34" charset="0"/>
              </a:rPr>
              <a:t>Л</a:t>
            </a:r>
            <a:r>
              <a:rPr lang="en-US" altLang="x-none" sz="3000" dirty="0" err="1">
                <a:solidFill>
                  <a:schemeClr val="tx1"/>
                </a:solidFill>
                <a:latin typeface="Arial" panose="020B0604020202020204" pitchFamily="34" charset="0"/>
              </a:rPr>
              <a:t>i</a:t>
            </a:r>
            <a:r>
              <a:rPr lang="ru-RU" altLang="x-none" sz="3000" dirty="0" err="1">
                <a:solidFill>
                  <a:schemeClr val="tx1"/>
                </a:solidFill>
                <a:latin typeface="Arial" panose="020B0604020202020204" pitchFamily="34" charset="0"/>
              </a:rPr>
              <a:t>с та Тварина</a:t>
            </a:r>
            <a:endParaRPr lang="ru-RU" altLang="x-none" sz="3000" dirty="0" err="1">
              <a:solidFill>
                <a:schemeClr val="tx1"/>
              </a:solidFill>
              <a:latin typeface="Arial" panose="020B0604020202020204" pitchFamily="34" charset="0"/>
            </a:endParaRPr>
          </a:p>
          <a:p>
            <a:pPr marL="457200" indent="-457200" defTabSz="457200">
              <a:spcBef>
                <a:spcPts val="675"/>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000" dirty="0" err="1">
                <a:solidFill>
                  <a:schemeClr val="tx1"/>
                </a:solidFill>
                <a:latin typeface="Arial" panose="020B0604020202020204" pitchFamily="34" charset="0"/>
              </a:rPr>
              <a:t>Комп</a:t>
            </a:r>
            <a:r>
              <a:rPr lang="uk-UA" altLang="x-none" sz="3000" dirty="0" err="1">
                <a:solidFill>
                  <a:schemeClr val="tx1"/>
                </a:solidFill>
                <a:latin typeface="Arial" panose="020B0604020202020204" pitchFamily="34" charset="0"/>
              </a:rPr>
              <a:t>’ю</a:t>
            </a:r>
            <a:r>
              <a:rPr lang="ru-RU" altLang="x-none" sz="3000" dirty="0" err="1">
                <a:solidFill>
                  <a:schemeClr val="tx1"/>
                </a:solidFill>
                <a:latin typeface="Arial" panose="020B0604020202020204" pitchFamily="34" charset="0"/>
              </a:rPr>
              <a:t>тер та Монітор</a:t>
            </a:r>
            <a:endParaRPr lang="ru-RU" altLang="x-none" sz="3000" dirty="0" err="1">
              <a:solidFill>
                <a:schemeClr val="tx1"/>
              </a:solidFill>
              <a:latin typeface="Arial" panose="020B0604020202020204" pitchFamily="34" charset="0"/>
            </a:endParaRPr>
          </a:p>
          <a:p>
            <a:pPr marL="457200" indent="-457200" defTabSz="457200">
              <a:spcBef>
                <a:spcPts val="675"/>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000" dirty="0" err="1">
                <a:solidFill>
                  <a:schemeClr val="tx1"/>
                </a:solidFill>
                <a:latin typeface="Arial" panose="020B0604020202020204" pitchFamily="34" charset="0"/>
              </a:rPr>
              <a:t>Компанія та Співробітник</a:t>
            </a:r>
            <a:endParaRPr lang="ru-RU" altLang="x-none" sz="3000" dirty="0" err="1">
              <a:solidFill>
                <a:schemeClr val="tx1"/>
              </a:solidFill>
              <a:latin typeface="Arial" panose="020B0604020202020204" pitchFamily="34" charset="0"/>
            </a:endParaRPr>
          </a:p>
        </p:txBody>
      </p: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Заголовок 1"/>
          <p:cNvSpPr>
            <a:spLocks noGrp="1"/>
          </p:cNvSpPr>
          <p:nvPr>
            <p:ph type="title"/>
          </p:nvPr>
        </p:nvSpPr>
        <p:spPr/>
        <p:txBody>
          <a:bodyPr vert="horz" wrap="square" lIns="91440" tIns="45720" rIns="91440" bIns="45720" anchor="ctr" anchorCtr="0"/>
          <a:p>
            <a:r>
              <a:rPr lang="ru-RU" altLang="x-none" dirty="0" err="1">
                <a:solidFill>
                  <a:srgbClr val="FFFFFF"/>
                </a:solidFill>
                <a:latin typeface="Arial" panose="020B0604020202020204" pitchFamily="34" charset="0"/>
                <a:sym typeface="+mn-ea"/>
              </a:rPr>
              <a:t>Приклад</a:t>
            </a:r>
            <a:r>
              <a:rPr lang="uk-UA" altLang="ru-RU" dirty="0" err="1">
                <a:solidFill>
                  <a:srgbClr val="FFFFFF"/>
                </a:solidFill>
                <a:latin typeface="Arial" panose="020B0604020202020204" pitchFamily="34" charset="0"/>
                <a:sym typeface="+mn-ea"/>
              </a:rPr>
              <a:t> на агрегування</a:t>
            </a:r>
            <a:endParaRPr lang="uk-UA" altLang="ru-RU" dirty="0" err="1">
              <a:solidFill>
                <a:srgbClr val="FFFFFF"/>
              </a:solidFill>
              <a:latin typeface="Arial" panose="020B0604020202020204" pitchFamily="34" charset="0"/>
              <a:sym typeface="+mn-ea"/>
            </a:endParaRPr>
          </a:p>
        </p:txBody>
      </p:sp>
      <p:sp>
        <p:nvSpPr>
          <p:cNvPr id="35842" name="Объект 2"/>
          <p:cNvSpPr>
            <a:spLocks noGrp="1"/>
          </p:cNvSpPr>
          <p:nvPr>
            <p:ph idx="1"/>
          </p:nvPr>
        </p:nvSpPr>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https://gist.github.com/sunmeat/c8d56d4cf6dc862240296430b91042c4</a:t>
            </a:r>
            <a:endParaRPr lang="en-US" altLang="en-US" b="1" dirty="0">
              <a:hlinkClick r:id="rId1" action="ppaction://hlinkfile"/>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Text Box 3584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Визначення композиції</a:t>
            </a:r>
            <a:endParaRPr lang="ru-RU" altLang="x-none" sz="4200" dirty="0" err="1">
              <a:solidFill>
                <a:srgbClr val="FFFFFF"/>
              </a:solidFill>
              <a:latin typeface="Arial" panose="020B0604020202020204" pitchFamily="34" charset="0"/>
            </a:endParaRPr>
          </a:p>
        </p:txBody>
      </p:sp>
      <p:sp>
        <p:nvSpPr>
          <p:cNvPr id="35842" name="Text Box 35841"/>
          <p:cNvSpPr txBox="1"/>
          <p:nvPr/>
        </p:nvSpPr>
        <p:spPr>
          <a:xfrm>
            <a:off x="609600" y="1484313"/>
            <a:ext cx="7924800"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100" b="1" dirty="0" err="1">
                <a:solidFill>
                  <a:schemeClr val="tx1"/>
                </a:solidFill>
              </a:rPr>
              <a:t>Композиція </a:t>
            </a:r>
            <a:r>
              <a:rPr lang="ru-RU" altLang="x-none" sz="3100" dirty="0" err="1">
                <a:solidFill>
                  <a:schemeClr val="tx1"/>
                </a:solidFill>
              </a:rPr>
              <a:t>(або агрегування </a:t>
            </a:r>
            <a:r>
              <a:rPr lang="en-US" altLang="ru-RU" sz="3100" dirty="0" err="1">
                <a:solidFill>
                  <a:schemeClr val="tx1"/>
                </a:solidFill>
              </a:rPr>
              <a:t>                 </a:t>
            </a:r>
            <a:r>
              <a:rPr lang="ru-RU" altLang="x-none" sz="3100" dirty="0" err="1">
                <a:solidFill>
                  <a:schemeClr val="tx1"/>
                </a:solidFill>
              </a:rPr>
              <a:t>за значенням) - більш суворий варіант агрегування, коли об'єкт, що включається, може існувати тільки як частина контейнера. Якщо контейнер буде знищено, то і включений об'єкт теж буде знищено. І якщо Людина і її Печінка - </a:t>
            </a:r>
            <a:r>
              <a:rPr lang="en-US" altLang="ru-RU" sz="3100" dirty="0" err="1">
                <a:solidFill>
                  <a:schemeClr val="tx1"/>
                </a:solidFill>
              </a:rPr>
              <a:t>    </a:t>
            </a:r>
            <a:r>
              <a:rPr lang="ru-RU" altLang="x-none" sz="3100" dirty="0" err="1">
                <a:solidFill>
                  <a:schemeClr val="tx1"/>
                </a:solidFill>
              </a:rPr>
              <a:t>це ще схоже на агрегування, то Людина </a:t>
            </a:r>
            <a:r>
              <a:rPr lang="uk-UA" altLang="x-none" sz="3100" dirty="0" err="1">
                <a:solidFill>
                  <a:schemeClr val="tx1"/>
                </a:solidFill>
              </a:rPr>
              <a:t>та</a:t>
            </a:r>
            <a:r>
              <a:rPr lang="ru-RU" altLang="x-none" sz="3100" dirty="0" err="1">
                <a:solidFill>
                  <a:schemeClr val="tx1"/>
                </a:solidFill>
              </a:rPr>
              <a:t> її Мозок - це вже точно композиція</a:t>
            </a:r>
            <a:r>
              <a:rPr lang="uk-UA" altLang="ru-RU" sz="3100" dirty="0" err="1">
                <a:solidFill>
                  <a:schemeClr val="tx1"/>
                </a:solidFill>
              </a:rPr>
              <a:t>.</a:t>
            </a:r>
            <a:endParaRPr lang="uk-UA" altLang="ru-RU" sz="3100" dirty="0" err="1">
              <a:solidFill>
                <a:schemeClr val="tx1"/>
              </a:solidFill>
            </a:endParaRPr>
          </a:p>
        </p:txBody>
      </p:sp>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Text Box 3686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Приклади</a:t>
            </a:r>
            <a:endParaRPr lang="ru-RU" altLang="x-none" sz="4200" dirty="0" err="1">
              <a:solidFill>
                <a:srgbClr val="FFFFFF"/>
              </a:solidFill>
              <a:latin typeface="Arial" panose="020B0604020202020204" pitchFamily="34" charset="0"/>
            </a:endParaRPr>
          </a:p>
        </p:txBody>
      </p:sp>
      <p:sp>
        <p:nvSpPr>
          <p:cNvPr id="37890" name="Text Box 36865"/>
          <p:cNvSpPr txBox="1"/>
          <p:nvPr/>
        </p:nvSpPr>
        <p:spPr>
          <a:xfrm>
            <a:off x="468313" y="1557338"/>
            <a:ext cx="8207375" cy="4419600"/>
          </a:xfrm>
          <a:prstGeom prst="rect">
            <a:avLst/>
          </a:prstGeom>
          <a:noFill/>
          <a:ln w="9525">
            <a:noFill/>
          </a:ln>
        </p:spPr>
        <p:txBody>
          <a:bodyPr wrap="square" lIns="91440" tIns="45720" rIns="91440" bIns="45720" anchor="t" anchorCtr="0"/>
          <a:p>
            <a:pPr marL="457200" indent="-457200" defTabSz="457200">
              <a:spcBef>
                <a:spcPts val="8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Дім і Кімната</a:t>
            </a:r>
            <a:endParaRPr lang="ru-RU" altLang="x-none" sz="3200" dirty="0" err="1">
              <a:solidFill>
                <a:schemeClr val="tx1"/>
              </a:solidFill>
              <a:latin typeface="Arial" panose="020B0604020202020204" pitchFamily="34" charset="0"/>
            </a:endParaRPr>
          </a:p>
          <a:p>
            <a:pPr marL="457200" indent="-457200" defTabSz="457200">
              <a:spcBef>
                <a:spcPts val="8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Замовлення та Товар</a:t>
            </a:r>
            <a:endParaRPr lang="ru-RU" altLang="x-none" sz="3200" dirty="0" err="1">
              <a:solidFill>
                <a:schemeClr val="tx1"/>
              </a:solidFill>
              <a:latin typeface="Arial" panose="020B0604020202020204" pitchFamily="34" charset="0"/>
            </a:endParaRPr>
          </a:p>
          <a:p>
            <a:pPr marL="457200" indent="-457200" defTabSz="457200">
              <a:spcBef>
                <a:spcPts val="8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Кіностудія та Фільм</a:t>
            </a:r>
            <a:endParaRPr lang="ru-RU" altLang="x-none" sz="3200" dirty="0" err="1">
              <a:solidFill>
                <a:schemeClr val="tx1"/>
              </a:solidFill>
              <a:latin typeface="Arial" panose="020B0604020202020204" pitchFamily="34" charset="0"/>
            </a:endParaRPr>
          </a:p>
          <a:p>
            <a:pPr marL="457200" indent="-457200" defTabSz="457200">
              <a:spcBef>
                <a:spcPts val="8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Госпіталь і Палата</a:t>
            </a:r>
            <a:endParaRPr lang="ru-RU" altLang="x-none" sz="3200" dirty="0" err="1">
              <a:solidFill>
                <a:schemeClr val="tx1"/>
              </a:solidFill>
              <a:latin typeface="Arial" panose="020B0604020202020204" pitchFamily="34" charset="0"/>
            </a:endParaRPr>
          </a:p>
          <a:p>
            <a:pPr marL="457200" indent="-457200" defTabSz="457200">
              <a:spcBef>
                <a:spcPts val="8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Стіл та Ніжки</a:t>
            </a:r>
            <a:endParaRPr lang="ru-RU" altLang="x-none" sz="3200" dirty="0" err="1">
              <a:solidFill>
                <a:schemeClr val="tx1"/>
              </a:solidFill>
              <a:latin typeface="Arial" panose="020B0604020202020204" pitchFamily="34" charset="0"/>
            </a:endParaRPr>
          </a:p>
          <a:p>
            <a:pPr marL="457200" indent="-457200" defTabSz="457200">
              <a:spcBef>
                <a:spcPts val="800"/>
              </a:spcBef>
              <a:buClrTx/>
              <a:buSzPct val="80000"/>
              <a:buFont typeface="Arial" panose="020B0604020202020204" pitchFamily="34" charset="0"/>
              <a:buChar char="•"/>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Кіт і Лапки</a:t>
            </a:r>
            <a:endParaRPr lang="ru-RU" altLang="x-none" sz="3200" dirty="0" err="1">
              <a:solidFill>
                <a:schemeClr val="tx1"/>
              </a:solidFill>
              <a:latin typeface="Arial" panose="020B0604020202020204" pitchFamily="34" charset="0"/>
            </a:endParaRPr>
          </a:p>
        </p:txBody>
      </p:sp>
    </p:spTree>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Text Box 3788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latin typeface="Arial" panose="020B0604020202020204" pitchFamily="34" charset="0"/>
              </a:rPr>
              <a:t>Залежність контенту</a:t>
            </a:r>
            <a:endParaRPr lang="ru-RU" altLang="x-none" sz="4200" dirty="0" err="1">
              <a:solidFill>
                <a:srgbClr val="FFFFFF"/>
              </a:solidFill>
              <a:latin typeface="Arial" panose="020B0604020202020204" pitchFamily="34" charset="0"/>
            </a:endParaRPr>
          </a:p>
        </p:txBody>
      </p:sp>
      <p:sp>
        <p:nvSpPr>
          <p:cNvPr id="39938" name="Text Box 37889"/>
          <p:cNvSpPr txBox="1"/>
          <p:nvPr/>
        </p:nvSpPr>
        <p:spPr>
          <a:xfrm>
            <a:off x="611188" y="1412875"/>
            <a:ext cx="8064500" cy="4419600"/>
          </a:xfrm>
          <a:prstGeom prst="rect">
            <a:avLst/>
          </a:prstGeom>
          <a:noFill/>
          <a:ln w="9525">
            <a:noFill/>
          </a:ln>
        </p:spPr>
        <p:txBody>
          <a:bodyPr wrap="square" lIns="91440" tIns="45720" rIns="91440" bIns="45720" anchor="t" anchorCtr="0"/>
          <a:p>
            <a:pPr defTabSz="457200">
              <a:spcBef>
                <a:spcPts val="75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000" dirty="0" err="1">
                <a:solidFill>
                  <a:srgbClr val="000000"/>
                </a:solidFill>
                <a:latin typeface="Arial" panose="020B0604020202020204" pitchFamily="34" charset="0"/>
              </a:rPr>
              <a:t>Об'єкти в композиції не можуть існувати незалежно. Якщо контейнер буде знищено, то і всі його частини мають бути знищені. При композиції сенсу в окремому існуванні будь-якої частини без її контейнера немає. Один клас може бути частиною кількох інших класів, але будь-який екземпляр класу під час композиції може належати тільки одному власнику.</a:t>
            </a:r>
            <a:endParaRPr lang="ru-RU" altLang="x-none" sz="3000" dirty="0" err="1">
              <a:solidFill>
                <a:srgbClr val="000000"/>
              </a:solidFill>
              <a:latin typeface="Arial" panose="020B0604020202020204" pitchFamily="34" charset="0"/>
            </a:endParaRPr>
          </a:p>
        </p:txBody>
      </p: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Text Box 3891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ru-RU" altLang="x-none" sz="4200" dirty="0" err="1">
                <a:solidFill>
                  <a:srgbClr val="FFFFFF"/>
                </a:solidFill>
                <a:sym typeface="+mn-ea"/>
              </a:rPr>
              <a:t>Приклад</a:t>
            </a:r>
            <a:endParaRPr lang="ru-RU" altLang="x-none" sz="4200" dirty="0" err="1">
              <a:solidFill>
                <a:srgbClr val="FFFFFF"/>
              </a:solidFill>
              <a:latin typeface="Arial" panose="020B0604020202020204" pitchFamily="34" charset="0"/>
            </a:endParaRPr>
          </a:p>
        </p:txBody>
      </p:sp>
      <p:sp>
        <p:nvSpPr>
          <p:cNvPr id="41986" name="Text Box 38913"/>
          <p:cNvSpPr txBox="1"/>
          <p:nvPr/>
        </p:nvSpPr>
        <p:spPr>
          <a:xfrm>
            <a:off x="484188" y="1368425"/>
            <a:ext cx="8137525"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chemeClr val="tx1"/>
                </a:solidFill>
                <a:latin typeface="Arial" panose="020B0604020202020204" pitchFamily="34" charset="0"/>
              </a:rPr>
              <a:t>Хоча клас Point може складати композицію з двома іншими класами, </a:t>
            </a:r>
            <a:r>
              <a:rPr lang="en-US" altLang="ru-RU" sz="3200" dirty="0" err="1">
                <a:solidFill>
                  <a:schemeClr val="tx1"/>
                </a:solidFill>
                <a:latin typeface="Arial" panose="020B0604020202020204" pitchFamily="34" charset="0"/>
              </a:rPr>
              <a:t>   </a:t>
            </a:r>
            <a:r>
              <a:rPr lang="ru-RU" altLang="x-none" sz="3200" dirty="0" err="1">
                <a:solidFill>
                  <a:schemeClr val="tx1"/>
                </a:solidFill>
                <a:latin typeface="Arial" panose="020B0604020202020204" pitchFamily="34" charset="0"/>
              </a:rPr>
              <a:t>що є геометричними фігурами, але один об'єкт цього класу в один і той самий час може брати участь тільки в одн</a:t>
            </a:r>
            <a:r>
              <a:rPr lang="en-US" altLang="x-none" sz="3200" dirty="0" err="1">
                <a:solidFill>
                  <a:schemeClr val="tx1"/>
                </a:solidFill>
                <a:latin typeface="Arial" panose="020B0604020202020204" pitchFamily="34" charset="0"/>
              </a:rPr>
              <a:t>i</a:t>
            </a:r>
            <a:r>
              <a:rPr lang="ru-RU" altLang="x-none" sz="3200" dirty="0" err="1">
                <a:solidFill>
                  <a:schemeClr val="tx1"/>
                </a:solidFill>
                <a:latin typeface="Arial" panose="020B0604020202020204" pitchFamily="34" charset="0"/>
              </a:rPr>
              <a:t>й з цих відносин:</a:t>
            </a:r>
            <a:endParaRPr lang="ru-RU" altLang="x-none" sz="3200" dirty="0" err="1">
              <a:solidFill>
                <a:schemeClr val="tx1"/>
              </a:solidFill>
              <a:latin typeface="Arial" panose="020B0604020202020204" pitchFamily="34" charset="0"/>
            </a:endParaRPr>
          </a:p>
          <a:p>
            <a:pPr defTabSz="457200">
              <a:spcBef>
                <a:spcPts val="80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endParaRPr lang="ru-RU" altLang="x-none" sz="3200" dirty="0" err="1">
              <a:solidFill>
                <a:schemeClr val="tx1"/>
              </a:solidFill>
              <a:latin typeface="Arial" panose="020B0604020202020204" pitchFamily="34" charset="0"/>
            </a:endParaRPr>
          </a:p>
          <a:p>
            <a:pPr defTabSz="457200">
              <a:spcBef>
                <a:spcPts val="800"/>
              </a:spcBef>
              <a:buClrTx/>
              <a:buSzPct val="80000"/>
              <a:buFontTx/>
              <a:tabLst>
                <a:tab pos="570230" algn="l"/>
                <a:tab pos="1484630" algn="l"/>
                <a:tab pos="2399030" algn="l"/>
                <a:tab pos="3313430" algn="l"/>
                <a:tab pos="4227830" algn="l"/>
                <a:tab pos="5142230" algn="l"/>
                <a:tab pos="6056630" algn="l"/>
                <a:tab pos="6971030" algn="l"/>
                <a:tab pos="7885430" algn="l"/>
                <a:tab pos="8799830" algn="l"/>
                <a:tab pos="9714230" algn="l"/>
              </a:tabLst>
            </a:pPr>
            <a:r>
              <a:rPr lang="ru-RU" altLang="x-none" sz="3200" dirty="0" err="1">
                <a:solidFill>
                  <a:srgbClr val="000000"/>
                </a:solidFill>
                <a:latin typeface="Arial" panose="020B0604020202020204" pitchFamily="34" charset="0"/>
              </a:rPr>
              <a:t>| Polygon | 0...1 &lt;#&gt;-------------- 3...* | Point | 1 -------------&lt;#&gt; 0...1 | Circle |</a:t>
            </a:r>
            <a:endParaRPr lang="ru-RU" altLang="x-none" sz="3200" dirty="0" err="1">
              <a:solidFill>
                <a:srgbClr val="000000"/>
              </a:solidFill>
              <a:latin typeface="Arial" panose="020B0604020202020204" pitchFamily="34" charset="0"/>
            </a:endParaRPr>
          </a:p>
        </p:txBody>
      </p:sp>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Заголовок 1"/>
          <p:cNvSpPr>
            <a:spLocks noGrp="1"/>
          </p:cNvSpPr>
          <p:nvPr>
            <p:ph type="title"/>
          </p:nvPr>
        </p:nvSpPr>
        <p:spPr/>
        <p:txBody>
          <a:bodyPr vert="horz" wrap="square" lIns="91440" tIns="45720" rIns="91440" bIns="45720" anchor="ctr" anchorCtr="0"/>
          <a:p>
            <a:r>
              <a:rPr lang="uk-UA" altLang="ru-RU" dirty="0"/>
              <a:t>Приклад на композицію</a:t>
            </a:r>
            <a:endParaRPr lang="uk-UA" altLang="ru-RU" dirty="0"/>
          </a:p>
        </p:txBody>
      </p:sp>
      <p:sp>
        <p:nvSpPr>
          <p:cNvPr id="40962" name="Объект 2"/>
          <p:cNvSpPr>
            <a:spLocks noGrp="1"/>
          </p:cNvSpPr>
          <p:nvPr>
            <p:ph idx="1"/>
          </p:nvPr>
        </p:nvSpPr>
        <p:spPr>
          <a:xfrm>
            <a:off x="395288" y="1600200"/>
            <a:ext cx="8280400" cy="4419600"/>
          </a:xfrm>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https://gist.github.com/sunmeat/e3f8cc5699b3e55ac948fe09a5935132</a:t>
            </a:r>
            <a:endParaRPr lang="en-US" altLang="en-US" b="1" dirty="0">
              <a:hlinkClick r:id="rId1" action="ppaction://hlinkfile"/>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Text Box 5120"/>
          <p:cNvSpPr txBox="1"/>
          <p:nvPr/>
        </p:nvSpPr>
        <p:spPr>
          <a:xfrm>
            <a:off x="195263" y="228600"/>
            <a:ext cx="8264525"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Повторне використання коду</a:t>
            </a:r>
            <a:endParaRPr lang="ru-RU" altLang="x-none" sz="4200" dirty="0" err="1">
              <a:solidFill>
                <a:srgbClr val="FFFFFF"/>
              </a:solidFill>
              <a:latin typeface="Arial" panose="020B0604020202020204" pitchFamily="34" charset="0"/>
            </a:endParaRPr>
          </a:p>
        </p:txBody>
      </p:sp>
      <p:sp>
        <p:nvSpPr>
          <p:cNvPr id="7171" name="Text Box 5121"/>
          <p:cNvSpPr txBox="1"/>
          <p:nvPr/>
        </p:nvSpPr>
        <p:spPr>
          <a:xfrm>
            <a:off x="468313" y="1457325"/>
            <a:ext cx="8207375"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3200" dirty="0" err="1">
                <a:solidFill>
                  <a:srgbClr val="000000"/>
                </a:solidFill>
                <a:latin typeface="Arial" panose="020B0604020202020204" pitchFamily="34" charset="0"/>
              </a:rPr>
              <a:t>Багато типів даних являють собою варіації на тему вже існуючих типів. Навіщо ж заново переписувати той код, який одного разу вже був написаний? Розумніше, керуючись </a:t>
            </a:r>
            <a:r>
              <a:rPr lang="ru-RU" altLang="x-none" sz="3200" b="1" dirty="0" err="1">
                <a:solidFill>
                  <a:srgbClr val="000000"/>
                </a:solidFill>
                <a:latin typeface="Arial" panose="020B0604020202020204" pitchFamily="34" charset="0"/>
              </a:rPr>
              <a:t>концепцією повторного використання коду,</a:t>
            </a:r>
            <a:r>
              <a:rPr lang="ru-RU" altLang="x-none" sz="3200" dirty="0" err="1">
                <a:solidFill>
                  <a:srgbClr val="000000"/>
                </a:solidFill>
                <a:latin typeface="Arial" panose="020B0604020202020204" pitchFamily="34" charset="0"/>
              </a:rPr>
              <a:t> скористатися вже готовим кодом. В ООП мова піде про повторно використовувані класи.</a:t>
            </a:r>
            <a:endParaRPr lang="ru-RU" altLang="x-none" sz="3200" dirty="0" err="1">
              <a:solidFill>
                <a:srgbClr val="000000"/>
              </a:solidFill>
              <a:latin typeface="Arial" panose="020B0604020202020204" pitchFamily="34" charset="0"/>
            </a:endParaRPr>
          </a:p>
        </p:txBody>
      </p:sp>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Text Box 614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Суть спадкування</a:t>
            </a:r>
            <a:endParaRPr lang="ru-RU" altLang="x-none" sz="4200" dirty="0" err="1">
              <a:solidFill>
                <a:srgbClr val="FFFFFF"/>
              </a:solidFill>
              <a:latin typeface="Arial" panose="020B0604020202020204" pitchFamily="34" charset="0"/>
            </a:endParaRPr>
          </a:p>
        </p:txBody>
      </p:sp>
      <p:sp>
        <p:nvSpPr>
          <p:cNvPr id="9219" name="Text Box 6145"/>
          <p:cNvSpPr txBox="1"/>
          <p:nvPr/>
        </p:nvSpPr>
        <p:spPr>
          <a:xfrm>
            <a:off x="611188" y="1412875"/>
            <a:ext cx="7924800" cy="4419600"/>
          </a:xfrm>
          <a:prstGeom prst="rect">
            <a:avLst/>
          </a:prstGeom>
          <a:noFill/>
          <a:ln w="9525">
            <a:noFill/>
          </a:ln>
        </p:spPr>
        <p:txBody>
          <a:bodyPr wrap="square" lIns="91440" tIns="45720" rIns="91440" bIns="45720" anchor="t" anchorCtr="0"/>
          <a:p>
            <a:pPr defTabSz="457200">
              <a:spcBef>
                <a:spcPts val="625"/>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altLang="x-none" sz="2800" dirty="0" err="1">
                <a:solidFill>
                  <a:srgbClr val="000000"/>
                </a:solidFill>
                <a:latin typeface="Arial" panose="020B0604020202020204" pitchFamily="34" charset="0"/>
              </a:rPr>
              <a:t>Суть успадкування як базового поняття ООП полягає в тому, що </a:t>
            </a:r>
            <a:r>
              <a:rPr altLang="x-none" sz="2800" b="1" dirty="0" err="1">
                <a:solidFill>
                  <a:srgbClr val="000000"/>
                </a:solidFill>
                <a:latin typeface="Arial" panose="020B0604020202020204" pitchFamily="34" charset="0"/>
              </a:rPr>
              <a:t>немає потреби щоразу наново описувати новий клас з усіма його полями та методами, а можна просто вказати так званого батька й описати тільки відмінні риси нового класу</a:t>
            </a:r>
            <a:r>
              <a:rPr altLang="x-none" sz="2800" dirty="0" err="1">
                <a:solidFill>
                  <a:srgbClr val="000000"/>
                </a:solidFill>
                <a:latin typeface="Arial" panose="020B0604020202020204" pitchFamily="34" charset="0"/>
              </a:rPr>
              <a:t>. </a:t>
            </a:r>
            <a:r>
              <a:rPr lang="en-US" sz="2800" dirty="0" err="1">
                <a:solidFill>
                  <a:srgbClr val="000000"/>
                </a:solidFill>
                <a:latin typeface="Arial" panose="020B0604020202020204" pitchFamily="34" charset="0"/>
              </a:rPr>
              <a:t>     </a:t>
            </a:r>
            <a:r>
              <a:rPr altLang="x-none" sz="2800" dirty="0" err="1">
                <a:solidFill>
                  <a:srgbClr val="000000"/>
                </a:solidFill>
                <a:latin typeface="Arial" panose="020B0604020202020204" pitchFamily="34" charset="0"/>
              </a:rPr>
              <a:t>Новий клас матиме всі властивості батьківського класу, плюс свої власні відмінні риси. Таким чином, новий клас успадковується</a:t>
            </a:r>
            <a:r>
              <a:rPr lang="en-US" sz="2800" dirty="0" err="1">
                <a:solidFill>
                  <a:srgbClr val="000000"/>
                </a:solidFill>
                <a:latin typeface="Arial" panose="020B0604020202020204" pitchFamily="34" charset="0"/>
              </a:rPr>
              <a:t> </a:t>
            </a:r>
            <a:r>
              <a:rPr altLang="x-none" sz="2800" dirty="0" err="1">
                <a:solidFill>
                  <a:srgbClr val="000000"/>
                </a:solidFill>
                <a:latin typeface="Arial" panose="020B0604020202020204" pitchFamily="34" charset="0"/>
              </a:rPr>
              <a:t>від існуючого, званого </a:t>
            </a:r>
            <a:r>
              <a:rPr lang="en-US" sz="2800" dirty="0" err="1">
                <a:solidFill>
                  <a:srgbClr val="000000"/>
                </a:solidFill>
                <a:latin typeface="Arial" panose="020B0604020202020204" pitchFamily="34" charset="0"/>
              </a:rPr>
              <a:t>					</a:t>
            </a:r>
            <a:r>
              <a:rPr altLang="x-none" sz="2800" dirty="0" err="1">
                <a:solidFill>
                  <a:srgbClr val="000000"/>
                </a:solidFill>
                <a:latin typeface="Arial" panose="020B0604020202020204" pitchFamily="34" charset="0"/>
              </a:rPr>
              <a:t>батьківським або</a:t>
            </a:r>
            <a:r>
              <a:rPr lang="en-US" sz="2800" dirty="0" err="1">
                <a:solidFill>
                  <a:srgbClr val="000000"/>
                </a:solidFill>
                <a:latin typeface="Arial" panose="020B0604020202020204" pitchFamily="34" charset="0"/>
              </a:rPr>
              <a:t> </a:t>
            </a:r>
            <a:r>
              <a:rPr altLang="x-none" sz="2800" dirty="0" err="1">
                <a:solidFill>
                  <a:srgbClr val="000000"/>
                </a:solidFill>
                <a:latin typeface="Arial" panose="020B0604020202020204" pitchFamily="34" charset="0"/>
              </a:rPr>
              <a:t>базовим класом.</a:t>
            </a:r>
            <a:endParaRPr altLang="x-none" sz="2800" dirty="0" err="1">
              <a:solidFill>
                <a:srgbClr val="000000"/>
              </a:solidFill>
              <a:latin typeface="Arial" panose="020B0604020202020204" pitchFamily="34" charset="0"/>
            </a:endParaRPr>
          </a:p>
        </p:txBody>
      </p:sp>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Заголовок 1"/>
          <p:cNvSpPr>
            <a:spLocks noGrp="1"/>
          </p:cNvSpPr>
          <p:nvPr>
            <p:ph type="title"/>
          </p:nvPr>
        </p:nvSpPr>
        <p:spPr/>
        <p:txBody>
          <a:bodyPr vert="horz" wrap="square" lIns="91440" tIns="45720" rIns="91440" bIns="45720" anchor="ctr" anchorCtr="0"/>
          <a:p>
            <a:r>
              <a:rPr lang="ru-RU" altLang="ru-RU" dirty="0"/>
              <a:t>Другий кит: Спадкування</a:t>
            </a:r>
            <a:endParaRPr lang="ru-RU" altLang="ru-RU" dirty="0"/>
          </a:p>
        </p:txBody>
      </p:sp>
      <p:sp>
        <p:nvSpPr>
          <p:cNvPr id="36866" name="Объект 2"/>
          <p:cNvSpPr>
            <a:spLocks noGrp="1"/>
          </p:cNvSpPr>
          <p:nvPr>
            <p:ph sz="half" idx="1"/>
          </p:nvPr>
        </p:nvSpPr>
        <p:spPr>
          <a:xfrm>
            <a:off x="609600" y="1600200"/>
            <a:ext cx="7976870" cy="4419600"/>
          </a:xfrm>
        </p:spPr>
        <p:txBody>
          <a:bodyPr vert="horz" wrap="square" lIns="91440" tIns="45720" rIns="91440" bIns="45720" anchor="t" anchorCtr="0"/>
          <a:p>
            <a:pPr marL="0" indent="0">
              <a:buNone/>
            </a:pPr>
            <a:r>
              <a:rPr lang="ru-RU" altLang="ru-RU" sz="2100" b="1" dirty="0"/>
              <a:t>Спадкування - це концепція, що дає змогу створювати нові класи на основі наявних (батьківських) класів.</a:t>
            </a:r>
            <a:r>
              <a:rPr lang="ru-RU" altLang="ru-RU" sz="2100" dirty="0"/>
              <a:t> </a:t>
            </a:r>
            <a:r>
              <a:rPr lang="uk-UA" altLang="ru-RU" sz="2100" dirty="0"/>
              <a:t>       </a:t>
            </a:r>
            <a:r>
              <a:rPr lang="ru-RU" altLang="ru-RU" sz="2100" dirty="0"/>
              <a:t>Це один із ключових принципів ООП і дає змогу повторно використовувати код, спрощувати його структуру та робити програми більш модульними.</a:t>
            </a:r>
            <a:endParaRPr lang="ru-RU" altLang="ru-RU" sz="2100" dirty="0"/>
          </a:p>
          <a:p>
            <a:pPr marL="0" indent="0">
              <a:buNone/>
            </a:pPr>
            <a:endParaRPr lang="ru-RU" altLang="ru-RU" sz="2100" dirty="0"/>
          </a:p>
          <a:p>
            <a:pPr marL="0" indent="0">
              <a:buNone/>
            </a:pPr>
            <a:r>
              <a:rPr lang="ru-RU" altLang="ru-RU" sz="2100" dirty="0"/>
              <a:t>Успадкування сприяє створенню ієрархії класів, що спрощує організацію коду і робить його більш зрозумілим і легко підтримуваним. Цей принцип також допомагає у створенні абстракцій та узагальнених рішень у програмуванні.</a:t>
            </a:r>
            <a:endParaRPr lang="ru-RU" altLang="ru-RU" sz="2100" dirty="0"/>
          </a:p>
        </p:txBody>
      </p:sp>
      <p:pic>
        <p:nvPicPr>
          <p:cNvPr id="2" name="Content Placeholder 1" descr="123"/>
          <p:cNvPicPr>
            <a:picLocks noChangeAspect="1"/>
          </p:cNvPicPr>
          <p:nvPr>
            <p:ph sz="half" idx="2"/>
          </p:nvPr>
        </p:nvPicPr>
        <p:blipFill>
          <a:blip r:embed="rId1"/>
          <a:stretch>
            <a:fillRect/>
          </a:stretch>
        </p:blipFill>
        <p:spPr>
          <a:xfrm>
            <a:off x="5147945" y="5157470"/>
            <a:ext cx="3886200" cy="158877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ext Box 14336"/>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Визначення</a:t>
            </a:r>
            <a:endParaRPr lang="ru-RU" altLang="x-none" sz="4200" dirty="0" err="1">
              <a:solidFill>
                <a:srgbClr val="FFFFFF"/>
              </a:solidFill>
              <a:latin typeface="Arial" panose="020B0604020202020204" pitchFamily="34" charset="0"/>
            </a:endParaRPr>
          </a:p>
        </p:txBody>
      </p:sp>
      <p:sp>
        <p:nvSpPr>
          <p:cNvPr id="25603" name="Text Box 14337"/>
          <p:cNvSpPr txBox="1"/>
          <p:nvPr/>
        </p:nvSpPr>
        <p:spPr>
          <a:xfrm>
            <a:off x="609600" y="1511300"/>
            <a:ext cx="7924800"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500" b="1" dirty="0" err="1">
                <a:gradFill>
                  <a:gsLst>
                    <a:gs pos="0">
                      <a:srgbClr val="E30000"/>
                    </a:gs>
                    <a:gs pos="100000">
                      <a:srgbClr val="760303"/>
                    </a:gs>
                  </a:gsLst>
                  <a:lin scaled="0"/>
                </a:gradFill>
                <a:latin typeface="Arial" panose="020B0604020202020204" pitchFamily="34" charset="0"/>
              </a:rPr>
              <a:t>С</a:t>
            </a:r>
            <a:r>
              <a:rPr lang="ru-RU" altLang="x-none" sz="2500" b="1" dirty="0" err="1">
                <a:gradFill>
                  <a:gsLst>
                    <a:gs pos="0">
                      <a:srgbClr val="E30000"/>
                    </a:gs>
                    <a:gs pos="100000">
                      <a:srgbClr val="760303"/>
                    </a:gs>
                  </a:gsLst>
                  <a:lin scaled="0"/>
                </a:gradFill>
                <a:latin typeface="Arial" panose="020B0604020202020204" pitchFamily="34" charset="0"/>
              </a:rPr>
              <a:t>падкування </a:t>
            </a:r>
            <a:r>
              <a:rPr lang="ru-RU" altLang="x-none" sz="2500" dirty="0" err="1">
                <a:gradFill>
                  <a:gsLst>
                    <a:gs pos="0">
                      <a:srgbClr val="E30000"/>
                    </a:gs>
                    <a:gs pos="100000">
                      <a:srgbClr val="760303"/>
                    </a:gs>
                  </a:gsLst>
                  <a:lin scaled="0"/>
                </a:gradFill>
                <a:latin typeface="Arial" panose="020B0604020202020204" pitchFamily="34" charset="0"/>
              </a:rPr>
              <a:t>- це механізм мови, що дає змогу описати новий клас (нащадка) на основі вже наявного (батьківського, базового) класу. Нащадок може додати власні методи та поля, частково змінити успадковані, а також користуватися батьківськими компонентами.</a:t>
            </a:r>
            <a:endParaRPr lang="ru-RU" altLang="x-none" sz="2500" dirty="0" err="1">
              <a:solidFill>
                <a:srgbClr val="000000"/>
              </a:solidFill>
              <a:latin typeface="Arial" panose="020B0604020202020204" pitchFamily="34" charset="0"/>
            </a:endParaRPr>
          </a:p>
          <a:p>
            <a:pPr defTabSz="457200">
              <a:spcBef>
                <a:spcPts val="8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500" dirty="0" err="1">
                <a:solidFill>
                  <a:srgbClr val="000000"/>
                </a:solidFill>
                <a:latin typeface="Arial" panose="020B0604020202020204" pitchFamily="34" charset="0"/>
              </a:rPr>
              <a:t>У Python успадковується майже все, </a:t>
            </a:r>
            <a:r>
              <a:rPr lang="uk-UA" altLang="en-US" sz="2500" dirty="0" err="1">
                <a:solidFill>
                  <a:srgbClr val="000000"/>
                </a:solidFill>
                <a:latin typeface="Arial" panose="020B0604020202020204" pitchFamily="34" charset="0"/>
              </a:rPr>
              <a:t>                    </a:t>
            </a:r>
            <a:r>
              <a:rPr lang="en-US" altLang="en-US" sz="2500" dirty="0" err="1">
                <a:solidFill>
                  <a:srgbClr val="000000"/>
                </a:solidFill>
                <a:latin typeface="Arial" panose="020B0604020202020204" pitchFamily="34" charset="0"/>
              </a:rPr>
              <a:t>але конструктор __init__ і фіналізатор __del__ батьківського класу не викликаються автоматично, якщо в дочірньому класі визначено власні версії </a:t>
            </a:r>
            <a:r>
              <a:rPr lang="uk-UA" altLang="en-US" sz="2500" dirty="0" err="1">
                <a:solidFill>
                  <a:srgbClr val="000000"/>
                </a:solidFill>
                <a:latin typeface="Arial" panose="020B0604020202020204" pitchFamily="34" charset="0"/>
              </a:rPr>
              <a:t> </a:t>
            </a:r>
            <a:r>
              <a:rPr lang="en-US" altLang="en-US" sz="2500" dirty="0" err="1">
                <a:solidFill>
                  <a:srgbClr val="000000"/>
                </a:solidFill>
                <a:latin typeface="Arial" panose="020B0604020202020204" pitchFamily="34" charset="0"/>
              </a:rPr>
              <a:t>цих методів.</a:t>
            </a:r>
            <a:endParaRPr lang="en-US" altLang="en-US" sz="2500" dirty="0" err="1">
              <a:solidFill>
                <a:srgbClr val="000000"/>
              </a:solidFill>
              <a:latin typeface="Arial" panose="020B0604020202020204" pitchFamily="34" charset="0"/>
            </a:endParaRPr>
          </a:p>
        </p:txBody>
      </p:sp>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1" name="Заголовок 1"/>
          <p:cNvSpPr>
            <a:spLocks noGrp="1"/>
          </p:cNvSpPr>
          <p:nvPr>
            <p:ph type="title"/>
          </p:nvPr>
        </p:nvSpPr>
        <p:spPr/>
        <p:txBody>
          <a:bodyPr vert="horz" wrap="square" lIns="91440" tIns="45720" rIns="91440" bIns="45720" anchor="ctr" anchorCtr="0"/>
          <a:p>
            <a:r>
              <a:rPr lang="uk-UA" altLang="ru-RU" dirty="0"/>
              <a:t>З точки зору </a:t>
            </a:r>
            <a:r>
              <a:rPr lang="ru-RU" altLang="ru-RU" dirty="0"/>
              <a:t>ООП</a:t>
            </a:r>
            <a:endParaRPr lang="ru-RU" altLang="ru-RU" dirty="0"/>
          </a:p>
        </p:txBody>
      </p:sp>
      <p:sp>
        <p:nvSpPr>
          <p:cNvPr id="15362" name="Объект 2"/>
          <p:cNvSpPr>
            <a:spLocks noGrp="1"/>
          </p:cNvSpPr>
          <p:nvPr>
            <p:ph idx="1"/>
          </p:nvPr>
        </p:nvSpPr>
        <p:spPr>
          <a:xfrm>
            <a:off x="609600" y="1511300"/>
            <a:ext cx="7921625" cy="4416425"/>
          </a:xfrm>
        </p:spPr>
        <p:txBody>
          <a:bodyPr vert="horz" wrap="square" lIns="91440" tIns="45720" rIns="91440" bIns="45720" anchor="t" anchorCtr="0"/>
          <a:p>
            <a:pPr marL="457200" indent="-457200">
              <a:buFont typeface="Arial" panose="020B0604020202020204" pitchFamily="34" charset="0"/>
              <a:buChar char="•"/>
            </a:pPr>
            <a:r>
              <a:rPr lang="en-US" altLang="en-US" dirty="0"/>
              <a:t>Технічна частина успадкування - немає повторення коду, додаються розширені версії вже існуючих класів</a:t>
            </a:r>
            <a:endParaRPr lang="en-US" altLang="en-US" dirty="0"/>
          </a:p>
          <a:p>
            <a:pPr marL="457200" indent="-457200">
              <a:buFont typeface="Arial" panose="020B0604020202020204" pitchFamily="34" charset="0"/>
              <a:buChar char="•"/>
            </a:pPr>
            <a:r>
              <a:rPr lang="en-US" altLang="en-US" dirty="0"/>
              <a:t>З погляду парадигми ООП - на будь-який об'єкт похідного класу можна подивитися як на базовий </a:t>
            </a:r>
            <a:r>
              <a:rPr lang="uk-UA" altLang="en-US" dirty="0"/>
              <a:t>                </a:t>
            </a:r>
            <a:r>
              <a:rPr lang="en-US" altLang="en-US" dirty="0"/>
              <a:t>(не враховуючи додаткових сутностей)</a:t>
            </a:r>
            <a:endParaRPr lang="en-US"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Заголовок 1"/>
          <p:cNvSpPr>
            <a:spLocks noGrp="1"/>
          </p:cNvSpPr>
          <p:nvPr>
            <p:ph type="title"/>
          </p:nvPr>
        </p:nvSpPr>
        <p:spPr/>
        <p:txBody>
          <a:bodyPr vert="horz" wrap="square" lIns="91440" tIns="45720" rIns="91440" bIns="45720" anchor="ctr" anchorCtr="0"/>
          <a:p>
            <a:r>
              <a:rPr lang="ru-RU" altLang="ru-RU" dirty="0"/>
              <a:t>Синтаксис </a:t>
            </a:r>
            <a:r>
              <a:rPr lang="uk-UA" altLang="ru-RU" dirty="0"/>
              <a:t>спадкування </a:t>
            </a:r>
            <a:endParaRPr lang="en-US" altLang="ru-RU" dirty="0"/>
          </a:p>
        </p:txBody>
      </p:sp>
      <p:sp>
        <p:nvSpPr>
          <p:cNvPr id="16386" name="Объект 2"/>
          <p:cNvSpPr>
            <a:spLocks noGrp="1"/>
          </p:cNvSpPr>
          <p:nvPr>
            <p:ph idx="1"/>
          </p:nvPr>
        </p:nvSpPr>
        <p:spPr>
          <a:xfrm>
            <a:off x="609600" y="1385888"/>
            <a:ext cx="7924800" cy="4419600"/>
          </a:xfrm>
        </p:spPr>
        <p:txBody>
          <a:bodyPr vert="horz" wrap="square" lIns="91440" tIns="45720" rIns="91440" bIns="45720" anchor="t" anchorCtr="0"/>
          <a:p>
            <a:pPr marL="0" indent="0">
              <a:buNone/>
            </a:pPr>
            <a:r>
              <a:rPr lang="en-US" altLang="en-US" sz="3000" dirty="0"/>
              <a:t>class Base:</a:t>
            </a:r>
            <a:endParaRPr lang="en-US" altLang="en-US" sz="3000" dirty="0"/>
          </a:p>
          <a:p>
            <a:pPr marL="0" indent="0">
              <a:buNone/>
            </a:pPr>
            <a:r>
              <a:rPr lang="en-US" altLang="en-US" sz="3000" dirty="0"/>
              <a:t>  </a:t>
            </a:r>
            <a:r>
              <a:rPr lang="en-US" altLang="en-US" sz="3000" dirty="0">
                <a:solidFill>
                  <a:srgbClr val="00B050"/>
                </a:solidFill>
              </a:rPr>
              <a:t>  # базові компоненти класу</a:t>
            </a:r>
            <a:endParaRPr lang="en-US" altLang="en-US" sz="3000" dirty="0"/>
          </a:p>
          <a:p>
            <a:pPr marL="0" indent="0">
              <a:buNone/>
            </a:pPr>
            <a:r>
              <a:rPr lang="en-US" altLang="en-US" sz="3000" dirty="0"/>
              <a:t>    pass</a:t>
            </a:r>
            <a:endParaRPr lang="en-US" altLang="en-US" sz="3000" dirty="0"/>
          </a:p>
          <a:p>
            <a:pPr marL="0" indent="0">
              <a:buNone/>
            </a:pPr>
            <a:endParaRPr lang="en-US" altLang="en-US" sz="3000" dirty="0"/>
          </a:p>
          <a:p>
            <a:pPr marL="0" indent="0">
              <a:buNone/>
            </a:pPr>
            <a:r>
              <a:rPr lang="en-US" altLang="en-US" sz="3000" dirty="0"/>
              <a:t>class Derived(Base):</a:t>
            </a:r>
            <a:endParaRPr lang="en-US" altLang="en-US" sz="3000" dirty="0"/>
          </a:p>
          <a:p>
            <a:pPr marL="0" indent="0">
              <a:buNone/>
            </a:pPr>
            <a:r>
              <a:rPr lang="en-US" altLang="en-US" sz="3000" dirty="0">
                <a:solidFill>
                  <a:srgbClr val="00B050"/>
                </a:solidFill>
              </a:rPr>
              <a:t>    # успадковані компоненти від Base</a:t>
            </a:r>
            <a:endParaRPr lang="en-US" altLang="en-US" sz="3000" dirty="0">
              <a:solidFill>
                <a:srgbClr val="00B050"/>
              </a:solidFill>
            </a:endParaRPr>
          </a:p>
          <a:p>
            <a:pPr marL="0" indent="0">
              <a:buNone/>
            </a:pPr>
            <a:r>
              <a:rPr lang="en-US" altLang="en-US" sz="3000" dirty="0">
                <a:solidFill>
                  <a:srgbClr val="00B050"/>
                </a:solidFill>
              </a:rPr>
              <a:t>    # компоненти похідного класу</a:t>
            </a:r>
            <a:endParaRPr lang="en-US" altLang="en-US" sz="3000" dirty="0">
              <a:solidFill>
                <a:srgbClr val="00B050"/>
              </a:solidFill>
            </a:endParaRPr>
          </a:p>
          <a:p>
            <a:pPr marL="0" indent="0">
              <a:buNone/>
            </a:pPr>
            <a:r>
              <a:rPr lang="en-US" altLang="en-US" sz="3000" dirty="0"/>
              <a:t>    pass</a:t>
            </a:r>
            <a:endParaRPr lang="en-US" altLang="en-US" sz="3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 Box 1843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sym typeface="+mn-ea"/>
              </a:rPr>
              <a:t>Модифікатори успадкування</a:t>
            </a:r>
            <a:endParaRPr lang="ru-RU" altLang="x-none" sz="4200" dirty="0" err="1">
              <a:solidFill>
                <a:srgbClr val="FFFFFF"/>
              </a:solidFill>
              <a:latin typeface="Arial" panose="020B0604020202020204" pitchFamily="34" charset="0"/>
            </a:endParaRPr>
          </a:p>
        </p:txBody>
      </p:sp>
      <p:sp>
        <p:nvSpPr>
          <p:cNvPr id="33795" name="Text Box 18433"/>
          <p:cNvSpPr txBox="1"/>
          <p:nvPr/>
        </p:nvSpPr>
        <p:spPr>
          <a:xfrm>
            <a:off x="609600" y="1600200"/>
            <a:ext cx="7924800" cy="4419600"/>
          </a:xfrm>
          <a:prstGeom prst="rect">
            <a:avLst/>
          </a:prstGeom>
          <a:noFill/>
          <a:ln w="9525">
            <a:noFill/>
          </a:ln>
        </p:spPr>
        <p:txBody>
          <a:bodyPr wrap="square" lIns="91440" tIns="45720" rIns="91440" bIns="45720" anchor="t" anchorCtr="0"/>
          <a:p>
            <a:pPr marL="342900" indent="-3429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1500" b="1" dirty="0" err="1">
                <a:solidFill>
                  <a:srgbClr val="000000"/>
                </a:solidFill>
                <a:latin typeface="Arial" panose="020B0604020202020204" pitchFamily="34" charset="0"/>
              </a:rPr>
              <a:t>Public Inheritance</a:t>
            </a:r>
            <a:r>
              <a:rPr lang="ru-RU" altLang="x-none" sz="1500" dirty="0" err="1">
                <a:solidFill>
                  <a:srgbClr val="000000"/>
                </a:solidFill>
                <a:latin typeface="Arial" panose="020B0604020202020204" pitchFamily="34" charset="0"/>
              </a:rPr>
              <a:t>: Компоненти базового класу, оголошені як public і protected, залишаються відповідно public і protected у похідному класі. Компоненти, оголошені як private, не доступні безпосередньо з похідного класу.</a:t>
            </a:r>
            <a:endParaRPr lang="ru-RU" altLang="x-none" sz="1500" dirty="0" err="1">
              <a:solidFill>
                <a:srgbClr val="000000"/>
              </a:solidFill>
              <a:latin typeface="Arial" panose="020B0604020202020204" pitchFamily="34" charset="0"/>
            </a:endParaRPr>
          </a:p>
          <a:p>
            <a:pPr marL="342900" indent="-3429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1500" b="1" dirty="0" err="1">
                <a:solidFill>
                  <a:srgbClr val="000000"/>
                </a:solidFill>
                <a:latin typeface="Arial" panose="020B0604020202020204" pitchFamily="34" charset="0"/>
              </a:rPr>
              <a:t>Protected Inheritance</a:t>
            </a:r>
            <a:r>
              <a:rPr lang="ru-RU" altLang="x-none" sz="1500" dirty="0" err="1">
                <a:solidFill>
                  <a:srgbClr val="000000"/>
                </a:solidFill>
                <a:latin typeface="Arial" panose="020B0604020202020204" pitchFamily="34" charset="0"/>
              </a:rPr>
              <a:t>: Усі компоненти базового класу стають захищеними</a:t>
            </a:r>
            <a:r>
              <a:rPr lang="uk-UA" altLang="ru-RU" sz="1500" dirty="0" err="1">
                <a:solidFill>
                  <a:srgbClr val="000000"/>
                </a:solidFill>
                <a:latin typeface="Arial" panose="020B0604020202020204" pitchFamily="34" charset="0"/>
              </a:rPr>
              <a:t>             </a:t>
            </a:r>
            <a:r>
              <a:rPr lang="ru-RU" altLang="x-none" sz="1500" dirty="0" err="1">
                <a:solidFill>
                  <a:srgbClr val="000000"/>
                </a:solidFill>
                <a:latin typeface="Arial" panose="020B0604020202020204" pitchFamily="34" charset="0"/>
              </a:rPr>
              <a:t> у похідному класі, незалежно від їхньої вихідної області видимості.</a:t>
            </a:r>
            <a:endParaRPr lang="ru-RU" altLang="x-none" sz="1500" dirty="0" err="1">
              <a:solidFill>
                <a:srgbClr val="000000"/>
              </a:solidFill>
              <a:latin typeface="Arial" panose="020B0604020202020204" pitchFamily="34" charset="0"/>
            </a:endParaRPr>
          </a:p>
          <a:p>
            <a:pPr marL="342900" indent="-3429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1500" b="1" dirty="0" err="1">
                <a:solidFill>
                  <a:srgbClr val="000000"/>
                </a:solidFill>
                <a:latin typeface="Arial" panose="020B0604020202020204" pitchFamily="34" charset="0"/>
              </a:rPr>
              <a:t>Private Inheritance</a:t>
            </a:r>
            <a:r>
              <a:rPr lang="ru-RU" altLang="x-none" sz="1500" dirty="0" err="1">
                <a:solidFill>
                  <a:srgbClr val="000000"/>
                </a:solidFill>
                <a:latin typeface="Arial" panose="020B0604020202020204" pitchFamily="34" charset="0"/>
              </a:rPr>
              <a:t> (за замовчуванням): Усі компоненти базового класу стають закритими у похідному класі.</a:t>
            </a:r>
            <a:endParaRPr lang="ru-RU" altLang="x-none" sz="1500" dirty="0" err="1">
              <a:solidFill>
                <a:srgbClr val="000000"/>
              </a:solidFill>
              <a:latin typeface="Arial" panose="020B0604020202020204" pitchFamily="34" charset="0"/>
            </a:endParaRPr>
          </a:p>
          <a:p>
            <a:pPr marL="342900" indent="-3429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1500" dirty="0" err="1">
                <a:solidFill>
                  <a:srgbClr val="000000"/>
                </a:solidFill>
                <a:latin typeface="Arial" panose="020B0604020202020204" pitchFamily="34" charset="0"/>
              </a:rPr>
              <a:t>це було актуально для С++ :))</a:t>
            </a:r>
            <a:endParaRPr lang="ru-RU" altLang="x-none" sz="1500" dirty="0" err="1">
              <a:solidFill>
                <a:srgbClr val="000000"/>
              </a:solidFill>
              <a:latin typeface="Arial" panose="020B0604020202020204" pitchFamily="34" charset="0"/>
            </a:endParaRPr>
          </a:p>
          <a:p>
            <a:pPr marL="342900" indent="-3429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altLang="x-none" sz="1500" dirty="0" err="1">
              <a:solidFill>
                <a:srgbClr val="000000"/>
              </a:solidFill>
              <a:latin typeface="Arial" panose="020B0604020202020204" pitchFamily="34" charset="0"/>
            </a:endParaRPr>
          </a:p>
          <a:p>
            <a:pPr marL="342900" indent="-3429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lang="ru-RU" altLang="x-none" sz="1500" dirty="0" err="1">
              <a:solidFill>
                <a:srgbClr val="000000"/>
              </a:solidFill>
              <a:latin typeface="Arial" panose="020B0604020202020204" pitchFamily="34" charset="0"/>
            </a:endParaRPr>
          </a:p>
          <a:p>
            <a:pPr defTabSz="457200">
              <a:spcBef>
                <a:spcPts val="700"/>
              </a:spcBef>
              <a:buClrTx/>
              <a:buSzPct val="80000"/>
              <a:buFont typeface="Arial" panose="020B0604020202020204" pitchFamily="34"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2700" dirty="0" err="1">
                <a:solidFill>
                  <a:srgbClr val="000000"/>
                </a:solidFill>
                <a:latin typeface="Arial" panose="020B0604020202020204" pitchFamily="34" charset="0"/>
              </a:rPr>
              <a:t>В </a:t>
            </a:r>
            <a:r>
              <a:rPr lang="en-US" altLang="ru-RU" sz="2700" dirty="0" err="1">
                <a:solidFill>
                  <a:srgbClr val="000000"/>
                </a:solidFill>
                <a:latin typeface="Arial" panose="020B0604020202020204" pitchFamily="34" charset="0"/>
              </a:rPr>
              <a:t>Python </a:t>
            </a:r>
            <a:r>
              <a:rPr lang="uk-UA" altLang="ru-RU" sz="2700" dirty="0" err="1">
                <a:solidFill>
                  <a:srgbClr val="000000"/>
                </a:solidFill>
                <a:latin typeface="Arial" panose="020B0604020202020204" pitchFamily="34" charset="0"/>
              </a:rPr>
              <a:t>не пишуться, і є лише умовно публічне успадкування :)</a:t>
            </a:r>
            <a:endParaRPr lang="uk-UA" altLang="ru-RU" sz="2700" dirty="0" err="1">
              <a:solidFill>
                <a:srgbClr val="000000"/>
              </a:solidFill>
              <a:latin typeface="Arial" panose="020B0604020202020204" pitchFamily="34" charset="0"/>
            </a:endParaRPr>
          </a:p>
        </p:txBody>
      </p:sp>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Заголовок 1"/>
          <p:cNvSpPr>
            <a:spLocks noGrp="1"/>
          </p:cNvSpPr>
          <p:nvPr>
            <p:ph type="title"/>
          </p:nvPr>
        </p:nvSpPr>
        <p:spPr/>
        <p:txBody>
          <a:bodyPr vert="horz" wrap="square" lIns="91440" tIns="45720" rIns="91440" bIns="45720" anchor="ctr" anchorCtr="0"/>
          <a:p>
            <a:r>
              <a:rPr lang="uk-UA" altLang="ru-RU" dirty="0"/>
              <a:t>Приклад коду на успадкування</a:t>
            </a:r>
            <a:endParaRPr lang="uk-UA" altLang="ru-RU" dirty="0"/>
          </a:p>
        </p:txBody>
      </p:sp>
      <p:sp>
        <p:nvSpPr>
          <p:cNvPr id="22530" name="Объект 2"/>
          <p:cNvSpPr>
            <a:spLocks noGrp="1"/>
          </p:cNvSpPr>
          <p:nvPr>
            <p:ph idx="1"/>
          </p:nvPr>
        </p:nvSpPr>
        <p:spPr>
          <a:xfrm>
            <a:off x="609600" y="1412875"/>
            <a:ext cx="7924800" cy="4419600"/>
          </a:xfrm>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https://gist.github.com/sunmeat/53544f3a85aa8cedd8e4233b99201117</a:t>
            </a:r>
            <a:endParaRPr lang="en-US" altLang="en-US" b="1" dirty="0">
              <a:hlinkClick r:id="rId1" action="ppaction://hlinkfile"/>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Заголовок 1"/>
          <p:cNvSpPr>
            <a:spLocks noGrp="1"/>
          </p:cNvSpPr>
          <p:nvPr>
            <p:ph type="title"/>
          </p:nvPr>
        </p:nvSpPr>
        <p:spPr/>
        <p:txBody>
          <a:bodyPr vert="horz" wrap="square" lIns="91440" tIns="45720" rIns="91440" bIns="45720" anchor="ctr" anchorCtr="0"/>
          <a:p>
            <a:r>
              <a:rPr lang="uk-UA" altLang="ru-RU" dirty="0"/>
              <a:t>Практика</a:t>
            </a:r>
            <a:endParaRPr lang="uk-UA" altLang="ru-RU" dirty="0"/>
          </a:p>
        </p:txBody>
      </p:sp>
      <p:sp>
        <p:nvSpPr>
          <p:cNvPr id="18434" name="Объект 2"/>
          <p:cNvSpPr>
            <a:spLocks noGrp="1"/>
          </p:cNvSpPr>
          <p:nvPr>
            <p:ph idx="1"/>
          </p:nvPr>
        </p:nvSpPr>
        <p:spPr>
          <a:xfrm>
            <a:off x="448945" y="1412240"/>
            <a:ext cx="8115300" cy="4419600"/>
          </a:xfrm>
        </p:spPr>
        <p:txBody>
          <a:bodyPr vert="horz" wrap="square" lIns="91440" tIns="45720" rIns="91440" bIns="45720" anchor="t" anchorCtr="0"/>
          <a:p>
            <a:pPr marL="0" indent="0">
              <a:buNone/>
            </a:pPr>
            <a:r>
              <a:rPr lang="en-US" altLang="en-US" sz="1800" dirty="0"/>
              <a:t>Напишіть два класи з використанням одиночного спадкування: базовий клас Counter, який моделює простий лічильник подій (наприклад, кількість кліків</a:t>
            </a:r>
            <a:r>
              <a:rPr lang="uk-UA" altLang="en-US" sz="1800" dirty="0"/>
              <a:t>, зібраних монет, рівень гравця, кіловати,</a:t>
            </a:r>
            <a:r>
              <a:rPr lang="en-US" altLang="en-US" sz="1800" dirty="0"/>
              <a:t> </a:t>
            </a:r>
            <a:r>
              <a:rPr lang="uk-UA" altLang="en-US" sz="1800" dirty="0"/>
              <a:t>кілометри,</a:t>
            </a:r>
            <a:r>
              <a:rPr lang="en-US" altLang="en-US" sz="1800" dirty="0"/>
              <a:t> виконан</a:t>
            </a:r>
            <a:r>
              <a:rPr lang="uk-UA" altLang="en-US" sz="1800" dirty="0"/>
              <a:t>і</a:t>
            </a:r>
            <a:r>
              <a:rPr lang="en-US" altLang="en-US" sz="1800" dirty="0"/>
              <a:t> завдан</a:t>
            </a:r>
            <a:r>
              <a:rPr lang="uk-UA" altLang="en-US" sz="1800" dirty="0"/>
              <a:t>ня</a:t>
            </a:r>
            <a:r>
              <a:rPr lang="en-US" altLang="en-US" sz="1800" dirty="0"/>
              <a:t>), та похідний клас TimedCounter, що додає автоматичний </a:t>
            </a:r>
            <a:r>
              <a:rPr lang="uk-UA" altLang="en-US" sz="1800" dirty="0"/>
              <a:t>   </a:t>
            </a:r>
            <a:r>
              <a:rPr lang="en-US" altLang="en-US" sz="1800" dirty="0"/>
              <a:t>тайм-аут</a:t>
            </a:r>
            <a:r>
              <a:rPr lang="uk-UA" altLang="en-US" sz="1800" dirty="0"/>
              <a:t> (значення скидається в 0, якщо час вичерпано)</a:t>
            </a:r>
            <a:r>
              <a:rPr lang="en-US" altLang="en-US" sz="1800" dirty="0"/>
              <a:t>. У конструкторі Counter ініціалізуйте значення </a:t>
            </a:r>
            <a:r>
              <a:rPr lang="uk-UA" altLang="en-US" sz="1800" dirty="0"/>
              <a:t>нулем</a:t>
            </a:r>
            <a:r>
              <a:rPr lang="en-US" altLang="en-US" sz="1800" dirty="0"/>
              <a:t>; додайте методи для збільшення лічильника (на 1 або на задану кількість), отримання поточного значення, скидання до нуля та виведення стану. У класі TimedCounter додайте параметр timeout_seconds (наприклад, 30) і перевизначте метод збільшення, щоб він приймав додатковий параметр seconds_since_last — якщо минуло більше часу, ніж тайм-аут, лічильник скидається; використовуйте super() для виклику базового методу збільшення. Покажіть 2–3 приклади використання обох класів з різними інтервалами часу (імітуйте час через параметр, </a:t>
            </a:r>
            <a:r>
              <a:rPr lang="uk-UA" altLang="en-US" sz="1800" dirty="0"/>
              <a:t>або через реальний виклик </a:t>
            </a:r>
            <a:r>
              <a:rPr lang="en-US" altLang="en-US" sz="1800" dirty="0"/>
              <a:t>sleep), продемонструйте скидання через тайм-аут і виведіть стан лічильників. </a:t>
            </a:r>
            <a:r>
              <a:rPr lang="uk-UA" altLang="en-US" sz="1800" dirty="0"/>
              <a:t>	Бажано використати</a:t>
            </a:r>
            <a:r>
              <a:rPr lang="en-US" altLang="en-US" sz="1800" dirty="0"/>
              <a:t> @property</a:t>
            </a:r>
            <a:r>
              <a:rPr lang="uk-UA" altLang="en-US" sz="1800" dirty="0"/>
              <a:t> та</a:t>
            </a:r>
            <a:r>
              <a:rPr lang="en-US" altLang="en-US" sz="1800" dirty="0"/>
              <a:t> type hints</a:t>
            </a:r>
            <a:r>
              <a:rPr lang="uk-UA" altLang="en-US" sz="1800" dirty="0"/>
              <a:t>.</a:t>
            </a:r>
            <a:endParaRPr lang="uk-UA" altLang="en-US" sz="18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Заголовок 1"/>
          <p:cNvSpPr>
            <a:spLocks noGrp="1"/>
          </p:cNvSpPr>
          <p:nvPr>
            <p:ph type="title"/>
          </p:nvPr>
        </p:nvSpPr>
        <p:spPr/>
        <p:txBody>
          <a:bodyPr vert="horz" wrap="square" lIns="91440" tIns="45720" rIns="91440" bIns="45720" anchor="ctr" anchorCtr="0"/>
          <a:p>
            <a:r>
              <a:rPr lang="uk-UA" altLang="ru-RU" dirty="0"/>
              <a:t>Типи спадкування</a:t>
            </a:r>
            <a:endParaRPr lang="uk-UA" altLang="ru-RU" dirty="0"/>
          </a:p>
        </p:txBody>
      </p:sp>
      <p:sp>
        <p:nvSpPr>
          <p:cNvPr id="18434" name="Объект 2"/>
          <p:cNvSpPr>
            <a:spLocks noGrp="1"/>
          </p:cNvSpPr>
          <p:nvPr>
            <p:ph idx="1"/>
          </p:nvPr>
        </p:nvSpPr>
        <p:spPr>
          <a:xfrm>
            <a:off x="537845" y="1412240"/>
            <a:ext cx="7924800" cy="4419600"/>
          </a:xfrm>
        </p:spPr>
        <p:txBody>
          <a:bodyPr vert="horz" wrap="square" lIns="91440" tIns="45720" rIns="91440" bIns="45720" anchor="t" anchorCtr="0"/>
          <a:p>
            <a:pPr marL="0" indent="0">
              <a:buNone/>
            </a:pPr>
            <a:r>
              <a:rPr lang="en-US" altLang="en-US" sz="2600" dirty="0"/>
              <a:t>У Python класи, при оголошенні яких не вказано жодного базового класу (наприклад, class MyClass:), неявно успадковують від вбудованого класу object</a:t>
            </a:r>
            <a:r>
              <a:rPr lang="uk-UA" altLang="en-US" sz="2600" dirty="0"/>
              <a:t> (</a:t>
            </a:r>
            <a:r>
              <a:rPr lang="en-US" altLang="en-US" sz="2600" dirty="0"/>
              <a:t>починаючи з Python 3.0 (2008</a:t>
            </a:r>
            <a:r>
              <a:rPr lang="uk-UA" altLang="en-US" sz="2600" dirty="0"/>
              <a:t> рік</a:t>
            </a:r>
            <a:r>
              <a:rPr lang="en-US" altLang="en-US" sz="2600" dirty="0"/>
              <a:t>).</a:t>
            </a:r>
            <a:endParaRPr lang="en-US" altLang="en-US" sz="2600" dirty="0"/>
          </a:p>
          <a:p>
            <a:pPr marL="0" indent="0">
              <a:buNone/>
            </a:pPr>
            <a:r>
              <a:rPr lang="en-US" altLang="en-US" sz="2600" dirty="0"/>
              <a:t>При цьому Python </a:t>
            </a:r>
            <a:r>
              <a:rPr lang="en-US" altLang="en-US" sz="2600" u="sng" dirty="0"/>
              <a:t>підтримує множинне спадкування</a:t>
            </a:r>
            <a:r>
              <a:rPr lang="en-US" altLang="en-US" sz="2600" dirty="0"/>
              <a:t> — клас може успадковувати </a:t>
            </a:r>
            <a:r>
              <a:rPr lang="uk-UA" altLang="en-US" sz="2600" dirty="0"/>
              <a:t>            </a:t>
            </a:r>
            <a:r>
              <a:rPr lang="en-US" altLang="en-US" sz="2600" dirty="0"/>
              <a:t>від кількох батьків одночасно (наприклад, class FlyingCar(Flyable, Drivable): ...), що дозволяє створювати гібриди на кшталт </a:t>
            </a:r>
            <a:r>
              <a:rPr lang="en-US" altLang="en-US" sz="2600" dirty="0"/>
              <a:t>«</a:t>
            </a:r>
            <a:r>
              <a:rPr lang="en-US" altLang="en-US" sz="2600" dirty="0"/>
              <a:t>Килима-Літака</a:t>
            </a:r>
            <a:r>
              <a:rPr lang="en-US" altLang="en-US" sz="2600" dirty="0"/>
              <a:t>»</a:t>
            </a:r>
            <a:r>
              <a:rPr lang="en-US" altLang="en-US" sz="2600" dirty="0"/>
              <a:t> чи </a:t>
            </a:r>
            <a:r>
              <a:rPr lang="en-US" altLang="en-US" sz="2600" dirty="0"/>
              <a:t>«</a:t>
            </a:r>
            <a:r>
              <a:rPr lang="en-US" altLang="en-US" sz="2600" dirty="0"/>
              <a:t>Котопса</a:t>
            </a:r>
            <a:r>
              <a:rPr lang="en-US" altLang="en-US" sz="2600" dirty="0"/>
              <a:t>»</a:t>
            </a:r>
            <a:r>
              <a:rPr lang="en-US" altLang="en-US" sz="2600" dirty="0"/>
              <a:t>, на відміну від C#, де реалізоване 	лише одиночне спадкування класів.</a:t>
            </a:r>
            <a:endParaRPr lang="en-US" altLang="en-US" sz="26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Заголовок 1"/>
          <p:cNvSpPr>
            <a:spLocks noGrp="1"/>
          </p:cNvSpPr>
          <p:nvPr>
            <p:ph type="title"/>
          </p:nvPr>
        </p:nvSpPr>
        <p:spPr/>
        <p:txBody>
          <a:bodyPr vert="horz" wrap="square" lIns="91440" tIns="45720" rIns="91440" bIns="45720" anchor="ctr" anchorCtr="0"/>
          <a:p>
            <a:r>
              <a:rPr lang="uk-UA" altLang="ru-RU" dirty="0">
                <a:sym typeface="+mn-ea"/>
              </a:rPr>
              <a:t>Множинне спадкування</a:t>
            </a:r>
            <a:endParaRPr lang="ru-RU" altLang="ru-RU" dirty="0"/>
          </a:p>
        </p:txBody>
      </p:sp>
      <p:sp>
        <p:nvSpPr>
          <p:cNvPr id="20482" name="Объект 2"/>
          <p:cNvSpPr>
            <a:spLocks noGrp="1"/>
          </p:cNvSpPr>
          <p:nvPr>
            <p:ph idx="1"/>
          </p:nvPr>
        </p:nvSpPr>
        <p:spPr>
          <a:xfrm>
            <a:off x="544830" y="1386205"/>
            <a:ext cx="8059420" cy="4419600"/>
          </a:xfrm>
        </p:spPr>
        <p:txBody>
          <a:bodyPr vert="horz" wrap="square" lIns="91440" tIns="45720" rIns="91440" bIns="45720" anchor="t" anchorCtr="0"/>
          <a:p>
            <a:pPr marL="0" indent="0">
              <a:buNone/>
            </a:pPr>
            <a:r>
              <a:rPr lang="en-US" altLang="en-US" sz="2500" dirty="0">
                <a:latin typeface="Verdana" panose="020B0604030504040204" pitchFamily="34" charset="0"/>
                <a:ea typeface="Verdana" panose="020B0604030504040204" pitchFamily="34" charset="0"/>
              </a:rPr>
              <a:t>Ніколи не слід забувати про те, </a:t>
            </a:r>
            <a:r>
              <a:rPr lang="uk-UA" altLang="en-US" sz="2500" dirty="0">
                <a:latin typeface="Verdana" panose="020B0604030504040204" pitchFamily="34" charset="0"/>
                <a:ea typeface="Verdana" panose="020B0604030504040204" pitchFamily="34" charset="0"/>
              </a:rPr>
              <a:t>                      </a:t>
            </a:r>
            <a:r>
              <a:rPr lang="en-US" altLang="en-US" sz="2500" dirty="0">
                <a:latin typeface="Verdana" panose="020B0604030504040204" pitchFamily="34" charset="0"/>
                <a:ea typeface="Verdana" panose="020B0604030504040204" pitchFamily="34" charset="0"/>
              </a:rPr>
              <a:t>що успадкування відображає </a:t>
            </a:r>
            <a:r>
              <a:rPr lang="uk-UA" altLang="en-US" sz="2500" dirty="0">
                <a:latin typeface="Verdana" panose="020B0604030504040204" pitchFamily="34" charset="0"/>
                <a:ea typeface="Verdana" panose="020B0604030504040204" pitchFamily="34" charset="0"/>
              </a:rPr>
              <a:t>відносину         </a:t>
            </a:r>
            <a:r>
              <a:rPr lang="en-US" altLang="en-US" sz="2500" dirty="0">
                <a:latin typeface="Verdana" panose="020B0604030504040204" pitchFamily="34" charset="0"/>
                <a:ea typeface="Verdana" panose="020B0604030504040204" pitchFamily="34" charset="0"/>
              </a:rPr>
              <a:t>«є різновидом», а не «частина цілого». </a:t>
            </a:r>
            <a:r>
              <a:rPr lang="uk-UA" altLang="en-US" sz="2500" dirty="0">
                <a:latin typeface="Verdana" panose="020B0604030504040204" pitchFamily="34" charset="0"/>
                <a:ea typeface="Verdana" panose="020B0604030504040204" pitchFamily="34" charset="0"/>
              </a:rPr>
              <a:t>   </a:t>
            </a:r>
            <a:r>
              <a:rPr lang="en-US" altLang="en-US" sz="2500" dirty="0">
                <a:latin typeface="Verdana" panose="020B0604030504040204" pitchFamily="34" charset="0"/>
                <a:ea typeface="Verdana" panose="020B0604030504040204" pitchFamily="34" charset="0"/>
              </a:rPr>
              <a:t>Тому, </a:t>
            </a:r>
            <a:r>
              <a:rPr lang="uk-UA" altLang="en-US" sz="2500" dirty="0">
                <a:latin typeface="Verdana" panose="020B0604030504040204" pitchFamily="34" charset="0"/>
                <a:ea typeface="Verdana" panose="020B0604030504040204" pitchFamily="34" charset="0"/>
              </a:rPr>
              <a:t>не треба </a:t>
            </a:r>
            <a:r>
              <a:rPr lang="en-US" altLang="en-US" sz="2500" dirty="0">
                <a:latin typeface="Verdana" panose="020B0604030504040204" pitchFamily="34" charset="0"/>
                <a:ea typeface="Verdana" panose="020B0604030504040204" pitchFamily="34" charset="0"/>
              </a:rPr>
              <a:t>робити Лося з Рогів і Копит, </a:t>
            </a:r>
            <a:r>
              <a:rPr lang="uk-UA" altLang="en-US" sz="2500" dirty="0">
                <a:latin typeface="Verdana" panose="020B0604030504040204" pitchFamily="34" charset="0"/>
                <a:ea typeface="Verdana" panose="020B0604030504040204" pitchFamily="34" charset="0"/>
              </a:rPr>
              <a:t>  </a:t>
            </a:r>
            <a:r>
              <a:rPr lang="en-US" altLang="en-US" sz="2500" dirty="0">
                <a:latin typeface="Verdana" panose="020B0604030504040204" pitchFamily="34" charset="0"/>
                <a:ea typeface="Verdana" panose="020B0604030504040204" pitchFamily="34" charset="0"/>
              </a:rPr>
              <a:t>чи Пегаса з Коня і Крил тощо. </a:t>
            </a:r>
            <a:r>
              <a:rPr lang="uk-UA" altLang="en-US" sz="2500" dirty="0">
                <a:latin typeface="Verdana" panose="020B0604030504040204" pitchFamily="34" charset="0"/>
                <a:ea typeface="Verdana" panose="020B0604030504040204" pitchFamily="34" charset="0"/>
              </a:rPr>
              <a:t>                      </a:t>
            </a:r>
            <a:r>
              <a:rPr lang="en-US" altLang="en-US" sz="2500" dirty="0">
                <a:latin typeface="Verdana" panose="020B0604030504040204" pitchFamily="34" charset="0"/>
                <a:ea typeface="Verdana" panose="020B0604030504040204" pitchFamily="34" charset="0"/>
              </a:rPr>
              <a:t>Обидва ці приклади – це композиція, </a:t>
            </a:r>
            <a:r>
              <a:rPr lang="uk-UA" altLang="en-US" sz="2500" dirty="0">
                <a:latin typeface="Verdana" panose="020B0604030504040204" pitchFamily="34" charset="0"/>
                <a:ea typeface="Verdana" panose="020B0604030504040204" pitchFamily="34" charset="0"/>
              </a:rPr>
              <a:t>                                </a:t>
            </a:r>
            <a:r>
              <a:rPr lang="en-US" altLang="en-US" sz="2500" dirty="0">
                <a:latin typeface="Verdana" panose="020B0604030504040204" pitchFamily="34" charset="0"/>
                <a:ea typeface="Verdana" panose="020B0604030504040204" pitchFamily="34" charset="0"/>
              </a:rPr>
              <a:t>а не успадкування.</a:t>
            </a:r>
            <a:endParaRPr lang="en-US" altLang="en-US" sz="2500" dirty="0">
              <a:latin typeface="Verdana" panose="020B0604030504040204" pitchFamily="34" charset="0"/>
              <a:ea typeface="Verdana" panose="020B0604030504040204" pitchFamily="34" charset="0"/>
            </a:endParaRPr>
          </a:p>
          <a:p>
            <a:pPr marL="0" indent="0">
              <a:buNone/>
            </a:pPr>
            <a:r>
              <a:rPr lang="en-US" altLang="en-US" sz="2500" dirty="0">
                <a:latin typeface="Verdana" panose="020B0604030504040204" pitchFamily="34" charset="0"/>
                <a:ea typeface="Verdana" panose="020B0604030504040204" pitchFamily="34" charset="0"/>
              </a:rPr>
              <a:t>Так наприклад, Окружність включає в себе точку, але не є </a:t>
            </a:r>
            <a:r>
              <a:rPr lang="uk-UA" altLang="en-US" sz="2500" dirty="0">
                <a:latin typeface="Verdana" panose="020B0604030504040204" pitchFamily="34" charset="0"/>
                <a:ea typeface="Verdana" panose="020B0604030504040204" pitchFamily="34" charset="0"/>
              </a:rPr>
              <a:t>її різновидом</a:t>
            </a:r>
            <a:r>
              <a:rPr lang="en-US" altLang="en-US" sz="2500" dirty="0">
                <a:latin typeface="Verdana" panose="020B0604030504040204" pitchFamily="34" charset="0"/>
                <a:ea typeface="Verdana" panose="020B0604030504040204" pitchFamily="34" charset="0"/>
              </a:rPr>
              <a:t>.</a:t>
            </a:r>
            <a:endParaRPr lang="en-US" altLang="en-US" sz="2500" dirty="0">
              <a:latin typeface="Verdana" panose="020B0604030504040204" pitchFamily="34" charset="0"/>
              <a:ea typeface="Verdana" panose="020B0604030504040204" pitchFamily="34" charset="0"/>
            </a:endParaRPr>
          </a:p>
          <a:p>
            <a:pPr marL="0" indent="0" algn="ctr">
              <a:buNone/>
            </a:pPr>
            <a:r>
              <a:rPr lang="en-US" altLang="en-US" sz="2500" b="1" dirty="0">
                <a:latin typeface="Verdana" panose="020B0604030504040204" pitchFamily="34" charset="0"/>
                <a:ea typeface="Verdana" panose="020B0604030504040204" pitchFamily="34" charset="0"/>
                <a:hlinkClick r:id="rId1" action="ppaction://hlinkfile"/>
              </a:rPr>
              <a:t>https://gist.github.com/sunmeat/8bddc50498ea7c184e24aead7ec92147</a:t>
            </a:r>
            <a:endParaRPr lang="en-US" altLang="en-US" sz="2500" b="1" dirty="0">
              <a:latin typeface="Verdana" panose="020B0604030504040204" pitchFamily="34" charset="0"/>
              <a:ea typeface="Verdana" panose="020B0604030504040204" pitchFamily="34" charset="0"/>
              <a:hlinkClick r:id="rId1" action="ppaction://hlinkfile"/>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Заголовок 1"/>
          <p:cNvSpPr>
            <a:spLocks noGrp="1"/>
          </p:cNvSpPr>
          <p:nvPr>
            <p:ph type="title"/>
          </p:nvPr>
        </p:nvSpPr>
        <p:spPr>
          <a:xfrm>
            <a:off x="195263" y="228600"/>
            <a:ext cx="8193087" cy="914400"/>
          </a:xfrm>
        </p:spPr>
        <p:txBody>
          <a:bodyPr vert="horz" wrap="square" lIns="91440" tIns="45720" rIns="91440" bIns="45720" anchor="ctr" anchorCtr="0"/>
          <a:p>
            <a:r>
              <a:rPr lang="uk-UA" altLang="ru-RU" dirty="0"/>
              <a:t>Проблема ромба та </a:t>
            </a:r>
            <a:r>
              <a:rPr lang="en-US" altLang="ru-RU" dirty="0"/>
              <a:t>MRO</a:t>
            </a:r>
            <a:endParaRPr lang="en-US" altLang="ru-RU" dirty="0"/>
          </a:p>
        </p:txBody>
      </p:sp>
      <p:sp>
        <p:nvSpPr>
          <p:cNvPr id="3" name="Объект 2"/>
          <p:cNvSpPr>
            <a:spLocks noGrp="1"/>
          </p:cNvSpPr>
          <p:nvPr>
            <p:ph idx="1"/>
          </p:nvPr>
        </p:nvSpPr>
        <p:spPr>
          <a:xfrm>
            <a:off x="467043" y="1385888"/>
            <a:ext cx="7924800" cy="4419600"/>
          </a:xfrm>
        </p:spPr>
        <p:txBody>
          <a:bodyPr vert="horz" wrap="square" lIns="91440" tIns="45720" rIns="91440" bIns="45720" numCol="1" anchor="t" anchorCtr="0" compatLnSpc="1"/>
          <a:lstStyle/>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en-US" altLang="en-US" sz="2400" b="1" i="0" u="none" strike="noStrike" kern="0" cap="none" spc="0" normalizeH="0" baseline="0" noProof="0" dirty="0" smtClean="0">
                <a:ln>
                  <a:noFill/>
                </a:ln>
                <a:solidFill>
                  <a:schemeClr val="tx1"/>
                </a:solidFill>
                <a:effectLst/>
                <a:uLnTx/>
                <a:uFillTx/>
                <a:latin typeface="+mn-lt"/>
                <a:ea typeface="+mn-ea"/>
                <a:cs typeface="+mn-cs"/>
                <a:hlinkClick r:id="rId1" action="ppaction://hlinkfile"/>
              </a:rPr>
              <a:t>https://gist.github.com/sunmeat/115aab411e4731cbf867343f56c04ed9</a:t>
            </a:r>
            <a:endParaRPr kumimoji="0" lang="en-US" altLang="en-US" sz="2400" b="1" i="0" u="none" strike="noStrike" kern="0" cap="none" spc="0" normalizeH="0" baseline="0" noProof="0" dirty="0" smtClean="0">
              <a:ln>
                <a:noFill/>
              </a:ln>
              <a:solidFill>
                <a:schemeClr val="tx1"/>
              </a:solidFill>
              <a:effectLst/>
              <a:uLnTx/>
              <a:uFillTx/>
              <a:latin typeface="+mn-lt"/>
              <a:ea typeface="+mn-ea"/>
              <a:cs typeface="+mn-cs"/>
              <a:hlinkClick r:id="rId1" action="ppaction://hlinkfile"/>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endParaRPr kumimoji="0" lang="uk-UA" altLang="en-US" sz="2400" b="1" i="0" u="sng" strike="noStrike" kern="0" cap="none" spc="0" normalizeH="0" baseline="0" noProof="0" dirty="0" smtClean="0">
              <a:ln>
                <a:noFill/>
              </a:ln>
              <a:solidFill>
                <a:schemeClr val="tx1"/>
              </a:solidFill>
              <a:effectLst/>
              <a:uLnTx/>
              <a:uFillTx/>
              <a:latin typeface="+mn-lt"/>
              <a:ea typeface="+mn-ea"/>
              <a:cs typeface="+mn-cs"/>
              <a:hlinkClick r:id="rId1" action="ppaction://hlinkfile"/>
            </a:endParaRPr>
          </a:p>
        </p:txBody>
      </p:sp>
      <p:pic>
        <p:nvPicPr>
          <p:cNvPr id="21507" name="Picture 2" descr="C:\Users\Саша\Desktop\220px-Diamond_inheritance.svg.png"/>
          <p:cNvPicPr>
            <a:picLocks noChangeAspect="1"/>
          </p:cNvPicPr>
          <p:nvPr/>
        </p:nvPicPr>
        <p:blipFill>
          <a:blip r:embed="rId2"/>
          <a:stretch>
            <a:fillRect/>
          </a:stretch>
        </p:blipFill>
        <p:spPr>
          <a:xfrm>
            <a:off x="6769735" y="3341370"/>
            <a:ext cx="2201545" cy="3302635"/>
          </a:xfrm>
          <a:prstGeom prst="rect">
            <a:avLst/>
          </a:prstGeom>
          <a:noFill/>
          <a:ln w="9525">
            <a:noFill/>
          </a:ln>
        </p:spPr>
      </p:pic>
      <p:sp>
        <p:nvSpPr>
          <p:cNvPr id="2" name="Text Box 1"/>
          <p:cNvSpPr txBox="1"/>
          <p:nvPr/>
        </p:nvSpPr>
        <p:spPr>
          <a:xfrm>
            <a:off x="567055" y="2214245"/>
            <a:ext cx="6065520" cy="3984625"/>
          </a:xfrm>
          <a:prstGeom prst="rect">
            <a:avLst/>
          </a:prstGeom>
        </p:spPr>
        <p:txBody>
          <a:bodyPr wrap="square">
            <a:spAutoFit/>
          </a:bodyPr>
          <a:p>
            <a:r>
              <a:rPr sz="2300" b="1">
                <a:solidFill>
                  <a:schemeClr val="tx1"/>
                </a:solidFill>
              </a:rPr>
              <a:t>MRO </a:t>
            </a:r>
            <a:r>
              <a:rPr sz="2300">
                <a:solidFill>
                  <a:schemeClr val="tx1"/>
                </a:solidFill>
              </a:rPr>
              <a:t>(Method Resolution Order) — це чітко визначений лінійний порядок, у якому Python шукає методи та атрибути в ієрархії класів під час множинного спадкування, перетворюючи потенційно складний граф успадкування на єдину послідовність класів (наприклад, D → B → C → A → object), що гарантує детермінованість, уникнення неоднозначностей і правильне використання super() завдяки алгоритму </a:t>
            </a:r>
            <a:r>
              <a:rPr lang="uk-UA" sz="2300">
                <a:solidFill>
                  <a:schemeClr val="tx1"/>
                </a:solidFill>
              </a:rPr>
              <a:t>	</a:t>
            </a:r>
            <a:r>
              <a:rPr sz="2300">
                <a:solidFill>
                  <a:schemeClr val="tx1"/>
                </a:solidFill>
              </a:rPr>
              <a:t>C3 linearization.</a:t>
            </a:r>
            <a:endParaRPr sz="2300">
              <a:solidFill>
                <a:schemeClr val="tx1"/>
              </a:solidFil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Заголовок 1"/>
          <p:cNvSpPr>
            <a:spLocks noGrp="1"/>
          </p:cNvSpPr>
          <p:nvPr>
            <p:ph type="title"/>
          </p:nvPr>
        </p:nvSpPr>
        <p:spPr/>
        <p:txBody>
          <a:bodyPr vert="horz" wrap="square" lIns="91440" tIns="45720" rIns="91440" bIns="45720" anchor="ctr" anchorCtr="0"/>
          <a:p>
            <a:r>
              <a:rPr lang="uk-UA" altLang="ru-RU" dirty="0"/>
              <a:t>Практика</a:t>
            </a:r>
            <a:endParaRPr lang="uk-UA" altLang="ru-RU" dirty="0"/>
          </a:p>
        </p:txBody>
      </p:sp>
      <p:sp>
        <p:nvSpPr>
          <p:cNvPr id="18434" name="Объект 2"/>
          <p:cNvSpPr>
            <a:spLocks noGrp="1"/>
          </p:cNvSpPr>
          <p:nvPr>
            <p:ph idx="1"/>
          </p:nvPr>
        </p:nvSpPr>
        <p:spPr>
          <a:xfrm>
            <a:off x="493395" y="1412240"/>
            <a:ext cx="8115300" cy="4419600"/>
          </a:xfrm>
        </p:spPr>
        <p:txBody>
          <a:bodyPr vert="horz" wrap="square" lIns="91440" tIns="45720" rIns="91440" bIns="45720" anchor="t" anchorCtr="0"/>
          <a:p>
            <a:pPr marL="0" indent="0">
              <a:buNone/>
            </a:pPr>
            <a:r>
              <a:rPr lang="en-US" altLang="en-US" sz="1800" dirty="0"/>
              <a:t>Напишіть три класи з використанням множинного спадкування: базові класи AlarmClock (з атрибутом is_active: bool, методом ring() — виводить </a:t>
            </a:r>
            <a:r>
              <a:rPr lang="en-US" altLang="en-US" sz="1800" dirty="0"/>
              <a:t>«</a:t>
            </a:r>
            <a:r>
              <a:rPr lang="en-US" altLang="en-US" sz="1800" dirty="0"/>
              <a:t>BEEP BEEP!</a:t>
            </a:r>
            <a:r>
              <a:rPr lang="en-US" altLang="en-US" sz="1800" dirty="0"/>
              <a:t>»</a:t>
            </a:r>
            <a:r>
              <a:rPr lang="en-US" altLang="en-US" sz="1800" dirty="0"/>
              <a:t>) та Cat (з атрибутом meow_volume: int від 1 до 10, методом meow() — виводить </a:t>
            </a:r>
            <a:r>
              <a:rPr lang="en-US" altLang="en-US" sz="1800" dirty="0"/>
              <a:t>«</a:t>
            </a:r>
            <a:r>
              <a:rPr lang="ru-RU" altLang="en-US" sz="1800" dirty="0"/>
              <a:t>Няв</a:t>
            </a:r>
            <a:r>
              <a:rPr lang="en-US" altLang="en-US" sz="1800" dirty="0"/>
              <a:t>!</a:t>
            </a:r>
            <a:r>
              <a:rPr lang="en-US" altLang="en-US" sz="1800" dirty="0"/>
              <a:t>»</a:t>
            </a:r>
            <a:r>
              <a:rPr lang="en-US" altLang="en-US" sz="1800" dirty="0"/>
              <a:t> повторюване meow_volume разів), </a:t>
            </a:r>
            <a:r>
              <a:rPr lang="ru-RU" altLang="en-US" sz="1800" dirty="0"/>
              <a:t>   </a:t>
            </a:r>
            <a:r>
              <a:rPr lang="en-US" altLang="en-US" sz="1800" dirty="0"/>
              <a:t>а також похідний клас CatAlarmClock, який успадковує</a:t>
            </a:r>
            <a:r>
              <a:rPr lang="ru-RU" altLang="en-US" sz="1800" dirty="0"/>
              <a:t>ться</a:t>
            </a:r>
            <a:r>
              <a:rPr lang="en-US" altLang="en-US" sz="1800" dirty="0"/>
              <a:t> одночасно від AlarmClock та Cat. У конструкторі CatAlarmClock приймайте початковий meow_volume та встановлюйте is_active = True; додайте власний метод try_wake_up(minutes_slept: int), який імітує спробу розбудити: якщо minutes_slept &lt; 5, викликає meow() з поточного рівня гучності, інакше збільшує meow_volume на 1 (максимум до 10), викликає ring(), а потім meow() з новим рівнем. Перевизначте метод ring() так, щоб він спочатку викликав ring() з AlarmClock, а потім додавав </a:t>
            </a:r>
            <a:r>
              <a:rPr lang="en-US" altLang="en-US" sz="1800" dirty="0"/>
              <a:t>«</a:t>
            </a:r>
            <a:r>
              <a:rPr lang="en-US" altLang="en-US" sz="1800" dirty="0"/>
              <a:t>…MEOW MEOW MEOW!!! GET UP RIGHT NOW!!!</a:t>
            </a:r>
            <a:r>
              <a:rPr lang="en-US" altLang="en-US" sz="1800" dirty="0"/>
              <a:t>»</a:t>
            </a:r>
            <a:r>
              <a:rPr lang="en-US" altLang="en-US" sz="1800" dirty="0"/>
              <a:t>. Покажіть 2–3 приклади створення об’єкта CatAlarmClock, виклики try_wake_up() з різними значеннями хвилин, продемонструйте поступове наростання гучності нявкання та спрацювання будильника. Бажано використати type hints та @property.</a:t>
            </a:r>
            <a:endParaRPr lang="en-US" altLang="en-US" sz="18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Заголовок 1"/>
          <p:cNvSpPr>
            <a:spLocks noGrp="1"/>
          </p:cNvSpPr>
          <p:nvPr>
            <p:ph type="title"/>
          </p:nvPr>
        </p:nvSpPr>
        <p:spPr>
          <a:xfrm>
            <a:off x="195580" y="228600"/>
            <a:ext cx="8472170" cy="911225"/>
          </a:xfrm>
        </p:spPr>
        <p:txBody>
          <a:bodyPr vert="horz" wrap="square" lIns="91440" tIns="45720" rIns="91440" bIns="45720" anchor="ctr" anchorCtr="0"/>
          <a:p>
            <a:r>
              <a:rPr lang="ru-RU" altLang="ru-RU" dirty="0"/>
              <a:t>Терм</a:t>
            </a:r>
            <a:r>
              <a:rPr lang="uk-UA" altLang="ru-RU" dirty="0"/>
              <a:t>і</a:t>
            </a:r>
            <a:r>
              <a:rPr lang="ru-RU" altLang="ru-RU" dirty="0"/>
              <a:t>нальн</a:t>
            </a:r>
            <a:r>
              <a:rPr lang="uk-UA" altLang="ru-RU" dirty="0"/>
              <a:t>и</a:t>
            </a:r>
            <a:r>
              <a:rPr lang="ru-RU" altLang="ru-RU" dirty="0"/>
              <a:t>й </a:t>
            </a:r>
            <a:r>
              <a:rPr lang="uk-UA" altLang="ru-RU" dirty="0"/>
              <a:t>(фінальний) </a:t>
            </a:r>
            <a:r>
              <a:rPr lang="ru-RU" altLang="ru-RU" dirty="0"/>
              <a:t>клас</a:t>
            </a:r>
            <a:endParaRPr lang="ru-RU" altLang="ru-RU" dirty="0"/>
          </a:p>
        </p:txBody>
      </p:sp>
      <p:sp>
        <p:nvSpPr>
          <p:cNvPr id="36866" name="Объект 2"/>
          <p:cNvSpPr>
            <a:spLocks noGrp="1"/>
          </p:cNvSpPr>
          <p:nvPr>
            <p:ph idx="1"/>
          </p:nvPr>
        </p:nvSpPr>
        <p:spPr>
          <a:xfrm>
            <a:off x="467043" y="1412875"/>
            <a:ext cx="7993062" cy="4419600"/>
          </a:xfrm>
        </p:spPr>
        <p:txBody>
          <a:bodyPr vert="horz" wrap="square" lIns="91440" tIns="45720" rIns="91440" bIns="45720" anchor="t" anchorCtr="0"/>
          <a:p>
            <a:pPr marL="0" indent="0">
              <a:buNone/>
            </a:pPr>
            <a:r>
              <a:rPr lang="uk-UA" sz="2500" dirty="0"/>
              <a:t>Швидкого та простого способу нема,                          але певне рішення все ж є :)</a:t>
            </a:r>
            <a:endParaRPr lang="uk-UA" sz="2500" dirty="0"/>
          </a:p>
          <a:p>
            <a:pPr marL="0" indent="0">
              <a:buNone/>
            </a:pPr>
            <a:endParaRPr lang="uk-UA" dirty="0"/>
          </a:p>
          <a:p>
            <a:pPr marL="0" indent="0" algn="ctr">
              <a:buNone/>
            </a:pPr>
            <a:r>
              <a:rPr lang="en-US" altLang="en-US" b="1" dirty="0">
                <a:hlinkClick r:id="rId1" action="ppaction://hlinkfile"/>
              </a:rPr>
              <a:t>https://gist.github.com/sunmeat/fe2a80dc185877509d123c6118c690e6</a:t>
            </a:r>
            <a:endParaRPr lang="en-US" altLang="en-US" b="1" dirty="0">
              <a:hlinkClick r:id="rId1" action="ppaction://hlinkfile"/>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Заголовок 1"/>
          <p:cNvSpPr>
            <a:spLocks noGrp="1"/>
          </p:cNvSpPr>
          <p:nvPr>
            <p:ph type="title"/>
          </p:nvPr>
        </p:nvSpPr>
        <p:spPr>
          <a:xfrm>
            <a:off x="195580" y="228600"/>
            <a:ext cx="8472170" cy="911225"/>
          </a:xfrm>
        </p:spPr>
        <p:txBody>
          <a:bodyPr vert="horz" wrap="square" lIns="91440" tIns="45720" rIns="91440" bIns="45720" anchor="ctr" anchorCtr="0"/>
          <a:p>
            <a:r>
              <a:rPr lang="uk-UA" dirty="0"/>
              <a:t>Прототипна парадигма</a:t>
            </a:r>
            <a:endParaRPr lang="uk-UA" dirty="0"/>
          </a:p>
        </p:txBody>
      </p:sp>
      <p:sp>
        <p:nvSpPr>
          <p:cNvPr id="36866" name="Объект 2"/>
          <p:cNvSpPr>
            <a:spLocks noGrp="1"/>
          </p:cNvSpPr>
          <p:nvPr>
            <p:ph idx="1"/>
          </p:nvPr>
        </p:nvSpPr>
        <p:spPr>
          <a:xfrm>
            <a:off x="467043" y="1412875"/>
            <a:ext cx="7993062" cy="4419600"/>
          </a:xfrm>
        </p:spPr>
        <p:txBody>
          <a:bodyPr vert="horz" wrap="square" lIns="91440" tIns="45720" rIns="91440" bIns="45720" anchor="t" anchorCtr="0"/>
          <a:p>
            <a:pPr marL="0" indent="0">
              <a:buNone/>
            </a:pPr>
            <a:r>
              <a:rPr lang="en-US" altLang="en-US" sz="2100" b="1" dirty="0"/>
              <a:t>Прототипне програмування</a:t>
            </a:r>
            <a:r>
              <a:rPr lang="en-US" altLang="en-US" sz="2100" dirty="0"/>
              <a:t> (prototype-based programming) — це стиль об'єктно-орієнтованого програмування, який </a:t>
            </a:r>
            <a:r>
              <a:rPr lang="uk-UA" altLang="en-US" sz="2100" dirty="0"/>
              <a:t>             </a:t>
            </a:r>
            <a:r>
              <a:rPr lang="en-US" altLang="en-US" sz="2100" dirty="0"/>
              <a:t>не використовує класи як основну одиницю спадкування.</a:t>
            </a:r>
            <a:endParaRPr lang="en-US" altLang="en-US" sz="2100" dirty="0"/>
          </a:p>
          <a:p>
            <a:pPr marL="0" indent="0">
              <a:buNone/>
            </a:pPr>
            <a:r>
              <a:rPr lang="en-US" altLang="en-US" sz="2100" dirty="0"/>
              <a:t>Замість цього:</a:t>
            </a:r>
            <a:endParaRPr lang="en-US" altLang="en-US" sz="2100" dirty="0"/>
          </a:p>
          <a:p>
            <a:pPr>
              <a:buFont typeface="Arial" panose="020B0604020202020204" pitchFamily="34" charset="0"/>
              <a:buChar char="•"/>
            </a:pPr>
            <a:r>
              <a:rPr lang="en-US" altLang="en-US" sz="2100" dirty="0"/>
              <a:t>Є об'єкти-прототипи</a:t>
            </a:r>
            <a:endParaRPr lang="en-US" altLang="en-US" sz="2100" dirty="0"/>
          </a:p>
          <a:p>
            <a:pPr>
              <a:buFont typeface="Arial" panose="020B0604020202020204" pitchFamily="34" charset="0"/>
              <a:buChar char="•"/>
            </a:pPr>
            <a:r>
              <a:rPr lang="en-US" altLang="en-US" sz="2100" dirty="0"/>
              <a:t>Нові об'єкти створюються шляхом клонування (копіювання) існуючих об'єктів</a:t>
            </a:r>
            <a:endParaRPr lang="en-US" altLang="en-US" sz="2100" dirty="0"/>
          </a:p>
          <a:p>
            <a:pPr>
              <a:buFont typeface="Arial" panose="020B0604020202020204" pitchFamily="34" charset="0"/>
              <a:buChar char="•"/>
            </a:pPr>
            <a:r>
              <a:rPr lang="en-US" altLang="en-US" sz="2100" dirty="0"/>
              <a:t>Спадкування відбувається через делегування (пошук властивостей/методів у ланцюжку прототипів)</a:t>
            </a:r>
            <a:endParaRPr lang="en-US" altLang="en-US" sz="2100" dirty="0"/>
          </a:p>
          <a:p>
            <a:pPr>
              <a:buFont typeface="Arial" panose="020B0604020202020204" pitchFamily="34" charset="0"/>
              <a:buChar char="•"/>
            </a:pPr>
            <a:endParaRPr lang="en-US" altLang="en-US" sz="2100" dirty="0"/>
          </a:p>
          <a:p>
            <a:pPr marL="0" indent="0" algn="ctr">
              <a:buFont typeface="Arial" panose="020B0604020202020204" pitchFamily="34" charset="0"/>
            </a:pPr>
            <a:r>
              <a:rPr lang="en-US" altLang="en-US" sz="2800" b="1" dirty="0">
                <a:hlinkClick r:id="rId1" action="ppaction://hlinkfile"/>
              </a:rPr>
              <a:t>https://gist.github.com/sunmeat/c57939d0413791af6a461782da898496</a:t>
            </a:r>
            <a:endParaRPr lang="en-US" altLang="en-US" sz="2800" b="1" dirty="0">
              <a:hlinkClick r:id="rId1" action="ppaction://hlinkfile"/>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Text Box 2252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Визначення</a:t>
            </a:r>
            <a:r>
              <a:rPr lang="uk-UA" altLang="ru-RU" sz="4200" dirty="0" err="1">
                <a:solidFill>
                  <a:srgbClr val="FFFFFF"/>
                </a:solidFill>
                <a:latin typeface="Arial" panose="020B0604020202020204" pitchFamily="34" charset="0"/>
              </a:rPr>
              <a:t> поліморфізму</a:t>
            </a:r>
            <a:endParaRPr lang="uk-UA" altLang="ru-RU" sz="4200" dirty="0" err="1">
              <a:solidFill>
                <a:srgbClr val="FFFFFF"/>
              </a:solidFill>
              <a:latin typeface="Arial" panose="020B0604020202020204" pitchFamily="34" charset="0"/>
            </a:endParaRPr>
          </a:p>
        </p:txBody>
      </p:sp>
      <p:sp>
        <p:nvSpPr>
          <p:cNvPr id="40963" name="Text Box 22529"/>
          <p:cNvSpPr txBox="1"/>
          <p:nvPr/>
        </p:nvSpPr>
        <p:spPr>
          <a:xfrm>
            <a:off x="539750" y="1457325"/>
            <a:ext cx="7991475"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3200" b="1" dirty="0" err="1">
                <a:gradFill>
                  <a:gsLst>
                    <a:gs pos="0">
                      <a:srgbClr val="E30000"/>
                    </a:gs>
                    <a:gs pos="100000">
                      <a:srgbClr val="760303"/>
                    </a:gs>
                  </a:gsLst>
                  <a:lin scaled="0"/>
                </a:gradFill>
                <a:latin typeface="Arial" panose="020B0604020202020204" pitchFamily="34" charset="0"/>
              </a:rPr>
              <a:t>Поліморфізм - це принцип, згідно </a:t>
            </a:r>
            <a:r>
              <a:rPr lang="uk-UA" altLang="ru-RU" sz="3200" b="1" dirty="0" err="1">
                <a:gradFill>
                  <a:gsLst>
                    <a:gs pos="0">
                      <a:srgbClr val="E30000"/>
                    </a:gs>
                    <a:gs pos="100000">
                      <a:srgbClr val="760303"/>
                    </a:gs>
                  </a:gsLst>
                  <a:lin scaled="0"/>
                </a:gradFill>
                <a:latin typeface="Arial" panose="020B0604020202020204" pitchFamily="34" charset="0"/>
              </a:rPr>
              <a:t>       </a:t>
            </a:r>
            <a:r>
              <a:rPr lang="ru-RU" altLang="x-none" sz="3200" b="1" dirty="0" err="1">
                <a:gradFill>
                  <a:gsLst>
                    <a:gs pos="0">
                      <a:srgbClr val="E30000"/>
                    </a:gs>
                    <a:gs pos="100000">
                      <a:srgbClr val="760303"/>
                    </a:gs>
                  </a:gsLst>
                  <a:lin scaled="0"/>
                </a:gradFill>
                <a:latin typeface="Arial" panose="020B0604020202020204" pitchFamily="34" charset="0"/>
              </a:rPr>
              <a:t>з яким є можливість використовувати один і той самий запис у коді для роботи з об'єктами різних типів даних</a:t>
            </a:r>
            <a:r>
              <a:rPr lang="ru-RU" altLang="x-none" sz="3200" dirty="0" err="1">
                <a:gradFill>
                  <a:gsLst>
                    <a:gs pos="0">
                      <a:srgbClr val="E30000"/>
                    </a:gs>
                    <a:gs pos="100000">
                      <a:srgbClr val="760303"/>
                    </a:gs>
                  </a:gsLst>
                  <a:lin scaled="0"/>
                </a:gradFill>
                <a:latin typeface="Arial" panose="020B0604020202020204" pitchFamily="34" charset="0"/>
              </a:rPr>
              <a:t>. Коротко: "</a:t>
            </a:r>
            <a:r>
              <a:rPr lang="ru-RU" altLang="x-none" sz="3200" b="1" dirty="0" err="1">
                <a:gradFill>
                  <a:gsLst>
                    <a:gs pos="0">
                      <a:srgbClr val="E30000"/>
                    </a:gs>
                    <a:gs pos="100000">
                      <a:srgbClr val="760303"/>
                    </a:gs>
                  </a:gsLst>
                  <a:lin scaled="0"/>
                </a:gradFill>
                <a:latin typeface="Arial" panose="020B0604020202020204" pitchFamily="34" charset="0"/>
              </a:rPr>
              <a:t>один інтерфейс, безліч реалізацій</a:t>
            </a:r>
            <a:r>
              <a:rPr lang="ru-RU" altLang="x-none" sz="3200" dirty="0" err="1">
                <a:gradFill>
                  <a:gsLst>
                    <a:gs pos="0">
                      <a:srgbClr val="E30000"/>
                    </a:gs>
                    <a:gs pos="100000">
                      <a:srgbClr val="760303"/>
                    </a:gs>
                  </a:gsLst>
                  <a:lin scaled="0"/>
                </a:gradFill>
                <a:latin typeface="Arial" panose="020B0604020202020204" pitchFamily="34" charset="0"/>
              </a:rPr>
              <a:t>". </a:t>
            </a:r>
            <a:r>
              <a:rPr lang="ru-RU" altLang="x-none" sz="3200" dirty="0" err="1">
                <a:solidFill>
                  <a:srgbClr val="000000"/>
                </a:solidFill>
                <a:latin typeface="Arial" panose="020B0604020202020204" pitchFamily="34" charset="0"/>
              </a:rPr>
              <a:t>Поліморфізм дає змогу однаково працювати з об'єктами різних типів, підміняючи тільки самі об'єкти, </a:t>
            </a:r>
            <a:r>
              <a:rPr lang="uk-UA" altLang="ru-RU" sz="3200" dirty="0" err="1">
                <a:solidFill>
                  <a:srgbClr val="000000"/>
                </a:solidFill>
                <a:latin typeface="Arial" panose="020B0604020202020204" pitchFamily="34" charset="0"/>
              </a:rPr>
              <a:t> </a:t>
            </a:r>
            <a:r>
              <a:rPr lang="ru-RU" altLang="x-none" sz="3200" dirty="0" err="1">
                <a:solidFill>
                  <a:srgbClr val="000000"/>
                </a:solidFill>
                <a:latin typeface="Arial" panose="020B0604020202020204" pitchFamily="34" charset="0"/>
              </a:rPr>
              <a:t>але не код з їхньої обробки. </a:t>
            </a:r>
            <a:endParaRPr lang="ru-RU" altLang="x-none" sz="3200" dirty="0" err="1">
              <a:solidFill>
                <a:srgbClr val="000000"/>
              </a:solidFill>
              <a:latin typeface="Arial" panose="020B0604020202020204" pitchFamily="34" charset="0"/>
            </a:endParaRPr>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Заголовок 1"/>
          <p:cNvSpPr>
            <a:spLocks noGrp="1"/>
          </p:cNvSpPr>
          <p:nvPr>
            <p:ph type="title"/>
          </p:nvPr>
        </p:nvSpPr>
        <p:spPr/>
        <p:txBody>
          <a:bodyPr vert="horz" wrap="square" lIns="91440" tIns="45720" rIns="91440" bIns="45720" anchor="ctr" anchorCtr="0"/>
          <a:p>
            <a:r>
              <a:rPr lang="uk-UA" altLang="ru-RU" dirty="0"/>
              <a:t>Приклад на поліморфізм</a:t>
            </a:r>
            <a:endParaRPr lang="uk-UA" altLang="ru-RU" dirty="0"/>
          </a:p>
        </p:txBody>
      </p:sp>
      <p:sp>
        <p:nvSpPr>
          <p:cNvPr id="10242" name="Объект 2"/>
          <p:cNvSpPr>
            <a:spLocks noGrp="1"/>
          </p:cNvSpPr>
          <p:nvPr>
            <p:ph idx="1"/>
          </p:nvPr>
        </p:nvSpPr>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https://gist.github.com/sunmeat/85664870c8c30c731e94f81e73db7ac2</a:t>
            </a:r>
            <a:endParaRPr lang="en-US" altLang="en-US" b="1" dirty="0">
              <a:hlinkClick r:id="rId1" action="ppaction://hlinkfile"/>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9" name="Заголовок 1"/>
          <p:cNvSpPr>
            <a:spLocks noGrp="1"/>
          </p:cNvSpPr>
          <p:nvPr>
            <p:ph type="title"/>
          </p:nvPr>
        </p:nvSpPr>
        <p:spPr/>
        <p:txBody>
          <a:bodyPr vert="horz" wrap="square" lIns="91440" tIns="45720" rIns="91440" bIns="45720" anchor="ctr" anchorCtr="0"/>
          <a:p>
            <a:r>
              <a:rPr lang="uk-UA" altLang="ru-RU" dirty="0"/>
              <a:t>Пізнє зв’язування</a:t>
            </a:r>
            <a:endParaRPr lang="uk-UA" altLang="ru-RU" dirty="0"/>
          </a:p>
        </p:txBody>
      </p:sp>
      <p:sp>
        <p:nvSpPr>
          <p:cNvPr id="12290" name="Объект 2"/>
          <p:cNvSpPr>
            <a:spLocks noGrp="1"/>
          </p:cNvSpPr>
          <p:nvPr>
            <p:ph idx="1"/>
          </p:nvPr>
        </p:nvSpPr>
        <p:spPr>
          <a:xfrm>
            <a:off x="513080" y="1440180"/>
            <a:ext cx="8042910" cy="4419600"/>
          </a:xfrm>
        </p:spPr>
        <p:txBody>
          <a:bodyPr vert="horz" wrap="square" lIns="91440" tIns="45720" rIns="91440" bIns="45720" anchor="t" anchorCtr="0"/>
          <a:p>
            <a:pPr marL="0" indent="0">
              <a:buNone/>
            </a:pPr>
            <a:r>
              <a:rPr lang="en-US" altLang="en-US" sz="2800" dirty="0"/>
              <a:t>На що при цьому орієнтується програма? </a:t>
            </a:r>
            <a:r>
              <a:rPr lang="uk-UA" altLang="en-US" sz="2800" dirty="0"/>
              <a:t>       </a:t>
            </a:r>
            <a:r>
              <a:rPr lang="en-US" altLang="en-US" sz="2800" dirty="0"/>
              <a:t>В даному випадку — на справжній тип об'єкта, який стоїть за змінною. У Python тип змінної (якщо </a:t>
            </a:r>
            <a:r>
              <a:rPr lang="uk-UA" altLang="en-US" sz="2800" dirty="0"/>
              <a:t>він </a:t>
            </a:r>
            <a:r>
              <a:rPr lang="en-US" altLang="en-US" sz="2800" dirty="0"/>
              <a:t>анот</a:t>
            </a:r>
            <a:r>
              <a:rPr lang="uk-UA" altLang="en-US" sz="2800" dirty="0"/>
              <a:t>ований</a:t>
            </a:r>
            <a:r>
              <a:rPr lang="en-US" altLang="en-US" sz="2800" dirty="0"/>
              <a:t>) взагалі</a:t>
            </a:r>
            <a:r>
              <a:rPr lang="uk-UA" altLang="en-US" sz="2800" dirty="0"/>
              <a:t> </a:t>
            </a:r>
            <a:r>
              <a:rPr lang="en-US" altLang="en-US" sz="2800" dirty="0"/>
              <a:t>не впливає </a:t>
            </a:r>
            <a:r>
              <a:rPr lang="uk-UA" altLang="en-US" sz="2800" dirty="0"/>
              <a:t>      </a:t>
            </a:r>
            <a:r>
              <a:rPr lang="en-US" altLang="en-US" sz="2800" dirty="0"/>
              <a:t>на те, який саме метод буде викликано. Зв'язування виклику методу drive() </a:t>
            </a:r>
            <a:r>
              <a:rPr lang="uk-UA" altLang="en-US" sz="2800" dirty="0"/>
              <a:t>                      </a:t>
            </a:r>
            <a:r>
              <a:rPr lang="en-US" altLang="en-US" sz="2800" dirty="0"/>
              <a:t>з конкретною реалізацією відбувається виключно </a:t>
            </a:r>
            <a:r>
              <a:rPr lang="en-US" altLang="en-US" sz="2800" u="sng" dirty="0"/>
              <a:t>на етапі виконання програми</a:t>
            </a:r>
            <a:r>
              <a:rPr lang="en-US" altLang="en-US" sz="2800" dirty="0"/>
              <a:t>. Цей механізм називається пізнім зв'язуванням (late binding) або динамічною диспетчеризацією.</a:t>
            </a:r>
            <a:endParaRPr lang="en-US" altLang="en-US" sz="28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3" name="Заголовок 1"/>
          <p:cNvSpPr>
            <a:spLocks noGrp="1"/>
          </p:cNvSpPr>
          <p:nvPr>
            <p:ph type="title"/>
          </p:nvPr>
        </p:nvSpPr>
        <p:spPr/>
        <p:txBody>
          <a:bodyPr vert="horz" wrap="square" lIns="91440" tIns="45720" rIns="91440" bIns="45720" anchor="ctr" anchorCtr="0"/>
          <a:p>
            <a:r>
              <a:rPr lang="uk-UA" altLang="ru-RU" dirty="0"/>
              <a:t>Раннє зв’язування</a:t>
            </a:r>
            <a:endParaRPr lang="uk-UA" altLang="ru-RU" dirty="0"/>
          </a:p>
        </p:txBody>
      </p:sp>
      <p:sp>
        <p:nvSpPr>
          <p:cNvPr id="13314" name="Объект 2"/>
          <p:cNvSpPr>
            <a:spLocks noGrp="1"/>
          </p:cNvSpPr>
          <p:nvPr>
            <p:ph idx="1"/>
          </p:nvPr>
        </p:nvSpPr>
        <p:spPr>
          <a:xfrm>
            <a:off x="509270" y="1386205"/>
            <a:ext cx="8028940" cy="4419600"/>
          </a:xfrm>
        </p:spPr>
        <p:txBody>
          <a:bodyPr vert="horz" wrap="square" lIns="91440" tIns="45720" rIns="91440" bIns="45720" anchor="t" anchorCtr="0"/>
          <a:p>
            <a:pPr marL="0" indent="0">
              <a:buNone/>
            </a:pPr>
            <a:r>
              <a:rPr lang="en-US" altLang="en-US" sz="2200" dirty="0"/>
              <a:t>На відміну від C++ чи C#, де за замовчуванням early binding (статичне), і тільки з virtual — late binding, у Python немає механізму раннього зв’язування для звичайних методів — перевизначений метод завжди викликається, незалежно </a:t>
            </a:r>
            <a:r>
              <a:rPr lang="uk-UA" altLang="en-US" sz="2200" dirty="0"/>
              <a:t> </a:t>
            </a:r>
            <a:r>
              <a:rPr lang="en-US" altLang="en-US" sz="2200" dirty="0"/>
              <a:t>від того, через яку змінну </a:t>
            </a:r>
            <a:r>
              <a:rPr lang="uk-UA" altLang="en-US" sz="2200" dirty="0"/>
              <a:t>відбувається звернення</a:t>
            </a:r>
            <a:r>
              <a:rPr lang="en-US" altLang="en-US" sz="2200" dirty="0"/>
              <a:t> (навіть якщо анотація типу вказує на базовий клас).</a:t>
            </a:r>
            <a:endParaRPr lang="en-US" altLang="en-US" sz="2200" dirty="0"/>
          </a:p>
          <a:p>
            <a:pPr marL="0" indent="0">
              <a:buNone/>
            </a:pPr>
            <a:r>
              <a:rPr lang="en-US" altLang="en-US" sz="2200" dirty="0"/>
              <a:t>Раннє/статичне розв’язання відбувається лише в окремих випадках, не пов’язаних з поліморфізмом екземплярів:</a:t>
            </a:r>
            <a:endParaRPr lang="en-US" altLang="en-US" sz="2200" dirty="0"/>
          </a:p>
          <a:p>
            <a:pPr>
              <a:buFont typeface="Arial" panose="020B0604020202020204" pitchFamily="34" charset="0"/>
              <a:buChar char="•"/>
            </a:pPr>
            <a:r>
              <a:rPr lang="en-US" altLang="en-US" sz="2200" dirty="0"/>
              <a:t>@staticmethod і @classmethod — вони не залежать </a:t>
            </a:r>
            <a:r>
              <a:rPr lang="uk-UA" altLang="en-US" sz="2200" dirty="0"/>
              <a:t>      </a:t>
            </a:r>
            <a:r>
              <a:rPr lang="en-US" altLang="en-US" sz="2200" dirty="0"/>
              <a:t>від self/cls у сенсі динамічного пошуку</a:t>
            </a:r>
            <a:endParaRPr lang="en-US" altLang="en-US" sz="2200" dirty="0"/>
          </a:p>
          <a:p>
            <a:pPr>
              <a:buFont typeface="Arial" panose="020B0604020202020204" pitchFamily="34" charset="0"/>
              <a:buChar char="•"/>
            </a:pPr>
            <a:r>
              <a:rPr lang="en-US" altLang="en-US" sz="2200" dirty="0"/>
              <a:t>деякі вбудовані операції (len, str, +, == тощо) — мають оптимізовані шляхи в CPython</a:t>
            </a:r>
            <a:endParaRPr lang="en-US" altLang="en-US" sz="22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Заголовок 1"/>
          <p:cNvSpPr>
            <a:spLocks noGrp="1"/>
          </p:cNvSpPr>
          <p:nvPr>
            <p:ph type="title"/>
          </p:nvPr>
        </p:nvSpPr>
        <p:spPr>
          <a:xfrm>
            <a:off x="195263" y="228600"/>
            <a:ext cx="8408987" cy="914400"/>
          </a:xfrm>
        </p:spPr>
        <p:txBody>
          <a:bodyPr vert="horz" wrap="square" lIns="91440" tIns="45720" rIns="91440" bIns="45720" anchor="ctr" anchorCtr="0"/>
          <a:p>
            <a:r>
              <a:rPr lang="uk-UA" altLang="ru-RU" dirty="0"/>
              <a:t>Динамічність мови</a:t>
            </a:r>
            <a:endParaRPr lang="uk-UA" altLang="ru-RU" dirty="0"/>
          </a:p>
        </p:txBody>
      </p:sp>
      <p:sp>
        <p:nvSpPr>
          <p:cNvPr id="14338" name="Объект 2"/>
          <p:cNvSpPr>
            <a:spLocks noGrp="1"/>
          </p:cNvSpPr>
          <p:nvPr>
            <p:ph idx="1"/>
          </p:nvPr>
        </p:nvSpPr>
        <p:spPr>
          <a:xfrm>
            <a:off x="468313" y="1457643"/>
            <a:ext cx="8064500" cy="4419600"/>
          </a:xfrm>
        </p:spPr>
        <p:txBody>
          <a:bodyPr vert="horz" wrap="square" lIns="91440" tIns="45720" rIns="91440" bIns="45720" anchor="t" anchorCtr="0"/>
          <a:p>
            <a:pPr marL="0" indent="0">
              <a:buNone/>
            </a:pPr>
            <a:r>
              <a:rPr lang="en-US" altLang="en-US" sz="2200" dirty="0"/>
              <a:t>Тут працює класичний duck typing + повна динамічність мови: Python у момент виклику просто шукає атрибут drive </a:t>
            </a:r>
            <a:r>
              <a:rPr lang="uk-UA" altLang="en-US" sz="2200" dirty="0"/>
              <a:t> </a:t>
            </a:r>
            <a:r>
              <a:rPr lang="en-US" altLang="en-US" sz="2200" dirty="0"/>
              <a:t>у об'єкті (через ланцюжок MRO — Method Resolution Order), знаходить найближчу реалізацію і виконує її. Немає потреби позначати метод як virtual, override, final чи ще якось — усе відбувається автоматично і завжди динамічно.</a:t>
            </a:r>
            <a:endParaRPr lang="en-US" altLang="en-US" sz="2200" dirty="0"/>
          </a:p>
          <a:p>
            <a:pPr marL="0" indent="0">
              <a:buNone/>
            </a:pPr>
            <a:r>
              <a:rPr lang="en-US" altLang="en-US" sz="2200" dirty="0"/>
              <a:t>Тому в прикладі з транспортом (Car, Bike) програма завжди викличе саме ту версію drive(), яка відповідає реальному класу створеного об'єкта — навіть якщо змінна оголошена як Transport, Drivable, чи взагалі без анотації типу. Немає способу </a:t>
            </a:r>
            <a:r>
              <a:rPr lang="en-US" altLang="en-US" sz="2200" dirty="0"/>
              <a:t>«випадково</a:t>
            </a:r>
            <a:r>
              <a:rPr lang="en-US" altLang="en-US" sz="2200" dirty="0"/>
              <a:t>» отримати статичне зв'язування, </a:t>
            </a:r>
            <a:r>
              <a:rPr lang="uk-UA" altLang="en-US" sz="2200" dirty="0"/>
              <a:t>        </a:t>
            </a:r>
            <a:r>
              <a:rPr lang="en-US" altLang="en-US" sz="2200" dirty="0"/>
              <a:t>як це могло статися в C++ без virtual.</a:t>
            </a:r>
            <a:endParaRPr lang="en-US" altLang="en-US" sz="22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Заголовок 1"/>
          <p:cNvSpPr>
            <a:spLocks noGrp="1"/>
          </p:cNvSpPr>
          <p:nvPr>
            <p:ph type="title"/>
          </p:nvPr>
        </p:nvSpPr>
        <p:spPr/>
        <p:txBody>
          <a:bodyPr vert="horz" wrap="square" lIns="91440" tIns="45720" rIns="91440" bIns="45720" anchor="ctr" anchorCtr="0"/>
          <a:p>
            <a:r>
              <a:rPr lang="ru-RU" altLang="ru-RU" dirty="0"/>
              <a:t>Пол</a:t>
            </a:r>
            <a:r>
              <a:rPr lang="uk-UA" altLang="ru-RU" dirty="0"/>
              <a:t>і</a:t>
            </a:r>
            <a:r>
              <a:rPr lang="ru-RU" altLang="ru-RU" dirty="0"/>
              <a:t>морф</a:t>
            </a:r>
            <a:r>
              <a:rPr lang="uk-UA" altLang="ru-RU" dirty="0"/>
              <a:t>і</a:t>
            </a:r>
            <a:r>
              <a:rPr lang="ru-RU" altLang="ru-RU" dirty="0"/>
              <a:t>зм</a:t>
            </a:r>
            <a:endParaRPr lang="ru-RU" altLang="ru-RU" dirty="0"/>
          </a:p>
        </p:txBody>
      </p:sp>
      <p:sp>
        <p:nvSpPr>
          <p:cNvPr id="16386" name="Объект 2"/>
          <p:cNvSpPr>
            <a:spLocks noGrp="1"/>
          </p:cNvSpPr>
          <p:nvPr>
            <p:ph idx="1"/>
          </p:nvPr>
        </p:nvSpPr>
        <p:spPr>
          <a:xfrm>
            <a:off x="539750" y="1386205"/>
            <a:ext cx="8045450" cy="4419600"/>
          </a:xfrm>
        </p:spPr>
        <p:txBody>
          <a:bodyPr vert="horz" wrap="square" lIns="91440" tIns="45720" rIns="91440" bIns="45720" anchor="t" anchorCtr="0"/>
          <a:p>
            <a:pPr marL="0" indent="0">
              <a:buNone/>
            </a:pPr>
            <a:r>
              <a:rPr lang="en-US" altLang="en-US" sz="2200" dirty="0"/>
              <a:t>(Умовно)віртуальні методи в Python — це просто методи, </a:t>
            </a:r>
            <a:r>
              <a:rPr lang="uk-UA" altLang="en-US" sz="2200" dirty="0"/>
              <a:t> </a:t>
            </a:r>
            <a:r>
              <a:rPr lang="en-US" altLang="en-US" sz="2200" dirty="0"/>
              <a:t>які перевизначені в похідних класах. Вони дозволяють писати загальний код, який працює і з об'єктами базового класу, і з будь-якими його нащадками. Базовий клас </a:t>
            </a:r>
            <a:r>
              <a:rPr lang="uk-UA" altLang="en-US" sz="2200" dirty="0"/>
              <a:t>       </a:t>
            </a:r>
            <a:r>
              <a:rPr lang="en-US" altLang="en-US" sz="2200" dirty="0"/>
              <a:t>(або навіть просто протокол/інтерфейс через duck typing) визначає, що </a:t>
            </a:r>
            <a:r>
              <a:rPr lang="en-US" altLang="en-US" sz="2200" dirty="0"/>
              <a:t>«</a:t>
            </a:r>
            <a:r>
              <a:rPr lang="en-US" altLang="en-US" sz="2200" dirty="0"/>
              <a:t>такий метод має бути</a:t>
            </a:r>
            <a:r>
              <a:rPr lang="en-US" altLang="en-US" sz="2200" dirty="0"/>
              <a:t>»</a:t>
            </a:r>
            <a:r>
              <a:rPr lang="en-US" altLang="en-US" sz="2200" dirty="0"/>
              <a:t>, а конкретні класи надають свою реалізацію. Програмісту не потрібно знати точний тип об'єкта наперед — достатньо знати, що в нього є потрібний метод з потрібною семантикою.</a:t>
            </a:r>
            <a:endParaRPr lang="en-US" altLang="en-US" sz="2200" dirty="0"/>
          </a:p>
          <a:p>
            <a:pPr marL="0" indent="0">
              <a:buNone/>
            </a:pPr>
            <a:r>
              <a:rPr lang="en-US" altLang="en-US" sz="2200" dirty="0"/>
              <a:t>Це один з найчистіших і найпотужніших способів реалізації поліморфізму: код стає гнучким, розширюваним</a:t>
            </a:r>
            <a:r>
              <a:rPr lang="uk-UA" altLang="en-US" sz="2200" dirty="0"/>
              <a:t>                    </a:t>
            </a:r>
            <a:r>
              <a:rPr lang="en-US" altLang="en-US" sz="2200" dirty="0"/>
              <a:t> і не вимагає зайвих ключових слів чи модифікаторів.</a:t>
            </a:r>
            <a:endParaRPr lang="en-US" altLang="en-US" sz="22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Text Box 25600"/>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ru-RU" sz="4200" dirty="0" err="1">
                <a:solidFill>
                  <a:srgbClr val="FFFFFF"/>
                </a:solidFill>
                <a:latin typeface="Arial" panose="020B0604020202020204" pitchFamily="34" charset="0"/>
              </a:rPr>
              <a:t>Статичний поліморфізм</a:t>
            </a:r>
            <a:endParaRPr lang="uk-UA" altLang="ru-RU" sz="4200" dirty="0" err="1">
              <a:solidFill>
                <a:srgbClr val="FFFFFF"/>
              </a:solidFill>
              <a:latin typeface="Arial" panose="020B0604020202020204" pitchFamily="34" charset="0"/>
            </a:endParaRPr>
          </a:p>
        </p:txBody>
      </p:sp>
      <p:sp>
        <p:nvSpPr>
          <p:cNvPr id="47107" name="Text Box 25601"/>
          <p:cNvSpPr txBox="1"/>
          <p:nvPr/>
        </p:nvSpPr>
        <p:spPr>
          <a:xfrm>
            <a:off x="498475" y="1402080"/>
            <a:ext cx="8062595" cy="4636770"/>
          </a:xfrm>
          <a:prstGeom prst="rect">
            <a:avLst/>
          </a:prstGeom>
          <a:noFill/>
          <a:ln w="9525">
            <a:noFill/>
          </a:ln>
        </p:spPr>
        <p:txBody>
          <a:bodyPr wrap="square" lIns="91440" tIns="45720" rIns="91440" bIns="45720" anchor="t" anchorCtr="0"/>
          <a:p>
            <a:pPr defTabSz="457200">
              <a:spcBef>
                <a:spcPts val="7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1900" dirty="0" err="1">
                <a:solidFill>
                  <a:srgbClr val="000000"/>
                </a:solidFill>
                <a:latin typeface="Arial" panose="020B0604020202020204" pitchFamily="34" charset="0"/>
              </a:rPr>
              <a:t>С</a:t>
            </a:r>
            <a:r>
              <a:rPr lang="en-US" altLang="en-US" sz="1900" dirty="0" err="1">
                <a:solidFill>
                  <a:srgbClr val="000000"/>
                </a:solidFill>
                <a:latin typeface="Arial" panose="020B0604020202020204" pitchFamily="34" charset="0"/>
              </a:rPr>
              <a:t>татичний поліморфізм у Python існує, але в дуже обмеженому, </a:t>
            </a:r>
            <a:r>
              <a:rPr lang="uk-UA" altLang="en-US" sz="1900" dirty="0" err="1">
                <a:solidFill>
                  <a:srgbClr val="000000"/>
                </a:solidFill>
                <a:latin typeface="Arial" panose="020B0604020202020204" pitchFamily="34" charset="0"/>
              </a:rPr>
              <a:t>       </a:t>
            </a:r>
            <a:r>
              <a:rPr lang="en-US" altLang="en-US" sz="1900" dirty="0" err="1">
                <a:solidFill>
                  <a:srgbClr val="000000"/>
                </a:solidFill>
                <a:latin typeface="Arial" panose="020B0604020202020204" pitchFamily="34" charset="0"/>
              </a:rPr>
              <a:t>не класичному вигляді — і більшість розробників взагалі не вважають його </a:t>
            </a:r>
            <a:r>
              <a:rPr lang="en-US" altLang="en-US" sz="1900" dirty="0" err="1">
                <a:solidFill>
                  <a:srgbClr val="000000"/>
                </a:solidFill>
                <a:latin typeface="Arial" panose="020B0604020202020204" pitchFamily="34" charset="0"/>
              </a:rPr>
              <a:t>«</a:t>
            </a:r>
            <a:r>
              <a:rPr lang="en-US" altLang="en-US" sz="1900" dirty="0" err="1">
                <a:solidFill>
                  <a:srgbClr val="000000"/>
                </a:solidFill>
                <a:latin typeface="Arial" panose="020B0604020202020204" pitchFamily="34" charset="0"/>
              </a:rPr>
              <a:t>справжнім</a:t>
            </a:r>
            <a:r>
              <a:rPr lang="en-US" altLang="en-US" sz="1900" dirty="0" err="1">
                <a:solidFill>
                  <a:srgbClr val="000000"/>
                </a:solidFill>
                <a:latin typeface="Arial" panose="020B0604020202020204" pitchFamily="34" charset="0"/>
              </a:rPr>
              <a:t>»</a:t>
            </a:r>
            <a:r>
              <a:rPr lang="en-US" altLang="en-US" sz="1900" dirty="0" err="1">
                <a:solidFill>
                  <a:srgbClr val="000000"/>
                </a:solidFill>
                <a:latin typeface="Arial" panose="020B0604020202020204" pitchFamily="34" charset="0"/>
              </a:rPr>
              <a:t> статичним поліморфізмом у сенсі C++ чи C#.</a:t>
            </a:r>
            <a:endParaRPr lang="en-US" altLang="en-US" sz="1900" dirty="0" err="1">
              <a:solidFill>
                <a:srgbClr val="000000"/>
              </a:solidFill>
              <a:latin typeface="Arial" panose="020B0604020202020204" pitchFamily="34" charset="0"/>
            </a:endParaRPr>
          </a:p>
          <a:p>
            <a:pPr defTabSz="457200">
              <a:spcBef>
                <a:spcPts val="7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rgbClr val="000000"/>
                </a:solidFill>
                <a:latin typeface="Arial" panose="020B0604020202020204" pitchFamily="34" charset="0"/>
              </a:rPr>
              <a:t>У вузькому сенсі статичний поліморфізм — це коли конкретна реалізація методу/функції/операції визначається на етапі компіляції (або, точніше, на етапі аналізу коду), виходячи з типів аргументів,</a:t>
            </a:r>
            <a:r>
              <a:rPr lang="uk-UA" altLang="en-US" sz="1900" dirty="0" err="1">
                <a:solidFill>
                  <a:srgbClr val="000000"/>
                </a:solidFill>
                <a:latin typeface="Arial" panose="020B0604020202020204" pitchFamily="34" charset="0"/>
              </a:rPr>
              <a:t>      </a:t>
            </a:r>
            <a:r>
              <a:rPr lang="en-US" altLang="en-US" sz="1900" dirty="0" err="1">
                <a:solidFill>
                  <a:srgbClr val="000000"/>
                </a:solidFill>
                <a:latin typeface="Arial" panose="020B0604020202020204" pitchFamily="34" charset="0"/>
              </a:rPr>
              <a:t> і не змінюється під час виконання. У мовах зі статичною типізацією </a:t>
            </a:r>
            <a:r>
              <a:rPr lang="uk-UA" altLang="en-US" sz="1900" dirty="0" err="1">
                <a:solidFill>
                  <a:srgbClr val="000000"/>
                </a:solidFill>
                <a:latin typeface="Arial" panose="020B0604020202020204" pitchFamily="34" charset="0"/>
              </a:rPr>
              <a:t> </a:t>
            </a:r>
            <a:r>
              <a:rPr lang="en-US" altLang="en-US" sz="1900" dirty="0" err="1">
                <a:solidFill>
                  <a:srgbClr val="000000"/>
                </a:solidFill>
                <a:latin typeface="Arial" panose="020B0604020202020204" pitchFamily="34" charset="0"/>
              </a:rPr>
              <a:t>це зазвичай досягається через перевантаження методів (method overloading) або шаблони (templates у C++).</a:t>
            </a:r>
            <a:endParaRPr lang="en-US" altLang="en-US" sz="1900" dirty="0" err="1">
              <a:solidFill>
                <a:srgbClr val="000000"/>
              </a:solidFill>
              <a:latin typeface="Arial" panose="020B0604020202020204" pitchFamily="34" charset="0"/>
            </a:endParaRPr>
          </a:p>
          <a:p>
            <a:pPr defTabSz="457200">
              <a:spcBef>
                <a:spcPts val="7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1900" dirty="0" err="1">
                <a:solidFill>
                  <a:srgbClr val="000000"/>
                </a:solidFill>
                <a:latin typeface="Arial" panose="020B0604020202020204" pitchFamily="34" charset="0"/>
              </a:rPr>
              <a:t>Python — динамічна мова без компіляції в класичному розумінні, тому класичного статичного поліморфізму з перевантаженням методів за сигнатурою тут немає. Якщо</a:t>
            </a:r>
            <a:r>
              <a:rPr lang="uk-UA" altLang="en-US" sz="1900" dirty="0" err="1">
                <a:solidFill>
                  <a:srgbClr val="000000"/>
                </a:solidFill>
                <a:latin typeface="Arial" panose="020B0604020202020204" pitchFamily="34" charset="0"/>
              </a:rPr>
              <a:t> написати</a:t>
            </a:r>
            <a:r>
              <a:rPr lang="en-US" altLang="en-US" sz="1900" dirty="0" err="1">
                <a:solidFill>
                  <a:srgbClr val="000000"/>
                </a:solidFill>
                <a:latin typeface="Arial" panose="020B0604020202020204" pitchFamily="34" charset="0"/>
              </a:rPr>
              <a:t> два методи</a:t>
            </a:r>
            <a:r>
              <a:rPr lang="uk-UA" altLang="en-US" sz="1900" dirty="0" err="1">
                <a:solidFill>
                  <a:srgbClr val="000000"/>
                </a:solidFill>
                <a:latin typeface="Arial" panose="020B0604020202020204" pitchFamily="34" charset="0"/>
              </a:rPr>
              <a:t>              </a:t>
            </a:r>
            <a:r>
              <a:rPr lang="en-US" altLang="en-US" sz="1900" dirty="0" err="1">
                <a:solidFill>
                  <a:srgbClr val="000000"/>
                </a:solidFill>
                <a:latin typeface="Arial" panose="020B0604020202020204" pitchFamily="34" charset="0"/>
              </a:rPr>
              <a:t> з однаковою назвою, але різними параметрами — останній просто перезапише попередній.</a:t>
            </a:r>
            <a:endParaRPr lang="en-US" altLang="en-US" sz="1900" dirty="0" err="1">
              <a:solidFill>
                <a:srgbClr val="000000"/>
              </a:solidFill>
              <a:latin typeface="Arial" panose="020B0604020202020204" pitchFamily="34" charset="0"/>
            </a:endParaRPr>
          </a:p>
        </p:txBody>
      </p:sp>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Text Box 26624"/>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Статичний поліморфізм</a:t>
            </a:r>
            <a:endParaRPr lang="ru-RU" altLang="x-none" sz="4200" dirty="0" err="1">
              <a:solidFill>
                <a:srgbClr val="FFFFFF"/>
              </a:solidFill>
              <a:latin typeface="Arial" panose="020B0604020202020204" pitchFamily="34" charset="0"/>
            </a:endParaRPr>
          </a:p>
        </p:txBody>
      </p:sp>
      <p:sp>
        <p:nvSpPr>
          <p:cNvPr id="49155" name="Text Box 26625"/>
          <p:cNvSpPr txBox="1"/>
          <p:nvPr/>
        </p:nvSpPr>
        <p:spPr>
          <a:xfrm>
            <a:off x="565150" y="1412240"/>
            <a:ext cx="7924800" cy="4419600"/>
          </a:xfrm>
          <a:prstGeom prst="rect">
            <a:avLst/>
          </a:prstGeom>
          <a:noFill/>
          <a:ln w="9525">
            <a:noFill/>
          </a:ln>
        </p:spPr>
        <p:txBody>
          <a:bodyPr wrap="square" lIns="91440" tIns="45720" rIns="91440" bIns="45720" anchor="t" anchorCtr="0"/>
          <a:p>
            <a:pPr defTabSz="457200">
              <a:spcBef>
                <a:spcPts val="800"/>
              </a:spcBef>
              <a:buClr>
                <a:srgbClr val="996666"/>
              </a:buClr>
              <a:buSzPct val="80000"/>
              <a:buFont typeface="Wingdings" panose="05000000000000000000" pitchFamily="2" charset="2"/>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pPr>
            <a:r>
              <a:rPr lang="en-US" altLang="en-US" sz="2400" dirty="0" err="1">
                <a:solidFill>
                  <a:srgbClr val="000000"/>
                </a:solidFill>
                <a:latin typeface="Arial" panose="020B0604020202020204" pitchFamily="34" charset="0"/>
              </a:rPr>
              <a:t>У Python операторне перевантаження — </a:t>
            </a:r>
            <a:r>
              <a:rPr lang="uk-UA" altLang="en-US" sz="2400" dirty="0" err="1">
                <a:solidFill>
                  <a:srgbClr val="000000"/>
                </a:solidFill>
                <a:latin typeface="Arial" panose="020B0604020202020204" pitchFamily="34" charset="0"/>
              </a:rPr>
              <a:t>                   </a:t>
            </a:r>
            <a:r>
              <a:rPr lang="en-US" altLang="en-US" sz="2400" dirty="0" err="1">
                <a:solidFill>
                  <a:srgbClr val="000000"/>
                </a:solidFill>
                <a:latin typeface="Arial" panose="020B0604020202020204" pitchFamily="34" charset="0"/>
              </a:rPr>
              <a:t>це найближче, що є до статичного (compile-time) поліморфізму (ad-hoc polymorphism): один і той самий синтаксис (+, len, []) поводиться по-різному залежно від типу об’єктів, і вибір dunder-методу фіксується </a:t>
            </a:r>
            <a:r>
              <a:rPr lang="uk-UA" altLang="en-US" sz="2400" dirty="0" err="1">
                <a:solidFill>
                  <a:srgbClr val="000000"/>
                </a:solidFill>
                <a:latin typeface="Arial" panose="020B0604020202020204" pitchFamily="34" charset="0"/>
              </a:rPr>
              <a:t>   </a:t>
            </a:r>
            <a:r>
              <a:rPr lang="en-US" altLang="en-US" sz="2400" dirty="0" err="1">
                <a:solidFill>
                  <a:srgbClr val="000000"/>
                </a:solidFill>
                <a:latin typeface="Arial" panose="020B0604020202020204" pitchFamily="34" charset="0"/>
              </a:rPr>
              <a:t>на етапі парсингу/компіляції байт-коду.</a:t>
            </a:r>
            <a:endParaRPr lang="en-US" altLang="en-US" sz="2400" dirty="0" err="1">
              <a:solidFill>
                <a:srgbClr val="000000"/>
              </a:solidFill>
              <a:latin typeface="Arial" panose="020B0604020202020204" pitchFamily="34" charset="0"/>
            </a:endParaRPr>
          </a:p>
          <a:p>
            <a:pPr defTabSz="457200">
              <a:spcBef>
                <a:spcPts val="800"/>
              </a:spcBef>
              <a:buClr>
                <a:srgbClr val="996666"/>
              </a:buClr>
              <a:buSzPct val="80000"/>
              <a:buFont typeface="Wingdings" panose="05000000000000000000" pitchFamily="2" charset="2"/>
              <a:tabLst>
                <a:tab pos="336550" algn="l"/>
                <a:tab pos="793750" algn="l"/>
                <a:tab pos="1250950" algn="l"/>
                <a:tab pos="1708150" algn="l"/>
                <a:tab pos="2165350" algn="l"/>
                <a:tab pos="2622550" algn="l"/>
                <a:tab pos="3079750" algn="l"/>
                <a:tab pos="3536950" algn="l"/>
                <a:tab pos="3994150" algn="l"/>
                <a:tab pos="4451350" algn="l"/>
                <a:tab pos="4908550" algn="l"/>
                <a:tab pos="5365750" algn="l"/>
                <a:tab pos="5822950" algn="l"/>
                <a:tab pos="6280150" algn="l"/>
                <a:tab pos="6737350" algn="l"/>
                <a:tab pos="7194550" algn="l"/>
                <a:tab pos="7651750" algn="l"/>
                <a:tab pos="8108950" algn="l"/>
                <a:tab pos="8566150" algn="l"/>
                <a:tab pos="9023350" algn="l"/>
                <a:tab pos="9480550" algn="l"/>
              </a:tabLst>
            </a:pPr>
            <a:r>
              <a:rPr lang="en-US" altLang="en-US" sz="2400" dirty="0" err="1">
                <a:solidFill>
                  <a:srgbClr val="000000"/>
                </a:solidFill>
                <a:latin typeface="Arial" panose="020B0604020202020204" pitchFamily="34" charset="0"/>
              </a:rPr>
              <a:t>Але на відміну від C++ чи Haskell, реальний виклик методу відбувається динамічно в runtime — Python просто шукає __add__ (або __radd__) у реальному типі об’єкта. Тому </a:t>
            </a:r>
            <a:r>
              <a:rPr lang="uk-UA" altLang="en-US" sz="2400" dirty="0" err="1">
                <a:solidFill>
                  <a:srgbClr val="000000"/>
                </a:solidFill>
                <a:latin typeface="Arial" panose="020B0604020202020204" pitchFamily="34" charset="0"/>
              </a:rPr>
              <a:t>це можна сміливо вважати</a:t>
            </a:r>
            <a:r>
              <a:rPr lang="en-US" altLang="en-US" sz="2400" dirty="0" err="1">
                <a:solidFill>
                  <a:srgbClr val="000000"/>
                </a:solidFill>
                <a:latin typeface="Arial" panose="020B0604020202020204" pitchFamily="34" charset="0"/>
              </a:rPr>
              <a:t> формою динамічного поліморфізму, просто з синтаксичним цукром, а не справжнім статичним диспетчем.</a:t>
            </a:r>
            <a:endParaRPr lang="en-US" altLang="en-US" sz="2400" dirty="0" err="1">
              <a:solidFill>
                <a:srgbClr val="000000"/>
              </a:solidFill>
              <a:latin typeface="Arial" panose="020B0604020202020204" pitchFamily="34" charset="0"/>
            </a:endParaRPr>
          </a:p>
        </p:txBody>
      </p:sp>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Text Box 27648"/>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Динамічний поліморфізм</a:t>
            </a:r>
            <a:endParaRPr lang="ru-RU" altLang="x-none" sz="4200" dirty="0" err="1">
              <a:solidFill>
                <a:srgbClr val="FFFFFF"/>
              </a:solidFill>
              <a:latin typeface="Arial" panose="020B0604020202020204" pitchFamily="34" charset="0"/>
            </a:endParaRPr>
          </a:p>
        </p:txBody>
      </p:sp>
      <p:sp>
        <p:nvSpPr>
          <p:cNvPr id="51203" name="Text Box 27649"/>
          <p:cNvSpPr txBox="1"/>
          <p:nvPr/>
        </p:nvSpPr>
        <p:spPr>
          <a:xfrm>
            <a:off x="679450" y="1484630"/>
            <a:ext cx="7806055" cy="4419600"/>
          </a:xfrm>
          <a:prstGeom prst="rect">
            <a:avLst/>
          </a:prstGeom>
          <a:noFill/>
          <a:ln w="9525">
            <a:noFill/>
          </a:ln>
        </p:spPr>
        <p:txBody>
          <a:bodyPr wrap="square" lIns="91440" tIns="45720" rIns="91440" bIns="45720" anchor="t" anchorCtr="0"/>
          <a:p>
            <a:pPr defTabSz="457200">
              <a:spcBef>
                <a:spcPts val="8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3200" b="1" dirty="0" err="1">
                <a:gradFill>
                  <a:gsLst>
                    <a:gs pos="0">
                      <a:srgbClr val="E30000"/>
                    </a:gs>
                    <a:gs pos="100000">
                      <a:srgbClr val="760303"/>
                    </a:gs>
                  </a:gsLst>
                  <a:lin scaled="0"/>
                </a:gradFill>
                <a:latin typeface="Arial" panose="020B0604020202020204" pitchFamily="34" charset="0"/>
              </a:rPr>
              <a:t>Динамічний поліморфізм - </a:t>
            </a:r>
            <a:r>
              <a:rPr lang="en-US" altLang="ru-RU" sz="3200" b="1" dirty="0" err="1">
                <a:gradFill>
                  <a:gsLst>
                    <a:gs pos="0">
                      <a:srgbClr val="E30000"/>
                    </a:gs>
                    <a:gs pos="100000">
                      <a:srgbClr val="760303"/>
                    </a:gs>
                  </a:gsLst>
                  <a:lin scaled="0"/>
                </a:gradFill>
                <a:latin typeface="Arial" panose="020B0604020202020204" pitchFamily="34" charset="0"/>
              </a:rPr>
              <a:t>                     </a:t>
            </a:r>
            <a:r>
              <a:rPr lang="ru-RU" altLang="x-none" sz="3200" b="1" dirty="0" err="1">
                <a:gradFill>
                  <a:gsLst>
                    <a:gs pos="0">
                      <a:srgbClr val="E30000"/>
                    </a:gs>
                    <a:gs pos="100000">
                      <a:srgbClr val="760303"/>
                    </a:gs>
                  </a:gsLst>
                  <a:lin scaled="0"/>
                </a:gradFill>
                <a:latin typeface="Arial" panose="020B0604020202020204" pitchFamily="34" charset="0"/>
              </a:rPr>
              <a:t>це механізм, за якого одну й ту саму інструкцію можна використати </a:t>
            </a:r>
            <a:r>
              <a:rPr lang="en-US" altLang="ru-RU" sz="3200" b="1" dirty="0" err="1">
                <a:gradFill>
                  <a:gsLst>
                    <a:gs pos="0">
                      <a:srgbClr val="E30000"/>
                    </a:gs>
                    <a:gs pos="100000">
                      <a:srgbClr val="760303"/>
                    </a:gs>
                  </a:gsLst>
                  <a:lin scaled="0"/>
                </a:gradFill>
                <a:latin typeface="Arial" panose="020B0604020202020204" pitchFamily="34" charset="0"/>
              </a:rPr>
              <a:t>      </a:t>
            </a:r>
            <a:r>
              <a:rPr lang="ru-RU" altLang="x-none" sz="3200" b="1" dirty="0" err="1">
                <a:gradFill>
                  <a:gsLst>
                    <a:gs pos="0">
                      <a:srgbClr val="E30000"/>
                    </a:gs>
                    <a:gs pos="100000">
                      <a:srgbClr val="760303"/>
                    </a:gs>
                  </a:gsLst>
                  <a:lin scaled="0"/>
                </a:gradFill>
                <a:latin typeface="Arial" panose="020B0604020202020204" pitchFamily="34" charset="0"/>
              </a:rPr>
              <a:t>для роботи з об'єктами різних типів, але конкретний тип та інструкції </a:t>
            </a:r>
            <a:r>
              <a:rPr lang="en-US" altLang="ru-RU" sz="3200" b="1" dirty="0" err="1">
                <a:gradFill>
                  <a:gsLst>
                    <a:gs pos="0">
                      <a:srgbClr val="E30000"/>
                    </a:gs>
                    <a:gs pos="100000">
                      <a:srgbClr val="760303"/>
                    </a:gs>
                  </a:gsLst>
                  <a:lin scaled="0"/>
                </a:gradFill>
                <a:latin typeface="Arial" panose="020B0604020202020204" pitchFamily="34" charset="0"/>
              </a:rPr>
              <a:t>        </a:t>
            </a:r>
            <a:r>
              <a:rPr lang="ru-RU" altLang="x-none" sz="3200" b="1" dirty="0" err="1">
                <a:gradFill>
                  <a:gsLst>
                    <a:gs pos="0">
                      <a:srgbClr val="E30000"/>
                    </a:gs>
                    <a:gs pos="100000">
                      <a:srgbClr val="760303"/>
                    </a:gs>
                  </a:gsLst>
                  <a:lin scaled="0"/>
                </a:gradFill>
                <a:latin typeface="Arial" panose="020B0604020202020204" pitchFamily="34" charset="0"/>
              </a:rPr>
              <a:t>роботи з ним НЕ відомі на етапі компіляції</a:t>
            </a:r>
            <a:r>
              <a:rPr lang="ru-RU" altLang="x-none" sz="3200" dirty="0" err="1">
                <a:gradFill>
                  <a:gsLst>
                    <a:gs pos="0">
                      <a:srgbClr val="E30000"/>
                    </a:gs>
                    <a:gs pos="100000">
                      <a:srgbClr val="760303"/>
                    </a:gs>
                  </a:gsLst>
                  <a:lin scaled="0"/>
                </a:gradFill>
                <a:latin typeface="Arial" panose="020B0604020202020204" pitchFamily="34" charset="0"/>
              </a:rPr>
              <a:t>,</a:t>
            </a:r>
            <a:r>
              <a:rPr lang="ru-RU" altLang="x-none" sz="3200" dirty="0" err="1">
                <a:solidFill>
                  <a:srgbClr val="000000"/>
                </a:solidFill>
                <a:latin typeface="Arial" panose="020B0604020202020204" pitchFamily="34" charset="0"/>
              </a:rPr>
              <a:t> а визнача</a:t>
            </a:r>
            <a:r>
              <a:rPr lang="uk-UA" altLang="x-none" sz="3200" dirty="0" err="1">
                <a:solidFill>
                  <a:srgbClr val="000000"/>
                </a:solidFill>
                <a:latin typeface="Arial" panose="020B0604020202020204" pitchFamily="34" charset="0"/>
              </a:rPr>
              <a:t>ю</a:t>
            </a:r>
            <a:r>
              <a:rPr lang="uk-UA" altLang="ru-RU" sz="3200" dirty="0" err="1">
                <a:solidFill>
                  <a:srgbClr val="000000"/>
                </a:solidFill>
                <a:latin typeface="Arial" panose="020B0604020202020204" pitchFamily="34" charset="0"/>
              </a:rPr>
              <a:t>ться</a:t>
            </a:r>
            <a:r>
              <a:rPr lang="ru-RU" altLang="x-none" sz="3200" dirty="0" err="1">
                <a:solidFill>
                  <a:srgbClr val="000000"/>
                </a:solidFill>
                <a:latin typeface="Arial" panose="020B0604020202020204" pitchFamily="34" charset="0"/>
              </a:rPr>
              <a:t> на етапі виконання (реалізу</a:t>
            </a:r>
            <a:r>
              <a:rPr lang="uk-UA" altLang="ru-RU" sz="3200" dirty="0" err="1">
                <a:solidFill>
                  <a:srgbClr val="000000"/>
                </a:solidFill>
                <a:latin typeface="Arial" panose="020B0604020202020204" pitchFamily="34" charset="0"/>
              </a:rPr>
              <a:t>ється</a:t>
            </a:r>
            <a:r>
              <a:rPr lang="ru-RU" altLang="x-none" sz="3200" dirty="0" err="1">
                <a:solidFill>
                  <a:srgbClr val="000000"/>
                </a:solidFill>
                <a:latin typeface="Arial" panose="020B0604020202020204" pitchFamily="34" charset="0"/>
              </a:rPr>
              <a:t> т</a:t>
            </a:r>
            <a:r>
              <a:rPr lang="uk-UA" altLang="ru-RU" sz="3200" dirty="0" err="1">
                <a:solidFill>
                  <a:srgbClr val="000000"/>
                </a:solidFill>
                <a:latin typeface="Arial" panose="020B0604020202020204" pitchFamily="34" charset="0"/>
              </a:rPr>
              <a:t>ак звана </a:t>
            </a:r>
            <a:r>
              <a:rPr lang="ru-RU" altLang="x-none" sz="3200" dirty="0" err="1">
                <a:solidFill>
                  <a:srgbClr val="000000"/>
                </a:solidFill>
                <a:latin typeface="Arial" panose="020B0604020202020204" pitchFamily="34" charset="0"/>
              </a:rPr>
              <a:t>поліморфн</a:t>
            </a:r>
            <a:r>
              <a:rPr lang="uk-UA" altLang="ru-RU" sz="3200" dirty="0" err="1">
                <a:solidFill>
                  <a:srgbClr val="000000"/>
                </a:solidFill>
                <a:latin typeface="Arial" panose="020B0604020202020204" pitchFamily="34" charset="0"/>
              </a:rPr>
              <a:t>а</a:t>
            </a:r>
            <a:r>
              <a:rPr lang="ru-RU" altLang="x-none" sz="3200" dirty="0" err="1">
                <a:solidFill>
                  <a:srgbClr val="000000"/>
                </a:solidFill>
                <a:latin typeface="Arial" panose="020B0604020202020204" pitchFamily="34" charset="0"/>
              </a:rPr>
              <a:t> поведінк</a:t>
            </a:r>
            <a:r>
              <a:rPr lang="uk-UA" altLang="ru-RU" sz="3200" dirty="0" err="1">
                <a:solidFill>
                  <a:srgbClr val="000000"/>
                </a:solidFill>
                <a:latin typeface="Arial" panose="020B0604020202020204" pitchFamily="34" charset="0"/>
              </a:rPr>
              <a:t>а</a:t>
            </a:r>
            <a:r>
              <a:rPr lang="ru-RU" altLang="x-none" sz="3200" dirty="0" err="1">
                <a:solidFill>
                  <a:srgbClr val="000000"/>
                </a:solidFill>
                <a:latin typeface="Arial" panose="020B0604020202020204" pitchFamily="34" charset="0"/>
              </a:rPr>
              <a:t>).</a:t>
            </a:r>
            <a:endParaRPr lang="ru-RU" altLang="x-none" sz="3200" dirty="0" err="1">
              <a:solidFill>
                <a:srgbClr val="000000"/>
              </a:solidFill>
              <a:latin typeface="Arial" panose="020B0604020202020204" pitchFamily="34" charset="0"/>
            </a:endParaRPr>
          </a:p>
        </p:txBody>
      </p:sp>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Text Box 28672"/>
          <p:cNvSpPr txBox="1"/>
          <p:nvPr/>
        </p:nvSpPr>
        <p:spPr>
          <a:xfrm>
            <a:off x="195263" y="228600"/>
            <a:ext cx="8015287" cy="914400"/>
          </a:xfrm>
          <a:prstGeom prst="rect">
            <a:avLst/>
          </a:prstGeom>
          <a:noFill/>
          <a:ln w="9525">
            <a:noFill/>
          </a:ln>
        </p:spPr>
        <p:txBody>
          <a:bodyPr wrap="square" lIns="91440" tIns="45720" rIns="91440" bIns="45720" anchor="ctr" anchorCtr="0"/>
          <a:p>
            <a:pPr defTabSz="457200">
              <a:buClrTx/>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ru-RU" altLang="x-none" sz="4200" dirty="0" err="1">
                <a:solidFill>
                  <a:srgbClr val="FFFFFF"/>
                </a:solidFill>
                <a:latin typeface="Arial" panose="020B0604020202020204" pitchFamily="34" charset="0"/>
              </a:rPr>
              <a:t>Способ</a:t>
            </a:r>
            <a:r>
              <a:rPr lang="uk-UA" altLang="ru-RU" sz="4200" dirty="0" err="1">
                <a:solidFill>
                  <a:srgbClr val="FFFFFF"/>
                </a:solidFill>
                <a:latin typeface="Arial" panose="020B0604020202020204" pitchFamily="34" charset="0"/>
              </a:rPr>
              <a:t>и реалізації ДП</a:t>
            </a:r>
            <a:endParaRPr lang="uk-UA" altLang="ru-RU" sz="4200" dirty="0" err="1">
              <a:solidFill>
                <a:srgbClr val="FFFFFF"/>
              </a:solidFill>
              <a:latin typeface="Arial" panose="020B0604020202020204" pitchFamily="34" charset="0"/>
            </a:endParaRPr>
          </a:p>
        </p:txBody>
      </p:sp>
      <p:sp>
        <p:nvSpPr>
          <p:cNvPr id="53251" name="Text Box 28673"/>
          <p:cNvSpPr txBox="1"/>
          <p:nvPr/>
        </p:nvSpPr>
        <p:spPr>
          <a:xfrm>
            <a:off x="539750" y="1385888"/>
            <a:ext cx="8135938" cy="4679950"/>
          </a:xfrm>
          <a:prstGeom prst="rect">
            <a:avLst/>
          </a:prstGeom>
          <a:noFill/>
          <a:ln w="9525">
            <a:noFill/>
          </a:ln>
        </p:spPr>
        <p:txBody>
          <a:bodyPr wrap="square" lIns="91440" tIns="45720" rIns="91440" bIns="45720" anchor="t" anchorCtr="0"/>
          <a:p>
            <a:pPr defTabSz="457200">
              <a:spcBef>
                <a:spcPts val="700"/>
              </a:spcBef>
              <a:buClrTx/>
              <a:buSzPct val="80000"/>
              <a:buFontTx/>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dirty="0" err="1">
                <a:solidFill>
                  <a:srgbClr val="000000"/>
                </a:solidFill>
                <a:latin typeface="Arial" panose="020B0604020202020204" pitchFamily="34" charset="0"/>
              </a:rPr>
              <a:t>У Python динамічний поліморфізм (тобто поліморфізм, що вирішується в runtime) реалізовується кількома способами</a:t>
            </a:r>
            <a:r>
              <a:rPr lang="uk-UA" sz="2800" dirty="0" err="1">
                <a:solidFill>
                  <a:srgbClr val="000000"/>
                </a:solidFill>
                <a:latin typeface="Arial" panose="020B0604020202020204" pitchFamily="34" charset="0"/>
              </a:rPr>
              <a:t>:</a:t>
            </a:r>
            <a:endParaRPr lang="uk-UA" sz="2800" dirty="0" err="1">
              <a:solidFill>
                <a:srgbClr val="000000"/>
              </a:solidFill>
              <a:latin typeface="Arial" panose="020B0604020202020204" pitchFamily="34" charset="0"/>
            </a:endParaRPr>
          </a:p>
          <a:p>
            <a:pPr marL="457200" indent="-4572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dirty="0" err="1">
                <a:solidFill>
                  <a:srgbClr val="000000"/>
                </a:solidFill>
                <a:latin typeface="Arial" panose="020B0604020202020204" pitchFamily="34" charset="0"/>
              </a:rPr>
              <a:t>Duck typing</a:t>
            </a:r>
            <a:endParaRPr lang="en-US" altLang="en-US" sz="2800" dirty="0" err="1">
              <a:solidFill>
                <a:srgbClr val="000000"/>
              </a:solidFill>
              <a:latin typeface="Arial" panose="020B0604020202020204" pitchFamily="34" charset="0"/>
            </a:endParaRPr>
          </a:p>
          <a:p>
            <a:pPr marL="457200" indent="-4572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dirty="0" err="1">
                <a:solidFill>
                  <a:srgbClr val="000000"/>
                </a:solidFill>
                <a:latin typeface="Arial" panose="020B0604020202020204" pitchFamily="34" charset="0"/>
              </a:rPr>
              <a:t>Method overriding</a:t>
            </a:r>
            <a:endParaRPr lang="en-US" altLang="en-US" sz="2800" dirty="0" err="1">
              <a:solidFill>
                <a:srgbClr val="000000"/>
              </a:solidFill>
              <a:latin typeface="Arial" panose="020B0604020202020204" pitchFamily="34" charset="0"/>
            </a:endParaRPr>
          </a:p>
          <a:p>
            <a:pPr marL="457200" indent="-4572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2800" dirty="0" err="1">
                <a:solidFill>
                  <a:srgbClr val="000000"/>
                </a:solidFill>
                <a:latin typeface="Arial" panose="020B0604020202020204" pitchFamily="34" charset="0"/>
              </a:rPr>
              <a:t>ABC (явний контракт)</a:t>
            </a:r>
            <a:endParaRPr lang="en-US" altLang="en-US" sz="2800" dirty="0" err="1">
              <a:solidFill>
                <a:srgbClr val="000000"/>
              </a:solidFill>
              <a:latin typeface="Arial" panose="020B0604020202020204" pitchFamily="34" charset="0"/>
            </a:endParaRPr>
          </a:p>
          <a:p>
            <a:pPr marL="457200" indent="-457200" defTabSz="457200">
              <a:spcBef>
                <a:spcPts val="700"/>
              </a:spcBef>
              <a:buClrTx/>
              <a:buSzPct val="80000"/>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uk-UA" altLang="en-US" sz="2800" dirty="0" err="1">
                <a:solidFill>
                  <a:srgbClr val="000000"/>
                </a:solidFill>
                <a:latin typeface="Arial" panose="020B0604020202020204" pitchFamily="34" charset="0"/>
              </a:rPr>
              <a:t>Протоколи </a:t>
            </a:r>
            <a:r>
              <a:rPr lang="en-US" altLang="en-US" sz="2800" dirty="0" err="1">
                <a:solidFill>
                  <a:srgbClr val="000000"/>
                </a:solidFill>
                <a:latin typeface="Arial" panose="020B0604020202020204" pitchFamily="34" charset="0"/>
              </a:rPr>
              <a:t>— type-safe duck typing</a:t>
            </a:r>
            <a:endParaRPr lang="en-US" altLang="en-US" sz="2800" dirty="0" err="1">
              <a:solidFill>
                <a:srgbClr val="000000"/>
              </a:solidFill>
              <a:latin typeface="Arial" panose="020B0604020202020204" pitchFamily="34" charset="0"/>
            </a:endParaRPr>
          </a:p>
        </p:txBody>
      </p:sp>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uk-UA" dirty="0"/>
              <a:t>Качина типізація</a:t>
            </a:r>
            <a:endParaRPr lang="uk-UA" dirty="0"/>
          </a:p>
        </p:txBody>
      </p:sp>
      <p:sp>
        <p:nvSpPr>
          <p:cNvPr id="25602" name="Объект 2"/>
          <p:cNvSpPr>
            <a:spLocks noGrp="1"/>
          </p:cNvSpPr>
          <p:nvPr>
            <p:ph idx="1"/>
          </p:nvPr>
        </p:nvSpPr>
        <p:spPr>
          <a:xfrm>
            <a:off x="468313" y="1385888"/>
            <a:ext cx="8207375" cy="4419600"/>
          </a:xfrm>
        </p:spPr>
        <p:txBody>
          <a:bodyPr vert="horz" wrap="square" lIns="91440" tIns="45720" rIns="91440" bIns="45720" anchor="t" anchorCtr="0"/>
          <a:p>
            <a:pPr marL="0" indent="0">
              <a:buNone/>
            </a:pPr>
            <a:r>
              <a:rPr lang="en-US" altLang="en-US" sz="2000" b="1" dirty="0">
                <a:solidFill>
                  <a:schemeClr val="tx1"/>
                </a:solidFill>
              </a:rPr>
              <a:t>Duck typing </a:t>
            </a:r>
            <a:r>
              <a:rPr lang="en-US" altLang="en-US" sz="2000" dirty="0">
                <a:solidFill>
                  <a:schemeClr val="tx1"/>
                </a:solidFill>
              </a:rPr>
              <a:t>— це філософія Python, яка говорить: </a:t>
            </a:r>
            <a:r>
              <a:rPr lang="en-US" altLang="en-US" sz="2000" dirty="0">
                <a:solidFill>
                  <a:schemeClr val="tx1"/>
                </a:solidFill>
              </a:rPr>
              <a:t>«</a:t>
            </a:r>
            <a:r>
              <a:rPr lang="en-US" altLang="en-US" sz="2000" dirty="0">
                <a:solidFill>
                  <a:schemeClr val="tx1"/>
                </a:solidFill>
              </a:rPr>
              <a:t>Якщо це ходить як качка, крякає як качка і плаває як качка — це, ймовірно, качка</a:t>
            </a:r>
            <a:r>
              <a:rPr lang="en-US" altLang="en-US" sz="2000" dirty="0">
                <a:solidFill>
                  <a:schemeClr val="tx1"/>
                </a:solidFill>
              </a:rPr>
              <a:t>»</a:t>
            </a:r>
            <a:r>
              <a:rPr lang="uk-UA" sz="2000" dirty="0">
                <a:solidFill>
                  <a:schemeClr val="tx1"/>
                </a:solidFill>
              </a:rPr>
              <a:t>. </a:t>
            </a:r>
            <a:r>
              <a:rPr lang="en-US" altLang="en-US" sz="2000" dirty="0">
                <a:solidFill>
                  <a:schemeClr val="tx1"/>
                </a:solidFill>
              </a:rPr>
              <a:t>Тобто тип об’єкта не перевіряється явно, головне — чи має він потрібні методи/атрибути, які </a:t>
            </a:r>
            <a:r>
              <a:rPr lang="uk-UA" altLang="en-US" sz="2000" dirty="0">
                <a:solidFill>
                  <a:schemeClr val="tx1"/>
                </a:solidFill>
              </a:rPr>
              <a:t>треба</a:t>
            </a:r>
            <a:r>
              <a:rPr lang="en-US" altLang="en-US" sz="2000" dirty="0">
                <a:solidFill>
                  <a:schemeClr val="tx1"/>
                </a:solidFill>
              </a:rPr>
              <a:t> викликати. Це найчистіший</a:t>
            </a:r>
            <a:r>
              <a:rPr lang="uk-UA" altLang="en-US" sz="2000" dirty="0">
                <a:solidFill>
                  <a:schemeClr val="tx1"/>
                </a:solidFill>
              </a:rPr>
              <a:t>       </a:t>
            </a:r>
            <a:r>
              <a:rPr lang="en-US" altLang="en-US" sz="2000" dirty="0">
                <a:solidFill>
                  <a:schemeClr val="tx1"/>
                </a:solidFill>
              </a:rPr>
              <a:t> і найпоширеніший прояв динамічного поліморфізму в Python.</a:t>
            </a:r>
            <a:endParaRPr lang="en-US" altLang="en-US" sz="2000" dirty="0">
              <a:solidFill>
                <a:schemeClr val="tx1"/>
              </a:solidFill>
            </a:endParaRPr>
          </a:p>
          <a:p>
            <a:pPr marL="0" indent="0">
              <a:buNone/>
            </a:pPr>
            <a:r>
              <a:rPr lang="en-US" altLang="en-US" sz="2000" b="1" dirty="0">
                <a:solidFill>
                  <a:schemeClr val="tx1"/>
                </a:solidFill>
              </a:rPr>
              <a:t>Duck typing = </a:t>
            </a:r>
            <a:r>
              <a:rPr lang="en-US" altLang="en-US" sz="2000" b="1" dirty="0">
                <a:solidFill>
                  <a:schemeClr val="tx1"/>
                </a:solidFill>
              </a:rPr>
              <a:t>«</a:t>
            </a:r>
            <a:r>
              <a:rPr lang="en-US" altLang="en-US" sz="2000" b="1" dirty="0">
                <a:solidFill>
                  <a:schemeClr val="tx1"/>
                </a:solidFill>
              </a:rPr>
              <a:t>не питай, хто ти — покажи, що вмієш</a:t>
            </a:r>
            <a:r>
              <a:rPr lang="en-US" altLang="en-US" sz="2000" b="1" dirty="0">
                <a:solidFill>
                  <a:schemeClr val="tx1"/>
                </a:solidFill>
              </a:rPr>
              <a:t>»</a:t>
            </a:r>
            <a:r>
              <a:rPr lang="uk-UA" sz="2000" b="1" dirty="0">
                <a:solidFill>
                  <a:schemeClr val="tx1"/>
                </a:solidFill>
              </a:rPr>
              <a:t>.</a:t>
            </a:r>
            <a:endParaRPr lang="en-US" altLang="en-US" sz="2000" b="1" dirty="0">
              <a:solidFill>
                <a:schemeClr val="tx1"/>
              </a:solidFill>
            </a:endParaRPr>
          </a:p>
          <a:p>
            <a:pPr marL="285750" indent="-285750">
              <a:buFont typeface="Arial" panose="020B0604020202020204" pitchFamily="34" charset="0"/>
              <a:buChar char="•"/>
            </a:pPr>
            <a:r>
              <a:rPr lang="en-US" altLang="en-US" sz="2000" dirty="0">
                <a:solidFill>
                  <a:schemeClr val="tx1"/>
                </a:solidFill>
              </a:rPr>
              <a:t>Немає потреби в ABC / Protocol / спадкуванні</a:t>
            </a:r>
            <a:endParaRPr lang="en-US" altLang="en-US" sz="2000" dirty="0">
              <a:solidFill>
                <a:schemeClr val="tx1"/>
              </a:solidFill>
            </a:endParaRPr>
          </a:p>
          <a:p>
            <a:pPr marL="285750" indent="-285750">
              <a:buFont typeface="Arial" panose="020B0604020202020204" pitchFamily="34" charset="0"/>
              <a:buChar char="•"/>
            </a:pPr>
            <a:r>
              <a:rPr lang="en-US" altLang="en-US" sz="2000" dirty="0">
                <a:solidFill>
                  <a:schemeClr val="tx1"/>
                </a:solidFill>
              </a:rPr>
              <a:t>Максимальна гнучкість</a:t>
            </a:r>
            <a:endParaRPr lang="en-US" altLang="en-US" sz="2000" dirty="0">
              <a:solidFill>
                <a:schemeClr val="tx1"/>
              </a:solidFill>
            </a:endParaRPr>
          </a:p>
          <a:p>
            <a:pPr marL="285750" indent="-285750">
              <a:buFont typeface="Arial" panose="020B0604020202020204" pitchFamily="34" charset="0"/>
              <a:buChar char="•"/>
            </a:pPr>
            <a:r>
              <a:rPr lang="en-US" altLang="en-US" sz="2000" dirty="0">
                <a:solidFill>
                  <a:schemeClr val="tx1"/>
                </a:solidFill>
              </a:rPr>
              <a:t>Легко підміняти мок-об’єкти в тестах</a:t>
            </a:r>
            <a:endParaRPr lang="en-US" altLang="en-US" sz="2000" dirty="0">
              <a:solidFill>
                <a:schemeClr val="tx1"/>
              </a:solidFill>
            </a:endParaRPr>
          </a:p>
          <a:p>
            <a:pPr marL="0" indent="0">
              <a:buNone/>
            </a:pPr>
            <a:r>
              <a:rPr lang="en-US" altLang="en-US" sz="2000" dirty="0">
                <a:solidFill>
                  <a:schemeClr val="tx1"/>
                </a:solidFill>
              </a:rPr>
              <a:t>Багато вбудованих функцій Python саме так і працюють (len(), iter(), str(), with, await тощо). Duck typing — це душа Python-поліморфізму.</a:t>
            </a:r>
            <a:endParaRPr lang="en-US" altLang="en-US" sz="2000" dirty="0">
              <a:solidFill>
                <a:schemeClr val="tx1"/>
              </a:solidFill>
            </a:endParaRPr>
          </a:p>
          <a:p>
            <a:pPr marL="0" indent="0" algn="ctr">
              <a:buNone/>
            </a:pPr>
            <a:r>
              <a:rPr lang="en-US" altLang="en-US" sz="2400" b="1" dirty="0">
                <a:solidFill>
                  <a:schemeClr val="tx1"/>
                </a:solidFill>
                <a:hlinkClick r:id="rId1" action="ppaction://hlinkfile"/>
              </a:rPr>
              <a:t>https://gist.github.com/sunmeat/2c630381117e532e683921db84a78508</a:t>
            </a:r>
            <a:endParaRPr lang="en-US" altLang="en-US" sz="2400" b="1" dirty="0">
              <a:solidFill>
                <a:schemeClr val="tx1"/>
              </a:solidFill>
              <a:hlinkClick r:id="rId1" action="ppaction://hlinkfile"/>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uk-UA" dirty="0"/>
              <a:t>Практика на </a:t>
            </a:r>
            <a:r>
              <a:rPr lang="en-US" dirty="0"/>
              <a:t>duck typing</a:t>
            </a:r>
            <a:endParaRPr lang="en-US" dirty="0"/>
          </a:p>
        </p:txBody>
      </p:sp>
      <p:sp>
        <p:nvSpPr>
          <p:cNvPr id="25602" name="Объект 2"/>
          <p:cNvSpPr>
            <a:spLocks noGrp="1"/>
          </p:cNvSpPr>
          <p:nvPr>
            <p:ph idx="1"/>
          </p:nvPr>
        </p:nvSpPr>
        <p:spPr>
          <a:xfrm>
            <a:off x="468313" y="1385888"/>
            <a:ext cx="8207375" cy="4419600"/>
          </a:xfrm>
        </p:spPr>
        <p:txBody>
          <a:bodyPr vert="horz" wrap="square" lIns="91440" tIns="45720" rIns="91440" bIns="45720" anchor="t" anchorCtr="0"/>
          <a:p>
            <a:pPr marL="0" indent="0">
              <a:buNone/>
            </a:pPr>
            <a:r>
              <a:rPr lang="en-US" altLang="en-US" sz="1500" dirty="0">
                <a:solidFill>
                  <a:schemeClr val="tx1"/>
                </a:solidFill>
              </a:rPr>
              <a:t>Напишіть функцію start(things: list), яка приймає список об’єктів і викликає у кожного метод .play(). Якщо в об’єкта немає методу play(), виведіть повідомлення виду </a:t>
            </a:r>
            <a:r>
              <a:rPr lang="en-US" altLang="en-US" sz="1500" dirty="0">
                <a:solidFill>
                  <a:schemeClr val="tx1"/>
                </a:solidFill>
              </a:rPr>
              <a:t>«</a:t>
            </a:r>
            <a:r>
              <a:rPr lang="en-US" altLang="en-US" sz="1500" dirty="0">
                <a:solidFill>
                  <a:schemeClr val="tx1"/>
                </a:solidFill>
              </a:rPr>
              <a:t>{тип об’єкта} </a:t>
            </a:r>
            <a:r>
              <a:rPr lang="uk-UA" altLang="en-US" sz="1500" dirty="0">
                <a:solidFill>
                  <a:schemeClr val="tx1"/>
                </a:solidFill>
              </a:rPr>
              <a:t>   </a:t>
            </a:r>
            <a:r>
              <a:rPr lang="en-US" altLang="en-US" sz="1500" dirty="0">
                <a:solidFill>
                  <a:schemeClr val="tx1"/>
                </a:solidFill>
              </a:rPr>
              <a:t>не </a:t>
            </a:r>
            <a:r>
              <a:rPr lang="uk-UA" altLang="en-US" sz="1500" dirty="0">
                <a:solidFill>
                  <a:schemeClr val="tx1"/>
                </a:solidFill>
              </a:rPr>
              <a:t>підтримує таку опцію</a:t>
            </a:r>
            <a:r>
              <a:rPr lang="en-US" altLang="en-US" sz="1500" dirty="0">
                <a:solidFill>
                  <a:schemeClr val="tx1"/>
                </a:solidFill>
              </a:rPr>
              <a:t>»</a:t>
            </a:r>
            <a:r>
              <a:rPr lang="en-US" altLang="en-US" sz="1500" dirty="0">
                <a:solidFill>
                  <a:schemeClr val="tx1"/>
                </a:solidFill>
              </a:rPr>
              <a:t>.</a:t>
            </a:r>
            <a:endParaRPr lang="en-US" altLang="en-US" sz="1500" dirty="0">
              <a:solidFill>
                <a:schemeClr val="tx1"/>
              </a:solidFill>
            </a:endParaRPr>
          </a:p>
          <a:p>
            <a:pPr marL="0" indent="0">
              <a:buNone/>
            </a:pPr>
            <a:r>
              <a:rPr lang="en-US" altLang="en-US" sz="1500" dirty="0">
                <a:solidFill>
                  <a:schemeClr val="tx1"/>
                </a:solidFill>
              </a:rPr>
              <a:t>Створіть кілька класів/датакласів та інших типів, які реалізують метод play() по-різному</a:t>
            </a:r>
            <a:r>
              <a:rPr lang="uk-UA" altLang="en-US" sz="1500" dirty="0">
                <a:solidFill>
                  <a:schemeClr val="tx1"/>
                </a:solidFill>
              </a:rPr>
              <a:t> (</a:t>
            </a:r>
            <a:r>
              <a:rPr lang="en-US" altLang="en-US" sz="1500" dirty="0">
                <a:solidFill>
                  <a:schemeClr val="tx1"/>
                </a:solidFill>
              </a:rPr>
              <a:t>Song</a:t>
            </a:r>
            <a:r>
              <a:rPr lang="uk-UA" altLang="en-US" sz="1500" dirty="0">
                <a:solidFill>
                  <a:schemeClr val="tx1"/>
                </a:solidFill>
              </a:rPr>
              <a:t>, </a:t>
            </a:r>
            <a:r>
              <a:rPr lang="en-US" altLang="en-US" sz="1500" dirty="0">
                <a:solidFill>
                  <a:schemeClr val="tx1"/>
                </a:solidFill>
              </a:rPr>
              <a:t>Video</a:t>
            </a:r>
            <a:r>
              <a:rPr lang="uk-UA" sz="1500" dirty="0">
                <a:solidFill>
                  <a:schemeClr val="tx1"/>
                </a:solidFill>
              </a:rPr>
              <a:t>, </a:t>
            </a:r>
            <a:r>
              <a:rPr lang="en-US" altLang="en-US" sz="1500" dirty="0">
                <a:solidFill>
                  <a:schemeClr val="tx1"/>
                </a:solidFill>
              </a:rPr>
              <a:t>Game</a:t>
            </a:r>
            <a:r>
              <a:rPr lang="uk-UA" sz="1500" dirty="0">
                <a:solidFill>
                  <a:schemeClr val="tx1"/>
                </a:solidFill>
              </a:rPr>
              <a:t>, </a:t>
            </a:r>
            <a:r>
              <a:rPr lang="en-US" sz="1500" dirty="0">
                <a:solidFill>
                  <a:schemeClr val="tx1"/>
                </a:solidFill>
              </a:rPr>
              <a:t>Cat</a:t>
            </a:r>
            <a:r>
              <a:rPr lang="uk-UA" altLang="en-US" sz="1500" dirty="0">
                <a:solidFill>
                  <a:schemeClr val="tx1"/>
                </a:solidFill>
              </a:rPr>
              <a:t>). </a:t>
            </a:r>
            <a:r>
              <a:rPr lang="en-US" altLang="en-US" sz="1500" dirty="0">
                <a:solidFill>
                  <a:schemeClr val="tx1"/>
                </a:solidFill>
              </a:rPr>
              <a:t>Додайте до списку хоча б 2 об’єкти без методу play() (наприклад, dict, Path, int, list), щоб побачити обробку помилки.</a:t>
            </a:r>
            <a:endParaRPr lang="en-US" altLang="en-US" sz="1500" dirty="0">
              <a:solidFill>
                <a:schemeClr val="tx1"/>
              </a:solidFill>
            </a:endParaRPr>
          </a:p>
          <a:p>
            <a:pPr marL="0" indent="0">
              <a:buNone/>
            </a:pPr>
            <a:r>
              <a:rPr lang="en-US" altLang="en-US" sz="1500" dirty="0">
                <a:solidFill>
                  <a:schemeClr val="tx1"/>
                </a:solidFill>
              </a:rPr>
              <a:t>Приклад виклику:</a:t>
            </a:r>
            <a:endParaRPr lang="en-US" altLang="en-US" sz="1500" dirty="0">
              <a:solidFill>
                <a:schemeClr val="tx1"/>
              </a:solidFill>
            </a:endParaRPr>
          </a:p>
          <a:p>
            <a:pPr marL="0" indent="0">
              <a:buNone/>
            </a:pPr>
            <a:r>
              <a:rPr lang="en-US" altLang="en-US" sz="1500" dirty="0">
                <a:solidFill>
                  <a:schemeClr val="tx1"/>
                </a:solidFill>
              </a:rPr>
              <a:t>things = [Song("Bohemian Rhapsody", "Queen"),</a:t>
            </a:r>
            <a:endParaRPr lang="en-US" altLang="en-US" sz="1500" dirty="0">
              <a:solidFill>
                <a:schemeClr val="tx1"/>
              </a:solidFill>
            </a:endParaRPr>
          </a:p>
          <a:p>
            <a:pPr marL="0" indent="0">
              <a:buNone/>
            </a:pPr>
            <a:r>
              <a:rPr lang="en-US" altLang="en-US" sz="1500" dirty="0">
                <a:solidFill>
                  <a:schemeClr val="tx1"/>
                </a:solidFill>
              </a:rPr>
              <a:t>    Video("Як </a:t>
            </a:r>
            <a:r>
              <a:rPr lang="uk-UA" altLang="en-US" sz="1500" dirty="0">
                <a:solidFill>
                  <a:schemeClr val="tx1"/>
                </a:solidFill>
              </a:rPr>
              <a:t>з</a:t>
            </a:r>
            <a:r>
              <a:rPr lang="en-US" altLang="en-US" sz="1500" dirty="0">
                <a:solidFill>
                  <a:schemeClr val="tx1"/>
                </a:solidFill>
              </a:rPr>
              <a:t>варити борщ за </a:t>
            </a:r>
            <a:r>
              <a:rPr lang="uk-UA" altLang="en-US" sz="1500" dirty="0">
                <a:solidFill>
                  <a:schemeClr val="tx1"/>
                </a:solidFill>
              </a:rPr>
              <a:t>2</a:t>
            </a:r>
            <a:r>
              <a:rPr lang="en-US" altLang="en-US" sz="1500" dirty="0">
                <a:solidFill>
                  <a:schemeClr val="tx1"/>
                </a:solidFill>
              </a:rPr>
              <a:t> хвилин</a:t>
            </a:r>
            <a:r>
              <a:rPr lang="uk-UA" altLang="en-US" sz="1500" dirty="0">
                <a:solidFill>
                  <a:schemeClr val="tx1"/>
                </a:solidFill>
              </a:rPr>
              <a:t>и</a:t>
            </a:r>
            <a:r>
              <a:rPr lang="en-US" altLang="en-US" sz="1500" dirty="0">
                <a:solidFill>
                  <a:schemeClr val="tx1"/>
                </a:solidFill>
              </a:rPr>
              <a:t>"),</a:t>
            </a:r>
            <a:endParaRPr lang="en-US" altLang="en-US" sz="1500" dirty="0">
              <a:solidFill>
                <a:schemeClr val="tx1"/>
              </a:solidFill>
            </a:endParaRPr>
          </a:p>
          <a:p>
            <a:pPr marL="0" indent="0">
              <a:buNone/>
            </a:pPr>
            <a:r>
              <a:rPr lang="en-US" altLang="en-US" sz="1500" dirty="0">
                <a:solidFill>
                  <a:schemeClr val="tx1"/>
                </a:solidFill>
              </a:rPr>
              <a:t>    Game("The Witcher 3"),</a:t>
            </a:r>
            <a:endParaRPr lang="en-US" altLang="en-US" sz="1500" dirty="0">
              <a:solidFill>
                <a:schemeClr val="tx1"/>
              </a:solidFill>
            </a:endParaRPr>
          </a:p>
          <a:p>
            <a:pPr marL="0" indent="0">
              <a:buNone/>
            </a:pPr>
            <a:r>
              <a:rPr lang="en-US" altLang="en-US" sz="1500" dirty="0">
                <a:solidFill>
                  <a:schemeClr val="tx1"/>
                </a:solidFill>
              </a:rPr>
              <a:t>    {"status": "online"},           # без play</a:t>
            </a:r>
            <a:endParaRPr lang="en-US" altLang="en-US" sz="1500" dirty="0">
              <a:solidFill>
                <a:schemeClr val="tx1"/>
              </a:solidFill>
            </a:endParaRPr>
          </a:p>
          <a:p>
            <a:pPr marL="0" indent="0">
              <a:buNone/>
            </a:pPr>
            <a:r>
              <a:rPr lang="en-US" altLang="en-US" sz="1500" dirty="0">
                <a:solidFill>
                  <a:schemeClr val="tx1"/>
                </a:solidFill>
              </a:rPr>
              <a:t>    Path("music.mp3"),          # без play</a:t>
            </a:r>
            <a:endParaRPr lang="en-US" altLang="en-US" sz="1500" dirty="0">
              <a:solidFill>
                <a:schemeClr val="tx1"/>
              </a:solidFill>
            </a:endParaRPr>
          </a:p>
          <a:p>
            <a:pPr marL="0" indent="0">
              <a:buNone/>
            </a:pPr>
            <a:r>
              <a:rPr lang="en-US" altLang="en-US" sz="1500" dirty="0">
                <a:solidFill>
                  <a:schemeClr val="tx1"/>
                </a:solidFill>
              </a:rPr>
              <a:t>]</a:t>
            </a:r>
            <a:endParaRPr lang="en-US" altLang="en-US" sz="1500" dirty="0">
              <a:solidFill>
                <a:schemeClr val="tx1"/>
              </a:solidFill>
            </a:endParaRPr>
          </a:p>
          <a:p>
            <a:pPr marL="0" indent="0">
              <a:buNone/>
            </a:pPr>
            <a:r>
              <a:rPr lang="en-US" altLang="en-US" sz="1500" dirty="0">
                <a:solidFill>
                  <a:schemeClr val="tx1"/>
                </a:solidFill>
              </a:rPr>
              <a:t>start(things)</a:t>
            </a:r>
            <a:endParaRPr lang="en-US" altLang="en-US" sz="1500" dirty="0">
              <a:solidFill>
                <a:schemeClr val="tx1"/>
              </a:solidFil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en-US" altLang="uk-UA" dirty="0"/>
              <a:t>ABC</a:t>
            </a:r>
            <a:endParaRPr lang="en-US" altLang="uk-UA" dirty="0"/>
          </a:p>
        </p:txBody>
      </p:sp>
      <p:sp>
        <p:nvSpPr>
          <p:cNvPr id="25602" name="Объект 2"/>
          <p:cNvSpPr>
            <a:spLocks noGrp="1"/>
          </p:cNvSpPr>
          <p:nvPr>
            <p:ph idx="1"/>
          </p:nvPr>
        </p:nvSpPr>
        <p:spPr>
          <a:xfrm>
            <a:off x="468313" y="1385888"/>
            <a:ext cx="8207375" cy="4419600"/>
          </a:xfrm>
        </p:spPr>
        <p:txBody>
          <a:bodyPr vert="horz" wrap="square" lIns="91440" tIns="45720" rIns="91440" bIns="45720" anchor="t" anchorCtr="0"/>
          <a:p>
            <a:pPr marL="0" indent="0">
              <a:buNone/>
            </a:pPr>
            <a:r>
              <a:rPr lang="en-US" altLang="en-US" sz="2000" b="1" dirty="0">
                <a:solidFill>
                  <a:schemeClr val="tx1"/>
                </a:solidFill>
              </a:rPr>
              <a:t>ABC </a:t>
            </a:r>
            <a:r>
              <a:rPr lang="en-US" altLang="en-US" sz="2000" dirty="0">
                <a:solidFill>
                  <a:schemeClr val="tx1"/>
                </a:solidFill>
              </a:rPr>
              <a:t>(Abstract Base Classes) у Python — це механізм із модуля abc, який дозволяє явно визначати контракт (інтерфейс), що повинен бути реалізований у похідних класах. Клас, який успадковується </a:t>
            </a:r>
            <a:r>
              <a:rPr lang="uk-UA" altLang="en-US" sz="2000" dirty="0">
                <a:solidFill>
                  <a:schemeClr val="tx1"/>
                </a:solidFill>
              </a:rPr>
              <a:t> </a:t>
            </a:r>
            <a:r>
              <a:rPr lang="en-US" altLang="en-US" sz="2000" dirty="0">
                <a:solidFill>
                  <a:schemeClr val="tx1"/>
                </a:solidFill>
              </a:rPr>
              <a:t>від abc.ABC (або використовує метаклас ABCMeta), може містити методи, позначені декоратором @abstractmethod — такі методи </a:t>
            </a:r>
            <a:r>
              <a:rPr lang="uk-UA" altLang="en-US" sz="2000" dirty="0">
                <a:solidFill>
                  <a:schemeClr val="tx1"/>
                </a:solidFill>
              </a:rPr>
              <a:t>   </a:t>
            </a:r>
            <a:r>
              <a:rPr lang="en-US" altLang="en-US" sz="2000" dirty="0">
                <a:solidFill>
                  <a:schemeClr val="tx1"/>
                </a:solidFill>
              </a:rPr>
              <a:t>не мають реалізації в базовому класі, але зобов’язані бути перевизначені в кожному конкретному нащадку. Якщо похідний клас не реалізує всі абстрактні методи, Python забороняє створення його екземпляра, видаючи TypeError уже на етапі ініціалізації. Таким чином ABC забезпечує </a:t>
            </a:r>
            <a:r>
              <a:rPr lang="uk-UA" altLang="en-US" sz="2000" dirty="0">
                <a:solidFill>
                  <a:schemeClr val="tx1"/>
                </a:solidFill>
              </a:rPr>
              <a:t>суворий</a:t>
            </a:r>
            <a:r>
              <a:rPr lang="en-US" altLang="en-US" sz="2000" dirty="0">
                <a:solidFill>
                  <a:schemeClr val="tx1"/>
                </a:solidFill>
              </a:rPr>
              <a:t>, явний</a:t>
            </a:r>
            <a:r>
              <a:rPr lang="uk-UA" altLang="en-US" sz="2000" dirty="0">
                <a:solidFill>
                  <a:schemeClr val="tx1"/>
                </a:solidFill>
              </a:rPr>
              <a:t>                    та </a:t>
            </a:r>
            <a:r>
              <a:rPr lang="en-US" altLang="en-US" sz="2000" dirty="0">
                <a:solidFill>
                  <a:schemeClr val="tx1"/>
                </a:solidFill>
              </a:rPr>
              <a:t>перевіряємий на етапі виконання контроль за дотриманням інтерфейсу, що особливо корисно в великих проєктах або </a:t>
            </a:r>
            <a:r>
              <a:rPr lang="uk-UA" altLang="en-US" sz="2000" dirty="0">
                <a:solidFill>
                  <a:schemeClr val="tx1"/>
                </a:solidFill>
              </a:rPr>
              <a:t>                 </a:t>
            </a:r>
            <a:r>
              <a:rPr lang="en-US" altLang="en-US" sz="2000" dirty="0">
                <a:solidFill>
                  <a:schemeClr val="tx1"/>
                </a:solidFill>
              </a:rPr>
              <a:t>в бібліотеках, де потрібно гарантувати сумісність поведінки різних класів, при цьому зберігаючи гнучкість динамічної природи мови.</a:t>
            </a:r>
            <a:endParaRPr lang="en-US" altLang="en-US" sz="2000" dirty="0">
              <a:solidFill>
                <a:schemeClr val="tx1"/>
              </a:solidFill>
            </a:endParaRPr>
          </a:p>
        </p:txBody>
      </p:sp>
      <p:sp>
        <p:nvSpPr>
          <p:cNvPr id="2" name="Text Box 1"/>
          <p:cNvSpPr txBox="1"/>
          <p:nvPr/>
        </p:nvSpPr>
        <p:spPr>
          <a:xfrm>
            <a:off x="17145" y="6351270"/>
            <a:ext cx="9099550" cy="368300"/>
          </a:xfrm>
          <a:prstGeom prst="rect">
            <a:avLst/>
          </a:prstGeom>
          <a:noFill/>
        </p:spPr>
        <p:txBody>
          <a:bodyPr wrap="square" rtlCol="0" anchor="t">
            <a:spAutoFit/>
          </a:bodyPr>
          <a:p>
            <a:pPr algn="ctr"/>
            <a:r>
              <a:rPr lang="en-US" altLang="en-US" b="1">
                <a:hlinkClick r:id="rId1" action="ppaction://hlinkfile"/>
              </a:rPr>
              <a:t>https://gist.github.com/sunmeat/0cdbfeeb5c8129e39dd9eb456327a17d</a:t>
            </a:r>
            <a:endParaRPr lang="en-US" altLang="en-US" b="1">
              <a:hlinkClick r:id="rId1" action="ppaction://hlinkfile"/>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uk-UA" dirty="0"/>
              <a:t>Практика</a:t>
            </a:r>
            <a:r>
              <a:rPr lang="en-US" altLang="uk-UA" dirty="0"/>
              <a:t> </a:t>
            </a:r>
            <a:r>
              <a:rPr lang="uk-UA" altLang="uk-UA" dirty="0"/>
              <a:t>на </a:t>
            </a:r>
            <a:r>
              <a:rPr lang="en-US" altLang="uk-UA" dirty="0"/>
              <a:t>ABC</a:t>
            </a:r>
            <a:endParaRPr lang="en-US" altLang="uk-UA" dirty="0"/>
          </a:p>
        </p:txBody>
      </p:sp>
      <p:sp>
        <p:nvSpPr>
          <p:cNvPr id="25602" name="Объект 2"/>
          <p:cNvSpPr>
            <a:spLocks noGrp="1"/>
          </p:cNvSpPr>
          <p:nvPr>
            <p:ph idx="1"/>
          </p:nvPr>
        </p:nvSpPr>
        <p:spPr>
          <a:xfrm>
            <a:off x="468313" y="1385888"/>
            <a:ext cx="8207375" cy="4419600"/>
          </a:xfrm>
        </p:spPr>
        <p:txBody>
          <a:bodyPr vert="horz" wrap="square" lIns="91440" tIns="45720" rIns="91440" bIns="45720" anchor="t" anchorCtr="0"/>
          <a:p>
            <a:pPr marL="0" indent="0">
              <a:buNone/>
            </a:pPr>
            <a:r>
              <a:rPr lang="en-US" altLang="en-US" sz="1500" dirty="0">
                <a:solidFill>
                  <a:schemeClr val="tx1"/>
                </a:solidFill>
              </a:rPr>
              <a:t>Напишіть абстрактний базовий клас ContentGenerator, який визначає контракт</a:t>
            </a:r>
            <a:r>
              <a:rPr lang="uk-UA" altLang="en-US" sz="1500" dirty="0">
                <a:solidFill>
                  <a:schemeClr val="tx1"/>
                </a:solidFill>
              </a:rPr>
              <a:t>               </a:t>
            </a:r>
            <a:r>
              <a:rPr lang="en-US" altLang="en-US" sz="1500" dirty="0">
                <a:solidFill>
                  <a:schemeClr val="tx1"/>
                </a:solidFill>
              </a:rPr>
              <a:t>для генераторів текстового контенту: один абстрактний метод generate(length: int) → str (повертає рядок бажаної або близької довжини). Створіть </a:t>
            </a:r>
            <a:r>
              <a:rPr lang="ru-RU" altLang="en-US" sz="1500" dirty="0">
                <a:solidFill>
                  <a:schemeClr val="tx1"/>
                </a:solidFill>
              </a:rPr>
              <a:t>3-4 </a:t>
            </a:r>
            <a:r>
              <a:rPr lang="en-US" altLang="en-US" sz="1500" dirty="0">
                <a:solidFill>
                  <a:schemeClr val="tx1"/>
                </a:solidFill>
              </a:rPr>
              <a:t>конкретні класи, </a:t>
            </a:r>
            <a:r>
              <a:rPr lang="uk-UA" altLang="en-US" sz="1500" dirty="0">
                <a:solidFill>
                  <a:schemeClr val="tx1"/>
                </a:solidFill>
              </a:rPr>
              <a:t>    </a:t>
            </a:r>
            <a:r>
              <a:rPr lang="ru-RU" altLang="uk-UA" sz="1500" dirty="0">
                <a:solidFill>
                  <a:schemeClr val="tx1"/>
                </a:solidFill>
              </a:rPr>
              <a:t>       </a:t>
            </a:r>
            <a:r>
              <a:rPr lang="uk-UA" altLang="en-US" sz="1500" dirty="0">
                <a:solidFill>
                  <a:schemeClr val="tx1"/>
                </a:solidFill>
              </a:rPr>
              <a:t>     </a:t>
            </a:r>
            <a:r>
              <a:rPr lang="en-US" altLang="en-US" sz="1500" dirty="0">
                <a:solidFill>
                  <a:schemeClr val="tx1"/>
                </a:solidFill>
              </a:rPr>
              <a:t>що успадковуються від ContentGenerator</a:t>
            </a:r>
            <a:r>
              <a:rPr lang="ru-RU" altLang="en-US" sz="1500" dirty="0">
                <a:solidFill>
                  <a:schemeClr val="tx1"/>
                </a:solidFill>
              </a:rPr>
              <a:t>, наприклад</a:t>
            </a:r>
            <a:r>
              <a:rPr lang="en-US" altLang="en-US" sz="1500" dirty="0">
                <a:solidFill>
                  <a:schemeClr val="tx1"/>
                </a:solidFill>
              </a:rPr>
              <a:t>:</a:t>
            </a:r>
            <a:endParaRPr lang="en-US" altLang="en-US" sz="1500" dirty="0">
              <a:solidFill>
                <a:schemeClr val="tx1"/>
              </a:solidFill>
            </a:endParaRPr>
          </a:p>
          <a:p>
            <a:pPr marL="285750" indent="-285750">
              <a:buFont typeface="Arial" panose="020B0604020202020204" pitchFamily="34" charset="0"/>
              <a:buChar char="•"/>
            </a:pPr>
            <a:r>
              <a:rPr lang="en-US" altLang="en-US" sz="1500" b="1" dirty="0">
                <a:solidFill>
                  <a:schemeClr val="tx1"/>
                </a:solidFill>
              </a:rPr>
              <a:t>LoremIpsumGenerator </a:t>
            </a:r>
            <a:r>
              <a:rPr lang="en-US" altLang="en-US" sz="1500" dirty="0">
                <a:solidFill>
                  <a:schemeClr val="tx1"/>
                </a:solidFill>
              </a:rPr>
              <a:t>— генерує випадковий </a:t>
            </a:r>
            <a:r>
              <a:rPr lang="en-US" altLang="en-US" sz="1500" dirty="0">
                <a:solidFill>
                  <a:schemeClr val="tx1"/>
                </a:solidFill>
              </a:rPr>
              <a:t>«</a:t>
            </a:r>
            <a:r>
              <a:rPr lang="en-US" altLang="en-US" sz="1500" dirty="0">
                <a:solidFill>
                  <a:schemeClr val="tx1"/>
                </a:solidFill>
              </a:rPr>
              <a:t>lorem ipsum</a:t>
            </a:r>
            <a:r>
              <a:rPr lang="en-US" altLang="en-US" sz="1500" dirty="0">
                <a:solidFill>
                  <a:schemeClr val="tx1"/>
                </a:solidFill>
              </a:rPr>
              <a:t>»</a:t>
            </a:r>
            <a:r>
              <a:rPr lang="en-US" altLang="en-US" sz="1500" dirty="0">
                <a:solidFill>
                  <a:schemeClr val="tx1"/>
                </a:solidFill>
              </a:rPr>
              <a:t> текст (можна використовувати фіксований набір слів/фраз і обрізати/дописувати до потрібної довжини),</a:t>
            </a:r>
            <a:endParaRPr lang="en-US" altLang="en-US" sz="1500" dirty="0">
              <a:solidFill>
                <a:schemeClr val="tx1"/>
              </a:solidFill>
            </a:endParaRPr>
          </a:p>
          <a:p>
            <a:pPr marL="285750" indent="-285750">
              <a:buFont typeface="Arial" panose="020B0604020202020204" pitchFamily="34" charset="0"/>
              <a:buChar char="•"/>
            </a:pPr>
            <a:r>
              <a:rPr lang="en-US" altLang="en-US" sz="1500" b="1" dirty="0">
                <a:solidFill>
                  <a:schemeClr val="tx1"/>
                </a:solidFill>
              </a:rPr>
              <a:t>CatMemeGenerator </a:t>
            </a:r>
            <a:r>
              <a:rPr lang="en-US" altLang="en-US" sz="1500" dirty="0">
                <a:solidFill>
                  <a:schemeClr val="tx1"/>
                </a:solidFill>
              </a:rPr>
              <a:t>— генерує короткі смішні фрази про котів,</a:t>
            </a:r>
            <a:endParaRPr lang="en-US" altLang="en-US" sz="1500" dirty="0">
              <a:solidFill>
                <a:schemeClr val="tx1"/>
              </a:solidFill>
            </a:endParaRPr>
          </a:p>
          <a:p>
            <a:pPr marL="285750" indent="-285750">
              <a:buFont typeface="Arial" panose="020B0604020202020204" pitchFamily="34" charset="0"/>
              <a:buChar char="•"/>
            </a:pPr>
            <a:r>
              <a:rPr lang="en-US" altLang="en-US" sz="1500" b="1" dirty="0">
                <a:solidFill>
                  <a:schemeClr val="tx1"/>
                </a:solidFill>
              </a:rPr>
              <a:t>DadJokeGenerator </a:t>
            </a:r>
            <a:r>
              <a:rPr lang="en-US" altLang="en-US" sz="1500" dirty="0">
                <a:solidFill>
                  <a:schemeClr val="tx1"/>
                </a:solidFill>
              </a:rPr>
              <a:t>— повертає класичні татові жарти</a:t>
            </a:r>
            <a:r>
              <a:rPr lang="ru-RU" altLang="en-US" sz="1500" dirty="0">
                <a:solidFill>
                  <a:schemeClr val="tx1"/>
                </a:solidFill>
              </a:rPr>
              <a:t>,</a:t>
            </a:r>
            <a:endParaRPr lang="en-US" altLang="en-US" sz="1500" dirty="0">
              <a:solidFill>
                <a:schemeClr val="tx1"/>
              </a:solidFill>
            </a:endParaRPr>
          </a:p>
          <a:p>
            <a:pPr marL="285750" indent="-285750">
              <a:buFont typeface="Arial" panose="020B0604020202020204" pitchFamily="34" charset="0"/>
              <a:buChar char="•"/>
            </a:pPr>
            <a:r>
              <a:rPr lang="en-US" altLang="en-US" sz="1500" b="1" dirty="0">
                <a:solidFill>
                  <a:schemeClr val="tx1"/>
                </a:solidFill>
              </a:rPr>
              <a:t>AngryTweetGenerator </a:t>
            </a:r>
            <a:r>
              <a:rPr lang="en-US" altLang="en-US" sz="1500" dirty="0">
                <a:solidFill>
                  <a:schemeClr val="tx1"/>
                </a:solidFill>
              </a:rPr>
              <a:t>— генерує гнівні твіти</a:t>
            </a:r>
            <a:endParaRPr lang="en-US" altLang="en-US" sz="1500" dirty="0">
              <a:solidFill>
                <a:schemeClr val="tx1"/>
              </a:solidFill>
            </a:endParaRPr>
          </a:p>
          <a:p>
            <a:pPr marL="0" indent="0">
              <a:buNone/>
            </a:pPr>
            <a:r>
              <a:rPr lang="en-US" altLang="en-US" sz="1500" dirty="0">
                <a:solidFill>
                  <a:schemeClr val="tx1"/>
                </a:solidFill>
              </a:rPr>
              <a:t>У кожному класі реалізуйте метод generate(length: int) так, щоб він повертав текст приблизно бажаної довжини (можна обрізати або додавати крапки/коми</a:t>
            </a:r>
            <a:r>
              <a:rPr lang="ru-RU" altLang="en-US" sz="1500" dirty="0">
                <a:solidFill>
                  <a:schemeClr val="tx1"/>
                </a:solidFill>
              </a:rPr>
              <a:t> </a:t>
            </a:r>
            <a:r>
              <a:rPr lang="en-US" altLang="en-US" sz="1500" dirty="0">
                <a:solidFill>
                  <a:schemeClr val="tx1"/>
                </a:solidFill>
              </a:rPr>
              <a:t>для підгонки). Напишіть функцію show_content(generators: list[ContentGenerator], length: int), </a:t>
            </a:r>
            <a:r>
              <a:rPr lang="ru-RU" altLang="en-US" sz="1500" dirty="0">
                <a:solidFill>
                  <a:schemeClr val="tx1"/>
                </a:solidFill>
              </a:rPr>
              <a:t>                 </a:t>
            </a:r>
            <a:r>
              <a:rPr lang="en-US" altLang="en-US" sz="1500" dirty="0">
                <a:solidFill>
                  <a:schemeClr val="tx1"/>
                </a:solidFill>
              </a:rPr>
              <a:t>яка для кожного генератора викликає generate(length) і виводить результат</a:t>
            </a:r>
            <a:r>
              <a:rPr lang="ru-RU" sz="1500" dirty="0">
                <a:solidFill>
                  <a:schemeClr val="tx1"/>
                </a:solidFill>
              </a:rPr>
              <a:t>. </a:t>
            </a:r>
            <a:r>
              <a:rPr lang="en-US" altLang="en-US" sz="1500" dirty="0">
                <a:solidFill>
                  <a:schemeClr val="tx1"/>
                </a:solidFill>
              </a:rPr>
              <a:t>Додайте </a:t>
            </a:r>
            <a:r>
              <a:rPr lang="ru-RU" altLang="en-US" sz="1500" dirty="0">
                <a:solidFill>
                  <a:schemeClr val="tx1"/>
                </a:solidFill>
              </a:rPr>
              <a:t>      </a:t>
            </a:r>
            <a:r>
              <a:rPr lang="en-US" altLang="en-US" sz="1500" dirty="0">
                <a:solidFill>
                  <a:schemeClr val="tx1"/>
                </a:solidFill>
              </a:rPr>
              <a:t>до списку 4–5 об’єктів різних генераторів і викличте функцію з різними значеннями length (наприклад, 30, 80, 200). Спробуйте створити клас, який успадковується </a:t>
            </a:r>
            <a:r>
              <a:rPr lang="ru-RU" altLang="en-US" sz="1500" dirty="0">
                <a:solidFill>
                  <a:schemeClr val="tx1"/>
                </a:solidFill>
              </a:rPr>
              <a:t>                         </a:t>
            </a:r>
            <a:r>
              <a:rPr lang="en-US" altLang="en-US" sz="1500" dirty="0">
                <a:solidFill>
                  <a:schemeClr val="tx1"/>
                </a:solidFill>
              </a:rPr>
              <a:t>від ContentGenerator, але не реалізує метод generate — покажіть, що Python видасть </a:t>
            </a:r>
            <a:r>
              <a:rPr lang="ru-RU" altLang="en-US" sz="1500" dirty="0">
                <a:solidFill>
                  <a:schemeClr val="tx1"/>
                </a:solidFill>
              </a:rPr>
              <a:t>	</a:t>
            </a:r>
            <a:r>
              <a:rPr lang="en-US" altLang="en-US" sz="1500" dirty="0">
                <a:solidFill>
                  <a:schemeClr val="tx1"/>
                </a:solidFill>
              </a:rPr>
              <a:t>TypeError при спробі створити екземпляр такого класу.</a:t>
            </a:r>
            <a:endParaRPr lang="en-US" altLang="en-US" sz="1500" dirty="0">
              <a:solidFill>
                <a:schemeClr val="tx1"/>
              </a:solidFill>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uk-UA" altLang="en-US" dirty="0"/>
              <a:t>Протоколи</a:t>
            </a:r>
            <a:endParaRPr lang="uk-UA" altLang="en-US" dirty="0"/>
          </a:p>
        </p:txBody>
      </p:sp>
      <p:sp>
        <p:nvSpPr>
          <p:cNvPr id="25602" name="Объект 2"/>
          <p:cNvSpPr>
            <a:spLocks noGrp="1"/>
          </p:cNvSpPr>
          <p:nvPr>
            <p:ph idx="1"/>
          </p:nvPr>
        </p:nvSpPr>
        <p:spPr>
          <a:xfrm>
            <a:off x="468630" y="1386205"/>
            <a:ext cx="8081010" cy="4419600"/>
          </a:xfrm>
        </p:spPr>
        <p:txBody>
          <a:bodyPr vert="horz" wrap="square" lIns="91440" tIns="45720" rIns="91440" bIns="45720" anchor="t" anchorCtr="0"/>
          <a:p>
            <a:pPr marL="0" indent="0">
              <a:buNone/>
            </a:pPr>
            <a:r>
              <a:rPr lang="en-US" altLang="en-US" sz="2000" b="1" dirty="0">
                <a:solidFill>
                  <a:schemeClr val="tx1"/>
                </a:solidFill>
              </a:rPr>
              <a:t>Протоколи </a:t>
            </a:r>
            <a:r>
              <a:rPr lang="en-US" altLang="en-US" sz="2000" dirty="0">
                <a:solidFill>
                  <a:schemeClr val="tx1"/>
                </a:solidFill>
              </a:rPr>
              <a:t>у Python (з модуля typing, з'явилися в 3.8+) — </a:t>
            </a:r>
            <a:r>
              <a:rPr lang="uk-UA" altLang="en-US" sz="2000" dirty="0">
                <a:solidFill>
                  <a:schemeClr val="tx1"/>
                </a:solidFill>
              </a:rPr>
              <a:t>              </a:t>
            </a:r>
            <a:r>
              <a:rPr lang="en-US" altLang="en-US" sz="2000" dirty="0">
                <a:solidFill>
                  <a:schemeClr val="tx1"/>
                </a:solidFill>
              </a:rPr>
              <a:t>це найсучасніший і найгнучкіший спосіб описати "duck typing" </a:t>
            </a:r>
            <a:r>
              <a:rPr lang="uk-UA" altLang="en-US" sz="2000" dirty="0">
                <a:solidFill>
                  <a:schemeClr val="tx1"/>
                </a:solidFill>
              </a:rPr>
              <a:t>         </a:t>
            </a:r>
            <a:r>
              <a:rPr lang="en-US" altLang="en-US" sz="2000" dirty="0">
                <a:solidFill>
                  <a:schemeClr val="tx1"/>
                </a:solidFill>
              </a:rPr>
              <a:t>з підтримкою статичної типізації (mypy, pyright тощо). На відміну від ABC, протокол — це чистий структурний тип: він не вимагає явного успадкування, а лише наявності потрібних методів</a:t>
            </a:r>
            <a:r>
              <a:rPr lang="uk-UA" altLang="en-US" sz="2000" dirty="0">
                <a:solidFill>
                  <a:schemeClr val="tx1"/>
                </a:solidFill>
              </a:rPr>
              <a:t> </a:t>
            </a:r>
            <a:r>
              <a:rPr lang="en-US" altLang="en-US" sz="2000" dirty="0">
                <a:solidFill>
                  <a:schemeClr val="tx1"/>
                </a:solidFill>
              </a:rPr>
              <a:t>/</a:t>
            </a:r>
            <a:r>
              <a:rPr lang="uk-UA" altLang="en-US" sz="2000" dirty="0">
                <a:solidFill>
                  <a:schemeClr val="tx1"/>
                </a:solidFill>
              </a:rPr>
              <a:t> </a:t>
            </a:r>
            <a:r>
              <a:rPr lang="en-US" altLang="en-US" sz="2000" dirty="0">
                <a:solidFill>
                  <a:schemeClr val="tx1"/>
                </a:solidFill>
              </a:rPr>
              <a:t>атрибутів із відповідними сигнатурами. Клас вважається сумісним з протоколом автоматично, якщо він реалізує всі методи, зазначені в протоколі (structural subtyping). Це дозволяє писати дуже чистий, неінвазивний код: бібліотеки та фреймворки </a:t>
            </a:r>
            <a:r>
              <a:rPr lang="uk-UA" altLang="en-US" sz="2000" dirty="0">
                <a:solidFill>
                  <a:schemeClr val="tx1"/>
                </a:solidFill>
              </a:rPr>
              <a:t>                </a:t>
            </a:r>
            <a:r>
              <a:rPr lang="en-US" altLang="en-US" sz="2000" dirty="0">
                <a:solidFill>
                  <a:schemeClr val="tx1"/>
                </a:solidFill>
              </a:rPr>
              <a:t>не змушують класи успадковуватися від чогось конкретного, при цьому type-checker усе одно перевіряє контракт на етапі розробки. У поєднанні з @runtime_checkable можна робити isinstance() перевірки в runtime</a:t>
            </a:r>
            <a:r>
              <a:rPr lang="uk-UA" altLang="en-US" sz="2000" dirty="0">
                <a:solidFill>
                  <a:schemeClr val="tx1"/>
                </a:solidFill>
              </a:rPr>
              <a:t>.</a:t>
            </a:r>
            <a:endParaRPr lang="uk-UA" altLang="en-US" sz="2000" dirty="0">
              <a:solidFill>
                <a:schemeClr val="tx1"/>
              </a:solidFill>
            </a:endParaRPr>
          </a:p>
          <a:p>
            <a:pPr marL="0" indent="0" algn="ctr">
              <a:buNone/>
            </a:pPr>
            <a:r>
              <a:rPr lang="en-US" altLang="en-US" sz="2300" b="1" dirty="0">
                <a:solidFill>
                  <a:schemeClr val="tx1"/>
                </a:solidFill>
                <a:hlinkClick r:id="rId1" action="ppaction://hlinkfile"/>
              </a:rPr>
              <a:t>https://gist.github.com/sunmeat/5be4da65fe8da80fe61f410bd8d10481</a:t>
            </a:r>
            <a:endParaRPr lang="en-US" altLang="en-US" sz="2300" b="1" dirty="0">
              <a:solidFill>
                <a:schemeClr val="tx1"/>
              </a:solidFill>
              <a:hlinkClick r:id="rId1" action="ppaction://hlinkfile"/>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ru-RU" altLang="ru-RU" dirty="0"/>
              <a:t>Таблиц</a:t>
            </a:r>
            <a:r>
              <a:rPr lang="uk-UA" altLang="ru-RU" dirty="0"/>
              <a:t>я</a:t>
            </a:r>
            <a:r>
              <a:rPr lang="ru-RU" altLang="ru-RU" dirty="0"/>
              <a:t> в</a:t>
            </a:r>
            <a:r>
              <a:rPr lang="uk-UA" altLang="ru-RU" dirty="0"/>
              <a:t>і</a:t>
            </a:r>
            <a:r>
              <a:rPr lang="ru-RU" altLang="ru-RU" dirty="0"/>
              <a:t>ртуальных метод</a:t>
            </a:r>
            <a:r>
              <a:rPr lang="uk-UA" altLang="ru-RU" dirty="0"/>
              <a:t>і</a:t>
            </a:r>
            <a:r>
              <a:rPr lang="ru-RU" altLang="ru-RU" dirty="0"/>
              <a:t>в</a:t>
            </a:r>
            <a:endParaRPr lang="ru-RU" altLang="ru-RU" dirty="0"/>
          </a:p>
        </p:txBody>
      </p:sp>
      <p:sp>
        <p:nvSpPr>
          <p:cNvPr id="25602" name="Объект 2"/>
          <p:cNvSpPr>
            <a:spLocks noGrp="1"/>
          </p:cNvSpPr>
          <p:nvPr>
            <p:ph idx="1"/>
          </p:nvPr>
        </p:nvSpPr>
        <p:spPr>
          <a:xfrm>
            <a:off x="468313" y="1385888"/>
            <a:ext cx="8207375" cy="4419600"/>
          </a:xfrm>
        </p:spPr>
        <p:txBody>
          <a:bodyPr vert="horz" wrap="square" lIns="91440" tIns="45720" rIns="91440" bIns="45720" anchor="t" anchorCtr="0"/>
          <a:p>
            <a:pPr marL="0" indent="0">
              <a:buNone/>
            </a:pPr>
            <a:r>
              <a:rPr lang="en-US" altLang="en-US" sz="1600" dirty="0">
                <a:solidFill>
                  <a:schemeClr val="tx1"/>
                </a:solidFill>
              </a:rPr>
              <a:t>У Python </a:t>
            </a:r>
            <a:r>
              <a:rPr lang="en-US" altLang="en-US" sz="1600" u="sng" dirty="0">
                <a:solidFill>
                  <a:schemeClr val="tx1"/>
                </a:solidFill>
              </a:rPr>
              <a:t>немає таблиці віртуальних методів</a:t>
            </a:r>
            <a:r>
              <a:rPr lang="en-US" altLang="en-US" sz="1600" dirty="0">
                <a:solidFill>
                  <a:schemeClr val="tx1"/>
                </a:solidFill>
              </a:rPr>
              <a:t> (vtable / virtual method table) у тому вигляді, як у JVM чи в компіляторах C++.</a:t>
            </a:r>
            <a:r>
              <a:rPr lang="uk-UA" altLang="en-US" sz="1600" dirty="0">
                <a:solidFill>
                  <a:schemeClr val="tx1"/>
                </a:solidFill>
              </a:rPr>
              <a:t> </a:t>
            </a:r>
            <a:r>
              <a:rPr lang="en-US" altLang="en-US" sz="1600" dirty="0">
                <a:solidFill>
                  <a:schemeClr val="tx1"/>
                </a:solidFill>
              </a:rPr>
              <a:t>У Python методи — це просто атрибути класу (словник __dict__ або спеціалізовані слоти в CPython).</a:t>
            </a:r>
            <a:endParaRPr lang="en-US" altLang="en-US" sz="1600" dirty="0">
              <a:solidFill>
                <a:schemeClr val="tx1"/>
              </a:solidFill>
            </a:endParaRPr>
          </a:p>
          <a:p>
            <a:pPr marL="0" indent="0">
              <a:buNone/>
            </a:pPr>
            <a:r>
              <a:rPr lang="en-US" altLang="en-US" sz="1600" dirty="0">
                <a:solidFill>
                  <a:schemeClr val="tx1"/>
                </a:solidFill>
              </a:rPr>
              <a:t>Кожен клас має свій словник методів, а пошук методу (method lookup) відбувається динамічно в runtime за допомогою алгоритму MRO (Method Resolution Order) + кешування в останніх версіях CPython.</a:t>
            </a:r>
            <a:endParaRPr lang="en-US" altLang="en-US" sz="1600" dirty="0">
              <a:solidFill>
                <a:schemeClr val="tx1"/>
              </a:solidFill>
            </a:endParaRPr>
          </a:p>
          <a:p>
            <a:pPr marL="0" indent="0">
              <a:buNone/>
            </a:pPr>
            <a:r>
              <a:rPr lang="en-US" altLang="en-US" sz="1600" dirty="0">
                <a:solidFill>
                  <a:schemeClr val="tx1"/>
                </a:solidFill>
              </a:rPr>
              <a:t>Звичайний виклик методу obj.method() це атрибутний пошук:</a:t>
            </a:r>
            <a:endParaRPr lang="en-US" altLang="en-US" sz="1600" dirty="0">
              <a:solidFill>
                <a:schemeClr val="tx1"/>
              </a:solidFill>
            </a:endParaRPr>
          </a:p>
          <a:p>
            <a:pPr marL="285750" indent="-285750">
              <a:buFont typeface="Arial" panose="020B0604020202020204" pitchFamily="34" charset="0"/>
              <a:buChar char="•"/>
            </a:pPr>
            <a:r>
              <a:rPr lang="en-US" altLang="en-US" sz="1600" dirty="0">
                <a:solidFill>
                  <a:schemeClr val="tx1"/>
                </a:solidFill>
              </a:rPr>
              <a:t>Шукає в __dict__ екземпляра</a:t>
            </a:r>
            <a:endParaRPr lang="en-US" altLang="en-US" sz="1600" dirty="0">
              <a:solidFill>
                <a:schemeClr val="tx1"/>
              </a:solidFill>
            </a:endParaRPr>
          </a:p>
          <a:p>
            <a:pPr marL="285750" indent="-285750">
              <a:buFont typeface="Arial" panose="020B0604020202020204" pitchFamily="34" charset="0"/>
              <a:buChar char="•"/>
            </a:pPr>
            <a:r>
              <a:rPr lang="en-US" altLang="en-US" sz="1600" dirty="0">
                <a:solidFill>
                  <a:schemeClr val="tx1"/>
                </a:solidFill>
              </a:rPr>
              <a:t>Якщо не знайшов — йде по MRO (Method Resolution Order) класів</a:t>
            </a:r>
            <a:endParaRPr lang="en-US" altLang="en-US" sz="1600" dirty="0">
              <a:solidFill>
                <a:schemeClr val="tx1"/>
              </a:solidFill>
            </a:endParaRPr>
          </a:p>
          <a:p>
            <a:pPr marL="285750" indent="-285750">
              <a:buFont typeface="Arial" panose="020B0604020202020204" pitchFamily="34" charset="0"/>
              <a:buChar char="•"/>
            </a:pPr>
            <a:r>
              <a:rPr lang="en-US" altLang="en-US" sz="1600" dirty="0">
                <a:solidFill>
                  <a:schemeClr val="tx1"/>
                </a:solidFill>
              </a:rPr>
              <a:t>Якщо знайшов — отримує функцію </a:t>
            </a:r>
            <a:r>
              <a:rPr lang="uk-UA" altLang="en-US" sz="1600" dirty="0">
                <a:solidFill>
                  <a:schemeClr val="tx1"/>
                </a:solidFill>
              </a:rPr>
              <a:t>та</a:t>
            </a:r>
            <a:r>
              <a:rPr lang="en-US" altLang="en-US" sz="1600" dirty="0">
                <a:solidFill>
                  <a:schemeClr val="tx1"/>
                </a:solidFill>
              </a:rPr>
              <a:t> прив’язує її до об’єкта (створює bound method)</a:t>
            </a:r>
            <a:r>
              <a:rPr lang="uk-UA" altLang="en-US" sz="1600" dirty="0">
                <a:solidFill>
                  <a:schemeClr val="tx1"/>
                </a:solidFill>
              </a:rPr>
              <a:t>, а потім </a:t>
            </a:r>
            <a:r>
              <a:rPr lang="en-US" altLang="en-US" sz="1600" dirty="0">
                <a:solidFill>
                  <a:schemeClr val="tx1"/>
                </a:solidFill>
              </a:rPr>
              <a:t>викликає</a:t>
            </a:r>
            <a:endParaRPr lang="en-US" altLang="en-US" sz="1600" dirty="0">
              <a:solidFill>
                <a:schemeClr val="tx1"/>
              </a:solidFill>
            </a:endParaRPr>
          </a:p>
          <a:p>
            <a:pPr marL="0" indent="0">
              <a:buNone/>
            </a:pPr>
            <a:r>
              <a:rPr lang="en-US" altLang="en-US" sz="1600" dirty="0">
                <a:solidFill>
                  <a:schemeClr val="tx1"/>
                </a:solidFill>
              </a:rPr>
              <a:t>У CPython є кешування, щоб уникати повного </a:t>
            </a:r>
            <a:r>
              <a:rPr lang="uk-UA" altLang="en-US" sz="1600" dirty="0">
                <a:solidFill>
                  <a:schemeClr val="tx1"/>
                </a:solidFill>
              </a:rPr>
              <a:t>перегляду </a:t>
            </a:r>
            <a:r>
              <a:rPr lang="en-US" altLang="en-US" sz="1600" dirty="0">
                <a:solidFill>
                  <a:schemeClr val="tx1"/>
                </a:solidFill>
              </a:rPr>
              <a:t>щоразу.</a:t>
            </a:r>
            <a:endParaRPr lang="en-US" altLang="en-US" sz="1600" dirty="0">
              <a:solidFill>
                <a:schemeClr val="tx1"/>
              </a:solidFill>
            </a:endParaRPr>
          </a:p>
          <a:p>
            <a:pPr marL="0" indent="0">
              <a:buNone/>
            </a:pPr>
            <a:r>
              <a:rPr lang="en-US" altLang="en-US" sz="1600" dirty="0">
                <a:solidFill>
                  <a:schemeClr val="tx1"/>
                </a:solidFill>
              </a:rPr>
              <a:t>Немає фіксованої таблиці з індексами — бо в Python можна динамічно додавати/видаляти методи, є метакласи, дескриптори, __getattribute__ тощо.</a:t>
            </a:r>
            <a:endParaRPr lang="en-US" altLang="en-US" sz="1600" dirty="0">
              <a:solidFill>
                <a:schemeClr val="tx1"/>
              </a:solidFil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Заголовок 1"/>
          <p:cNvSpPr>
            <a:spLocks noGrp="1"/>
          </p:cNvSpPr>
          <p:nvPr>
            <p:ph type="title"/>
          </p:nvPr>
        </p:nvSpPr>
        <p:spPr/>
        <p:txBody>
          <a:bodyPr vert="horz" wrap="square" lIns="91440" tIns="45720" rIns="91440" bIns="45720" anchor="ctr" anchorCtr="0"/>
          <a:p>
            <a:r>
              <a:rPr lang="uk-UA" altLang="ru-RU" dirty="0"/>
              <a:t>Заборона перевизначення</a:t>
            </a:r>
            <a:endParaRPr lang="uk-UA" altLang="ru-RU" dirty="0"/>
          </a:p>
        </p:txBody>
      </p:sp>
      <p:pic>
        <p:nvPicPr>
          <p:cNvPr id="3" name="Picture 2"/>
          <p:cNvPicPr>
            <a:picLocks noChangeAspect="1"/>
          </p:cNvPicPr>
          <p:nvPr/>
        </p:nvPicPr>
        <p:blipFill>
          <a:blip r:embed="rId1"/>
          <a:stretch>
            <a:fillRect/>
          </a:stretch>
        </p:blipFill>
        <p:spPr>
          <a:xfrm>
            <a:off x="26670" y="1043940"/>
            <a:ext cx="6459220" cy="5778500"/>
          </a:xfrm>
          <a:prstGeom prst="rect">
            <a:avLst/>
          </a:prstGeom>
        </p:spPr>
      </p:pic>
      <p:pic>
        <p:nvPicPr>
          <p:cNvPr id="2" name="Picture 1"/>
          <p:cNvPicPr>
            <a:picLocks noChangeAspect="1"/>
          </p:cNvPicPr>
          <p:nvPr/>
        </p:nvPicPr>
        <p:blipFill>
          <a:blip r:embed="rId2"/>
          <a:stretch>
            <a:fillRect/>
          </a:stretch>
        </p:blipFill>
        <p:spPr>
          <a:xfrm>
            <a:off x="5154930" y="1624965"/>
            <a:ext cx="4010660" cy="2243455"/>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Заголовок 1"/>
          <p:cNvSpPr>
            <a:spLocks noGrp="1"/>
          </p:cNvSpPr>
          <p:nvPr>
            <p:ph type="title"/>
          </p:nvPr>
        </p:nvSpPr>
        <p:spPr/>
        <p:txBody>
          <a:bodyPr vert="horz" wrap="square" lIns="91440" tIns="45720" rIns="91440" bIns="45720" anchor="ctr" anchorCtr="0"/>
          <a:p>
            <a:r>
              <a:rPr lang="ru-RU" altLang="ru-RU" dirty="0"/>
              <a:t>При</a:t>
            </a:r>
            <a:r>
              <a:rPr lang="uk-UA" altLang="ru-RU" dirty="0"/>
              <a:t>клад на абстрактні класи</a:t>
            </a:r>
            <a:endParaRPr lang="uk-UA" altLang="ru-RU" dirty="0"/>
          </a:p>
        </p:txBody>
      </p:sp>
      <p:sp>
        <p:nvSpPr>
          <p:cNvPr id="16386" name="Объект 2"/>
          <p:cNvSpPr>
            <a:spLocks noGrp="1"/>
          </p:cNvSpPr>
          <p:nvPr>
            <p:ph idx="1"/>
          </p:nvPr>
        </p:nvSpPr>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https://gist.github.com/sunmeat/eb2a2e7e4622a3bee9aa4f7021afcd13</a:t>
            </a:r>
            <a:endParaRPr lang="en-US" altLang="en-US" b="1"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3" name="Заголовок 1"/>
          <p:cNvSpPr>
            <a:spLocks noGrp="1"/>
          </p:cNvSpPr>
          <p:nvPr>
            <p:ph type="title"/>
          </p:nvPr>
        </p:nvSpPr>
        <p:spPr/>
        <p:txBody>
          <a:bodyPr vert="horz" wrap="square" lIns="91440" tIns="45720" rIns="91440" bIns="45720" anchor="ctr" anchorCtr="0"/>
          <a:p>
            <a:r>
              <a:rPr lang="uk-UA" altLang="ru-RU" dirty="0"/>
              <a:t>Інтерфейси</a:t>
            </a:r>
            <a:endParaRPr lang="uk-UA" altLang="ru-RU" dirty="0"/>
          </a:p>
        </p:txBody>
      </p:sp>
      <p:sp>
        <p:nvSpPr>
          <p:cNvPr id="18434" name="Объект 2"/>
          <p:cNvSpPr>
            <a:spLocks noGrp="1"/>
          </p:cNvSpPr>
          <p:nvPr>
            <p:ph idx="1"/>
          </p:nvPr>
        </p:nvSpPr>
        <p:spPr>
          <a:xfrm>
            <a:off x="474345" y="1395730"/>
            <a:ext cx="8068310" cy="4419600"/>
          </a:xfrm>
        </p:spPr>
        <p:txBody>
          <a:bodyPr vert="horz" wrap="square" lIns="91440" tIns="45720" rIns="91440" bIns="45720" anchor="t" anchorCtr="0"/>
          <a:p>
            <a:pPr marL="0" indent="0">
              <a:buNone/>
            </a:pPr>
            <a:r>
              <a:rPr lang="uk-UA" altLang="en-US" sz="2200" dirty="0"/>
              <a:t>У</a:t>
            </a:r>
            <a:r>
              <a:rPr lang="en-US" altLang="en-US" sz="2200" dirty="0"/>
              <a:t> Python </a:t>
            </a:r>
            <a:r>
              <a:rPr lang="en-US" altLang="en-US" sz="2200" u="sng" dirty="0"/>
              <a:t>немає прямої аналогії C#-інтерфейсу</a:t>
            </a:r>
            <a:r>
              <a:rPr lang="en-US" altLang="en-US" sz="2200" dirty="0"/>
              <a:t> — спеціальної синтаксичної конструкції, яка забороняє      будь-які поля/властивості та містить тільки сигнатури методів (без реалізації).</a:t>
            </a:r>
            <a:endParaRPr lang="en-US" altLang="en-US" sz="2200" dirty="0"/>
          </a:p>
          <a:p>
            <a:pPr marL="0" indent="0">
              <a:buNone/>
            </a:pPr>
            <a:r>
              <a:rPr lang="en-US" altLang="en-US" sz="2200" dirty="0"/>
              <a:t>Python — динамічна мова з duck typing у своїй основі. Замість </a:t>
            </a:r>
            <a:r>
              <a:rPr lang="en-US" altLang="en-US" sz="2200" dirty="0"/>
              <a:t>«</a:t>
            </a:r>
            <a:r>
              <a:rPr lang="en-US" altLang="en-US" sz="2200" dirty="0"/>
              <a:t>чи належить об’єкт до певного типу/інтерфейсу</a:t>
            </a:r>
            <a:r>
              <a:rPr lang="en-US" altLang="en-US" sz="2200" dirty="0"/>
              <a:t>»</a:t>
            </a:r>
            <a:r>
              <a:rPr lang="en-US" altLang="en-US" sz="2200" dirty="0"/>
              <a:t> (nominal typing, як у C#) тут працює принцип:</a:t>
            </a:r>
            <a:endParaRPr lang="en-US" altLang="en-US" sz="2200" dirty="0"/>
          </a:p>
          <a:p>
            <a:pPr marL="0" indent="0">
              <a:buNone/>
            </a:pPr>
            <a:r>
              <a:rPr lang="en-US" altLang="en-US" sz="2200" dirty="0"/>
              <a:t>«</a:t>
            </a:r>
            <a:r>
              <a:rPr lang="en-US" altLang="en-US" sz="2200" dirty="0"/>
              <a:t>якщо об’єкт має потрібні методи з потрібними сигнатурами — значить він підходить</a:t>
            </a:r>
            <a:r>
              <a:rPr lang="en-US" altLang="en-US" sz="2200" dirty="0"/>
              <a:t>»</a:t>
            </a:r>
            <a:r>
              <a:rPr lang="en-US" altLang="en-US" sz="2200" dirty="0"/>
              <a:t> (structural typing / duck typing).</a:t>
            </a:r>
            <a:endParaRPr lang="en-US" altLang="en-US" sz="2200" dirty="0"/>
          </a:p>
          <a:p>
            <a:pPr marL="0" indent="0">
              <a:buNone/>
            </a:pPr>
            <a:r>
              <a:rPr lang="en-US" altLang="en-US" sz="2200" dirty="0"/>
              <a:t>Тому в мові навмисно не додавали окреме ключове слово interface, бо воно б додавало зайвий церемоніал                      і обмежувало гнучкість, яку Python цінує понад усе.</a:t>
            </a:r>
            <a:endParaRPr lang="en-US" altLang="en-US" sz="22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Заголовок 1"/>
          <p:cNvSpPr>
            <a:spLocks noGrp="1"/>
          </p:cNvSpPr>
          <p:nvPr>
            <p:ph type="title"/>
          </p:nvPr>
        </p:nvSpPr>
        <p:spPr/>
        <p:txBody>
          <a:bodyPr vert="horz" wrap="square" lIns="91440" tIns="45720" rIns="91440" bIns="45720" anchor="ctr" anchorCtr="0"/>
          <a:p>
            <a:r>
              <a:rPr lang="uk-UA" altLang="ru-RU" dirty="0"/>
              <a:t>Альтернатива інтерфейсам</a:t>
            </a:r>
            <a:endParaRPr lang="uk-UA" altLang="ru-RU" dirty="0"/>
          </a:p>
        </p:txBody>
      </p:sp>
      <p:sp>
        <p:nvSpPr>
          <p:cNvPr id="23554" name="Объект 2"/>
          <p:cNvSpPr>
            <a:spLocks noGrp="1"/>
          </p:cNvSpPr>
          <p:nvPr>
            <p:ph idx="1"/>
          </p:nvPr>
        </p:nvSpPr>
        <p:spPr>
          <a:xfrm>
            <a:off x="463550" y="2986088"/>
            <a:ext cx="7924800" cy="4419600"/>
          </a:xfrm>
        </p:spPr>
        <p:txBody>
          <a:bodyPr vert="horz" wrap="square" lIns="91440" tIns="45720" rIns="91440" bIns="45720" anchor="t" anchorCtr="0"/>
          <a:p>
            <a:pPr marL="0" indent="0" algn="ctr">
              <a:buNone/>
            </a:pPr>
            <a:r>
              <a:rPr lang="en-US" altLang="en-US" b="1" dirty="0">
                <a:hlinkClick r:id="rId1" action="ppaction://hlinkfile"/>
              </a:rPr>
              <a:t>https://gist.github.com/sunmeat/0a20754428ac752be56356b48cf6b4dc</a:t>
            </a:r>
            <a:endParaRPr lang="en-US" altLang="en-US" b="1"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Заголовок 1"/>
          <p:cNvSpPr>
            <a:spLocks noGrp="1"/>
          </p:cNvSpPr>
          <p:nvPr>
            <p:ph type="title"/>
          </p:nvPr>
        </p:nvSpPr>
        <p:spPr/>
        <p:txBody>
          <a:bodyPr vert="horz" wrap="square" lIns="91440" tIns="45720" rIns="91440" bIns="45720" anchor="ctr" anchorCtr="0"/>
          <a:p>
            <a:r>
              <a:rPr lang="uk-UA" altLang="ru-RU" dirty="0"/>
              <a:t>Поняття вкладеного класу</a:t>
            </a:r>
            <a:endParaRPr lang="uk-UA" altLang="ru-RU" dirty="0"/>
          </a:p>
        </p:txBody>
      </p:sp>
      <p:sp>
        <p:nvSpPr>
          <p:cNvPr id="4099" name="Объект 2"/>
          <p:cNvSpPr>
            <a:spLocks noGrp="1"/>
          </p:cNvSpPr>
          <p:nvPr>
            <p:ph idx="1"/>
          </p:nvPr>
        </p:nvSpPr>
        <p:spPr>
          <a:xfrm>
            <a:off x="561975" y="1386205"/>
            <a:ext cx="8047355" cy="4419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en-US" altLang="en-US" b="0" i="0" u="none" strike="noStrike" kern="0" cap="none" spc="0" normalizeH="0" baseline="0" noProof="0" dirty="0" smtClean="0">
                <a:ln>
                  <a:noFill/>
                </a:ln>
                <a:solidFill>
                  <a:schemeClr val="tx1"/>
                </a:solidFill>
                <a:effectLst/>
                <a:uLnTx/>
                <a:uFillTx/>
                <a:latin typeface="+mn-lt"/>
                <a:ea typeface="+mn-ea"/>
                <a:cs typeface="+mn-cs"/>
              </a:rPr>
              <a:t>У Python усі класи, визначені всередині іншого класу, називаються вкладеними класами (nested classes).</a:t>
            </a:r>
            <a:endParaRPr kumimoji="0" lang="en-US" altLang="en-US"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endParaRPr kumimoji="0" lang="en-US" altLang="en-US"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ctr"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en-US" altLang="en-US" b="1" i="0" u="none" strike="noStrike" kern="0" cap="none" spc="0" normalizeH="0" baseline="0" noProof="0" dirty="0" smtClean="0">
                <a:ln>
                  <a:noFill/>
                </a:ln>
                <a:solidFill>
                  <a:schemeClr val="tx1"/>
                </a:solidFill>
                <a:effectLst/>
                <a:uLnTx/>
                <a:uFillTx/>
                <a:latin typeface="+mn-lt"/>
                <a:ea typeface="+mn-ea"/>
                <a:cs typeface="+mn-cs"/>
                <a:hlinkClick r:id="rId1" action="ppaction://hlinkfile"/>
              </a:rPr>
              <a:t>https://gist.github.com/sunmeat/9b668ddfc11e42c3c5a6b0531e4a4529</a:t>
            </a:r>
            <a:endParaRPr kumimoji="0" lang="en-US" altLang="en-US" b="1" i="0" u="none" strike="noStrike" kern="0" cap="none" spc="0" normalizeH="0" baseline="0" noProof="0" dirty="0" smtClean="0">
              <a:ln>
                <a:noFill/>
              </a:ln>
              <a:solidFill>
                <a:schemeClr val="tx1"/>
              </a:solidFill>
              <a:effectLst/>
              <a:uLnTx/>
              <a:uFillTx/>
              <a:latin typeface="+mn-lt"/>
              <a:ea typeface="+mn-ea"/>
              <a:cs typeface="+mn-cs"/>
              <a:hlinkClick r:id="rId1" action="ppaction://hlinkfile"/>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Заголовок 1"/>
          <p:cNvSpPr>
            <a:spLocks noGrp="1"/>
          </p:cNvSpPr>
          <p:nvPr>
            <p:ph type="title"/>
          </p:nvPr>
        </p:nvSpPr>
        <p:spPr/>
        <p:txBody>
          <a:bodyPr vert="horz" wrap="square" lIns="91440" tIns="45720" rIns="91440" bIns="45720" anchor="ctr" anchorCtr="0"/>
          <a:p>
            <a:r>
              <a:rPr lang="ru-RU" altLang="uk-UA" dirty="0"/>
              <a:t>Зб</a:t>
            </a:r>
            <a:r>
              <a:rPr lang="uk-UA" altLang="ru-RU" dirty="0"/>
              <a:t>і</a:t>
            </a:r>
            <a:r>
              <a:rPr lang="ru-RU" altLang="uk-UA" dirty="0"/>
              <a:t>рка см</a:t>
            </a:r>
            <a:r>
              <a:rPr lang="uk-UA" altLang="uk-UA" dirty="0"/>
              <a:t>іття</a:t>
            </a:r>
            <a:endParaRPr lang="uk-UA" altLang="uk-UA" dirty="0"/>
          </a:p>
        </p:txBody>
      </p:sp>
      <p:sp>
        <p:nvSpPr>
          <p:cNvPr id="4099" name="Объект 2"/>
          <p:cNvSpPr>
            <a:spLocks noGrp="1"/>
          </p:cNvSpPr>
          <p:nvPr>
            <p:ph idx="1"/>
          </p:nvPr>
        </p:nvSpPr>
        <p:spPr>
          <a:xfrm>
            <a:off x="561975" y="1386205"/>
            <a:ext cx="8047355" cy="4419600"/>
          </a:xfrm>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r>
              <a:rPr kumimoji="0" lang="uk-UA" altLang="en-US" sz="2500" b="0" i="0" u="none" strike="noStrike" kern="0" cap="none" spc="0" normalizeH="0" baseline="0" noProof="0" dirty="0" smtClean="0">
                <a:ln>
                  <a:noFill/>
                </a:ln>
                <a:solidFill>
                  <a:schemeClr val="tx1"/>
                </a:solidFill>
                <a:effectLst/>
                <a:uLnTx/>
                <a:uFillTx/>
                <a:latin typeface="+mn-lt"/>
                <a:ea typeface="+mn-ea"/>
                <a:cs typeface="+mn-cs"/>
              </a:rPr>
              <a:t>В учбовому плані цієї теми немає, але все ж дуже раджу ознайомитися з гарними статтями на цю тему:</a:t>
            </a:r>
            <a:endParaRPr kumimoji="0" lang="uk-UA" altLang="en-US" sz="2500" b="0" i="0" u="none" strike="noStrike" kern="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2500" b="0" i="0" u="none" strike="noStrike" kern="0" cap="none" spc="0" normalizeH="0" baseline="0" noProof="0" dirty="0" smtClean="0">
                <a:ln>
                  <a:noFill/>
                </a:ln>
                <a:solidFill>
                  <a:schemeClr val="tx1"/>
                </a:solidFill>
                <a:effectLst/>
                <a:uLnTx/>
                <a:uFillTx/>
                <a:latin typeface="+mn-lt"/>
                <a:ea typeface="+mn-ea"/>
                <a:cs typeface="+mn-cs"/>
                <a:hlinkClick r:id="rId1" action="ppaction://hlinkfile"/>
              </a:rPr>
              <a:t>https://itproger.com/ua/news/kak-rabotaet-garbage-collection-sravnenie-v-java-net-i-python</a:t>
            </a:r>
            <a:endParaRPr kumimoji="0" lang="en-US" altLang="en-US" sz="2500" b="0" i="0" u="none" strike="noStrike" kern="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2500" b="0" i="0" u="none" strike="noStrike" kern="0" cap="none" spc="0" normalizeH="0" baseline="0" noProof="0" dirty="0" smtClean="0">
                <a:ln>
                  <a:noFill/>
                </a:ln>
                <a:solidFill>
                  <a:schemeClr val="tx1"/>
                </a:solidFill>
                <a:effectLst/>
                <a:uLnTx/>
                <a:uFillTx/>
                <a:latin typeface="+mn-lt"/>
                <a:ea typeface="+mn-ea"/>
                <a:cs typeface="+mn-cs"/>
                <a:hlinkClick r:id="rId2" action="ppaction://hlinkfile"/>
              </a:rPr>
              <a:t>https://docs.python.org/uk/3.13/library/gc.html</a:t>
            </a:r>
            <a:endParaRPr kumimoji="0" lang="en-US" altLang="en-US" sz="2500" b="0" i="0" u="none" strike="noStrike" kern="0" cap="none" spc="0" normalizeH="0" baseline="0" noProof="0" dirty="0" smtClean="0">
              <a:ln>
                <a:noFill/>
              </a:ln>
              <a:solidFill>
                <a:schemeClr val="tx1"/>
              </a:solidFill>
              <a:effectLst/>
              <a:uLnTx/>
              <a:uFillTx/>
              <a:latin typeface="+mn-lt"/>
              <a:ea typeface="+mn-ea"/>
              <a:cs typeface="+mn-cs"/>
            </a:endParaRPr>
          </a:p>
          <a:p>
            <a:pPr marL="457200" marR="0" lvl="0" indent="-45720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2500" b="0" i="0" u="none" strike="noStrike" kern="0" cap="none" spc="0" normalizeH="0" baseline="0" noProof="0" dirty="0" smtClean="0">
                <a:ln>
                  <a:noFill/>
                </a:ln>
                <a:solidFill>
                  <a:schemeClr val="tx1"/>
                </a:solidFill>
                <a:effectLst/>
                <a:uLnTx/>
                <a:uFillTx/>
                <a:latin typeface="+mn-lt"/>
                <a:ea typeface="+mn-ea"/>
                <a:cs typeface="+mn-cs"/>
                <a:hlinkClick r:id="rId3" action="ppaction://hlinkfile"/>
              </a:rPr>
              <a:t>https://surl.li/aahijr</a:t>
            </a:r>
            <a:endParaRPr kumimoji="0" lang="en-US" altLang="en-US" sz="2500" b="0" i="0" u="none" strike="noStrike" kern="0" cap="none" spc="0" normalizeH="0" baseline="0" noProof="0" dirty="0" smtClean="0">
              <a:ln>
                <a:noFill/>
              </a:ln>
              <a:solidFill>
                <a:schemeClr val="tx1"/>
              </a:solidFill>
              <a:effectLst/>
              <a:uLnTx/>
              <a:uFillTx/>
              <a:latin typeface="+mn-lt"/>
              <a:ea typeface="+mn-ea"/>
              <a:cs typeface="+mn-cs"/>
            </a:endParaRPr>
          </a:p>
          <a:p>
            <a:pPr marR="0" lvl="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2500" b="0" i="0" u="none" strike="noStrike" kern="0" cap="none" spc="0" normalizeH="0" baseline="0" noProof="0" dirty="0" smtClean="0">
                <a:ln>
                  <a:noFill/>
                </a:ln>
                <a:solidFill>
                  <a:schemeClr val="tx1"/>
                </a:solidFill>
                <a:effectLst/>
                <a:uLnTx/>
                <a:uFillTx/>
                <a:latin typeface="+mn-lt"/>
                <a:ea typeface="+mn-ea"/>
                <a:cs typeface="+mn-cs"/>
                <a:hlinkClick r:id="rId4" action="ppaction://hlinkfile"/>
              </a:rPr>
              <a:t>https://habr.com/ru/companies/otus/articles/769448/</a:t>
            </a:r>
            <a:endParaRPr kumimoji="0" lang="en-US" altLang="en-US" sz="2500" b="0" i="0" u="none" strike="noStrike" kern="0" cap="none" spc="0" normalizeH="0" baseline="0" noProof="0" dirty="0" smtClean="0">
              <a:ln>
                <a:noFill/>
              </a:ln>
              <a:solidFill>
                <a:schemeClr val="tx1"/>
              </a:solidFill>
              <a:effectLst/>
              <a:uLnTx/>
              <a:uFillTx/>
              <a:latin typeface="+mn-lt"/>
              <a:ea typeface="+mn-ea"/>
              <a:cs typeface="+mn-cs"/>
              <a:hlinkClick r:id="rId4" action="ppaction://hlinkfile"/>
            </a:endParaRPr>
          </a:p>
          <a:p>
            <a:pPr marR="0" lvl="0" algn="l" defTabSz="914400" rtl="0" eaLnBrk="0" fontAlgn="base" latinLnBrk="0" hangingPunct="0">
              <a:lnSpc>
                <a:spcPct val="100000"/>
              </a:lnSpc>
              <a:spcBef>
                <a:spcPct val="20000"/>
              </a:spcBef>
              <a:spcAft>
                <a:spcPct val="0"/>
              </a:spcAft>
              <a:buClr>
                <a:schemeClr val="hlink"/>
              </a:buClr>
              <a:buSzPct val="80000"/>
              <a:buFont typeface="Arial" panose="020B0604020202020204" pitchFamily="34" charset="0"/>
              <a:buChar char="•"/>
              <a:defRPr/>
            </a:pPr>
            <a:r>
              <a:rPr kumimoji="0" lang="en-US" altLang="en-US" sz="2500" b="0" i="0" u="none" strike="noStrike" kern="0" cap="none" spc="0" normalizeH="0" baseline="0" noProof="0" dirty="0" smtClean="0">
                <a:ln>
                  <a:noFill/>
                </a:ln>
                <a:solidFill>
                  <a:schemeClr val="tx1"/>
                </a:solidFill>
                <a:effectLst/>
                <a:uLnTx/>
                <a:uFillTx/>
                <a:latin typeface="+mn-lt"/>
                <a:ea typeface="+mn-ea"/>
                <a:cs typeface="+mn-cs"/>
                <a:hlinkClick r:id="rId5" action="ppaction://hlinkfile"/>
              </a:rPr>
              <a:t>https://devzone.org.ua/post/rechi-iaki-vam-neobkhidno-znaty-pro-prybyralnyk-smittia-v-python</a:t>
            </a:r>
            <a:endParaRPr kumimoji="0" lang="en-US" altLang="en-US" sz="2500" b="0" i="0" u="none" strike="noStrike" kern="0" cap="none" spc="0" normalizeH="0" baseline="0" noProof="0" dirty="0" smtClean="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
                <a:schemeClr val="hlink"/>
              </a:buClr>
              <a:buSzPct val="80000"/>
              <a:buFont typeface="Wingdings" panose="05000000000000000000" pitchFamily="2" charset="2"/>
              <a:buNone/>
              <a:defRPr/>
            </a:pPr>
            <a:endParaRPr kumimoji="0" lang="en-US" altLang="en-US" sz="2500" b="0" i="0" u="none" strike="noStrike" kern="0" cap="none" spc="0" normalizeH="0" baseline="0" noProof="0" dirty="0" smtClean="0">
              <a:ln>
                <a:noFill/>
              </a:ln>
              <a:solidFill>
                <a:schemeClr val="tx1"/>
              </a:solidFill>
              <a:effectLst/>
              <a:uLnTx/>
              <a:uFillTx/>
              <a:latin typeface="+mn-lt"/>
              <a:ea typeface="+mn-ea"/>
              <a:cs typeface="+mn-c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Заголовок 1"/>
          <p:cNvSpPr>
            <a:spLocks noGrp="1"/>
          </p:cNvSpPr>
          <p:nvPr>
            <p:ph type="title"/>
          </p:nvPr>
        </p:nvSpPr>
        <p:spPr/>
        <p:txBody>
          <a:bodyPr vert="horz" wrap="square" lIns="91440" tIns="45720" rIns="91440" bIns="45720" anchor="ctr" anchorCtr="0"/>
          <a:p>
            <a:r>
              <a:rPr lang="uk-UA" dirty="0"/>
              <a:t>Основні відмінності</a:t>
            </a:r>
            <a:endParaRPr lang="uk-UA" dirty="0"/>
          </a:p>
        </p:txBody>
      </p:sp>
      <p:pic>
        <p:nvPicPr>
          <p:cNvPr id="2" name="Picture 1"/>
          <p:cNvPicPr>
            <a:picLocks noChangeAspect="1"/>
          </p:cNvPicPr>
          <p:nvPr/>
        </p:nvPicPr>
        <p:blipFill>
          <a:blip r:embed="rId1"/>
          <a:stretch>
            <a:fillRect/>
          </a:stretch>
        </p:blipFill>
        <p:spPr>
          <a:xfrm>
            <a:off x="0" y="1420495"/>
            <a:ext cx="9144000" cy="5083175"/>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Заголовок 1"/>
          <p:cNvSpPr>
            <a:spLocks noGrp="1"/>
          </p:cNvSpPr>
          <p:nvPr>
            <p:ph type="title"/>
          </p:nvPr>
        </p:nvSpPr>
        <p:spPr/>
        <p:txBody>
          <a:bodyPr vert="horz" wrap="square" lIns="91440" tIns="45720" rIns="91440" bIns="45720" anchor="ctr" anchorCtr="0"/>
          <a:p>
            <a:r>
              <a:rPr lang="uk-UA" altLang="en-US" dirty="0">
                <a:sym typeface="+mn-ea"/>
              </a:rPr>
              <a:t>Класи-оболонки</a:t>
            </a:r>
            <a:endParaRPr lang="uk-UA" altLang="ru-RU" dirty="0"/>
          </a:p>
        </p:txBody>
      </p:sp>
      <p:sp>
        <p:nvSpPr>
          <p:cNvPr id="5122" name="Объект 2"/>
          <p:cNvSpPr>
            <a:spLocks noGrp="1"/>
          </p:cNvSpPr>
          <p:nvPr>
            <p:ph idx="1"/>
          </p:nvPr>
        </p:nvSpPr>
        <p:spPr>
          <a:xfrm>
            <a:off x="565150" y="1439863"/>
            <a:ext cx="7924800" cy="4419600"/>
          </a:xfrm>
        </p:spPr>
        <p:txBody>
          <a:bodyPr vert="horz" wrap="square" lIns="91440" tIns="45720" rIns="91440" bIns="45720" anchor="t" anchorCtr="0"/>
          <a:p>
            <a:pPr marL="0" indent="0">
              <a:buNone/>
            </a:pPr>
            <a:r>
              <a:rPr lang="en-US" altLang="en-US" sz="2200" dirty="0"/>
              <a:t>У Python, на відміну від мов на кшталт Java чи C#, </a:t>
            </a:r>
            <a:r>
              <a:rPr lang="en-US" altLang="en-US" sz="2200" u="sng" dirty="0"/>
              <a:t>немає потреби в окремих класах-оболонках для базових типів</a:t>
            </a:r>
            <a:r>
              <a:rPr lang="en-US" altLang="en-US" sz="2200" dirty="0"/>
              <a:t> даних, оскільки всі значення, включаючи числа, булеві значення та рядки, вже є повноцінними об'єктами з самого початку. Типи на зразок int, float, bool і str є класами, успадкованими від object, і вони незмінні (immutable), </a:t>
            </a:r>
            <a:r>
              <a:rPr lang="uk-UA" altLang="en-US" sz="2200" dirty="0"/>
              <a:t>     </a:t>
            </a:r>
            <a:r>
              <a:rPr lang="en-US" altLang="en-US" sz="2200" dirty="0"/>
              <a:t>що означає неможливість модифікації значення після створення — замість цього створюється новий об'єкт. </a:t>
            </a:r>
            <a:r>
              <a:rPr lang="uk-UA" altLang="en-US" sz="2200" dirty="0"/>
              <a:t>     </a:t>
            </a:r>
            <a:r>
              <a:rPr lang="en-US" altLang="en-US" sz="2200" dirty="0"/>
              <a:t>Це спрощує роботу з даними, оскільки не виникає необхідності в явній чи автоматичній конвертації </a:t>
            </a:r>
            <a:r>
              <a:rPr lang="uk-UA" altLang="en-US" sz="2200" dirty="0"/>
              <a:t>            </a:t>
            </a:r>
            <a:r>
              <a:rPr lang="en-US" altLang="en-US" sz="2200" dirty="0"/>
              <a:t>між примітивними типами та їх об'єктними еквівалентами, як це відбувається в інших мовах через механізми </a:t>
            </a:r>
            <a:r>
              <a:rPr lang="uk-UA" altLang="en-US" sz="2200" dirty="0"/>
              <a:t>    </a:t>
            </a:r>
            <a:r>
              <a:rPr lang="en-US" altLang="en-US" sz="2200" dirty="0"/>
              <a:t>boxing та unboxing.</a:t>
            </a:r>
            <a:endParaRPr lang="en-US" altLang="en-US" sz="2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1" name="Заголовок 1"/>
          <p:cNvSpPr>
            <a:spLocks noGrp="1"/>
          </p:cNvSpPr>
          <p:nvPr>
            <p:ph type="title"/>
          </p:nvPr>
        </p:nvSpPr>
        <p:spPr/>
        <p:txBody>
          <a:bodyPr vert="horz" wrap="square" lIns="91440" tIns="45720" rIns="91440" bIns="45720" anchor="ctr" anchorCtr="0"/>
          <a:p>
            <a:r>
              <a:rPr lang="uk-UA" altLang="en-US" dirty="0">
                <a:sym typeface="+mn-ea"/>
              </a:rPr>
              <a:t>Упакування-розпакування</a:t>
            </a:r>
            <a:endParaRPr lang="uk-UA" altLang="ru-RU" dirty="0"/>
          </a:p>
        </p:txBody>
      </p:sp>
      <p:sp>
        <p:nvSpPr>
          <p:cNvPr id="5122" name="Объект 2"/>
          <p:cNvSpPr>
            <a:spLocks noGrp="1"/>
          </p:cNvSpPr>
          <p:nvPr>
            <p:ph idx="1"/>
          </p:nvPr>
        </p:nvSpPr>
        <p:spPr>
          <a:xfrm>
            <a:off x="565150" y="1395413"/>
            <a:ext cx="7924800" cy="4419600"/>
          </a:xfrm>
        </p:spPr>
        <p:txBody>
          <a:bodyPr vert="horz" wrap="square" lIns="91440" tIns="45720" rIns="91440" bIns="45720" anchor="t" anchorCtr="0"/>
          <a:p>
            <a:pPr marL="0" indent="0">
              <a:buNone/>
            </a:pPr>
            <a:r>
              <a:rPr lang="en-US" altLang="en-US" sz="2200" dirty="0"/>
              <a:t>Щодо упаковки (boxing) та розпаковки (unboxing), у Python таких концепцій просто не існує, бо відсутній поділ </a:t>
            </a:r>
            <a:r>
              <a:rPr lang="uk-UA" altLang="en-US" sz="2200" dirty="0"/>
              <a:t>          </a:t>
            </a:r>
            <a:r>
              <a:rPr lang="en-US" altLang="en-US" sz="2200" dirty="0"/>
              <a:t>на примітиви та об'єкти — все обробляється як об'єкти, </a:t>
            </a:r>
            <a:r>
              <a:rPr lang="uk-UA" altLang="en-US" sz="2200" dirty="0"/>
              <a:t> </a:t>
            </a:r>
            <a:r>
              <a:rPr lang="en-US" altLang="en-US" sz="2200" dirty="0"/>
              <a:t>що дозволяє безпосередньо використовувати базові типи </a:t>
            </a:r>
            <a:r>
              <a:rPr lang="uk-UA" altLang="en-US" sz="2200" dirty="0"/>
              <a:t> </a:t>
            </a:r>
            <a:r>
              <a:rPr lang="en-US" altLang="en-US" sz="2200" dirty="0"/>
              <a:t>в колекціях, методах чи структурах даних без додаткових перетворень. Однак Python застосовує внутрішні оптимізації, наприклад, кешування маленьких цілих чисел (зазвичай від -5 до 256), де однакові значення посилаються на той самий об'єкт у пам'яті для економії ресурсів, тоді як більші числа створюють нові об'єкти. </a:t>
            </a:r>
            <a:r>
              <a:rPr lang="uk-UA" altLang="en-US" sz="2200" dirty="0"/>
              <a:t>    </a:t>
            </a:r>
            <a:r>
              <a:rPr lang="en-US" altLang="en-US" sz="2200" dirty="0"/>
              <a:t>Це робить мову більш динамічною та зручною, але може впливати на продуктивність у випадках з великими обсягами даних, де незмінність змушує створювати копії </a:t>
            </a:r>
            <a:r>
              <a:rPr lang="uk-UA" altLang="en-US" sz="2200" dirty="0"/>
              <a:t>	</a:t>
            </a:r>
            <a:r>
              <a:rPr lang="en-US" altLang="en-US" sz="2200" dirty="0"/>
              <a:t>під час операцій.</a:t>
            </a:r>
            <a:endParaRPr lang="en-US" altLang="en-US" sz="22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Заголовок 1"/>
          <p:cNvSpPr>
            <a:spLocks noGrp="1"/>
          </p:cNvSpPr>
          <p:nvPr>
            <p:ph type="title"/>
          </p:nvPr>
        </p:nvSpPr>
        <p:spPr/>
        <p:txBody>
          <a:bodyPr vert="horz" wrap="square" lIns="91440" tIns="45720" rIns="91440" bIns="45720" anchor="ctr" anchorCtr="0"/>
          <a:p>
            <a:r>
              <a:rPr lang="en-US" altLang="en-US" dirty="0"/>
              <a:t>Узагальнення</a:t>
            </a:r>
            <a:r>
              <a:rPr lang="uk-UA" altLang="en-US" dirty="0"/>
              <a:t> </a:t>
            </a:r>
            <a:r>
              <a:rPr lang="en-US" altLang="ru-RU" dirty="0"/>
              <a:t>(generics)</a:t>
            </a:r>
            <a:endParaRPr lang="ru-RU" altLang="ru-RU" dirty="0"/>
          </a:p>
        </p:txBody>
      </p:sp>
      <p:sp>
        <p:nvSpPr>
          <p:cNvPr id="10242" name="Объект 2"/>
          <p:cNvSpPr>
            <a:spLocks noGrp="1"/>
          </p:cNvSpPr>
          <p:nvPr>
            <p:ph idx="1"/>
          </p:nvPr>
        </p:nvSpPr>
        <p:spPr>
          <a:xfrm>
            <a:off x="494030" y="1386205"/>
            <a:ext cx="8096250" cy="4419600"/>
          </a:xfrm>
        </p:spPr>
        <p:txBody>
          <a:bodyPr vert="horz" wrap="square" lIns="91440" tIns="45720" rIns="91440" bIns="45720" anchor="t" anchorCtr="0"/>
          <a:p>
            <a:pPr marL="0" indent="0">
              <a:buNone/>
            </a:pPr>
            <a:r>
              <a:rPr lang="en-US" altLang="en-US" sz="1900" dirty="0"/>
              <a:t>У Python узагальнення (generics) дозволяють створювати універсальний код для роботи з різними типами даних без дублювання логіки — наприклад, алгоритми сортування чи пошуку, або власні класи-контейнери, які можуть зберігати як int, так і об’єкти класу Student. Однак на відміну від C# (.NET), де generics з версії 2.0 є частиною мови з повноцінною перевіркою типів під час компіляції, створенням спеціалізованих реалізацій (reification — параметри типів зберігаються в runtime) і можливістю накладання обмежень (constraints) на T (наприклад, where T : struct, IComparable&lt;T&gt;), </a:t>
            </a:r>
            <a:r>
              <a:rPr lang="uk-UA" altLang="en-US" sz="1900" dirty="0"/>
              <a:t>          </a:t>
            </a:r>
            <a:r>
              <a:rPr lang="en-US" altLang="en-US" sz="1900" dirty="0"/>
              <a:t>у Python узагальнення реалізовано виключно через type hints (починаючи з Python 3.5, </a:t>
            </a:r>
            <a:r>
              <a:rPr lang="en-US" altLang="en-US" sz="1900" dirty="0">
                <a:hlinkClick r:id="rId1" action="ppaction://hlinkfile"/>
              </a:rPr>
              <a:t>PEP 484</a:t>
            </a:r>
            <a:r>
              <a:rPr lang="en-US" altLang="en-US" sz="1900" dirty="0"/>
              <a:t>), з подальшими покращеннями </a:t>
            </a:r>
            <a:r>
              <a:rPr lang="uk-UA" altLang="en-US" sz="1900" dirty="0"/>
              <a:t>      </a:t>
            </a:r>
            <a:r>
              <a:rPr lang="en-US" altLang="en-US" sz="1900" dirty="0">
                <a:hlinkClick r:id="rId2" action="ppaction://hlinkfile"/>
              </a:rPr>
              <a:t>в PEP 585</a:t>
            </a:r>
            <a:r>
              <a:rPr lang="en-US" altLang="en-US" sz="1900" dirty="0"/>
              <a:t> (Python 3.9+ для вбудованих колекцій типу list[int]), </a:t>
            </a:r>
            <a:r>
              <a:rPr lang="en-US" altLang="en-US" sz="1900" dirty="0">
                <a:hlinkClick r:id="rId3" action="ppaction://hlinkfile"/>
              </a:rPr>
              <a:t>PEP 695</a:t>
            </a:r>
            <a:r>
              <a:rPr lang="en-US" altLang="en-US" sz="1900" dirty="0"/>
              <a:t> (Python 3.12+ для зручнішого синтаксису type T у class/def). Вони </a:t>
            </a:r>
            <a:r>
              <a:rPr lang="uk-UA" altLang="en-US" sz="1900" dirty="0"/>
              <a:t>     </a:t>
            </a:r>
            <a:r>
              <a:rPr lang="en-US" altLang="en-US" sz="1900" dirty="0"/>
              <a:t>не впливають на виконання коду — Python залишається динамічно типізованим, тому перевірка відбувається лише статично </a:t>
            </a:r>
            <a:r>
              <a:rPr lang="uk-UA" altLang="en-US" sz="1900" dirty="0"/>
              <a:t>                      	</a:t>
            </a:r>
            <a:r>
              <a:rPr lang="en-US" altLang="en-US" sz="1900" dirty="0"/>
              <a:t>за допомогою інструментів на кшталт mypy, pyright чи IDE.</a:t>
            </a:r>
            <a:endParaRPr lang="en-US" altLang="en-US" sz="1900" dirty="0"/>
          </a:p>
        </p:txBody>
      </p:sp>
      <p:sp>
        <p:nvSpPr>
          <p:cNvPr id="2" name="Text Box 1"/>
          <p:cNvSpPr txBox="1"/>
          <p:nvPr/>
        </p:nvSpPr>
        <p:spPr>
          <a:xfrm>
            <a:off x="33655" y="6351270"/>
            <a:ext cx="9071610" cy="368300"/>
          </a:xfrm>
          <a:prstGeom prst="rect">
            <a:avLst/>
          </a:prstGeom>
          <a:noFill/>
        </p:spPr>
        <p:txBody>
          <a:bodyPr wrap="square" rtlCol="0" anchor="t">
            <a:spAutoFit/>
          </a:bodyPr>
          <a:p>
            <a:pPr algn="ctr"/>
            <a:r>
              <a:rPr lang="en-US" altLang="en-US" b="1">
                <a:hlinkClick r:id="rId4" action="ppaction://hlinkfile"/>
              </a:rPr>
              <a:t>https://gist.github.com/sunmeat/267c714c928cfb84c511fbb87ce89489</a:t>
            </a:r>
            <a:endParaRPr lang="en-US" b="1"/>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Заголовок 1"/>
          <p:cNvSpPr>
            <a:spLocks noGrp="1"/>
          </p:cNvSpPr>
          <p:nvPr>
            <p:ph type="title"/>
          </p:nvPr>
        </p:nvSpPr>
        <p:spPr/>
        <p:txBody>
          <a:bodyPr vert="horz" wrap="square" lIns="91440" tIns="45720" rIns="91440" bIns="45720" anchor="ctr" anchorCtr="0"/>
          <a:p>
            <a:r>
              <a:rPr lang="uk-UA" altLang="en-US" dirty="0"/>
              <a:t>Шпаргалка по пайтону</a:t>
            </a:r>
            <a:endParaRPr lang="uk-UA" altLang="en-US" dirty="0"/>
          </a:p>
        </p:txBody>
      </p:sp>
      <p:sp>
        <p:nvSpPr>
          <p:cNvPr id="10242" name="Объект 2"/>
          <p:cNvSpPr>
            <a:spLocks noGrp="1"/>
          </p:cNvSpPr>
          <p:nvPr>
            <p:ph idx="1"/>
          </p:nvPr>
        </p:nvSpPr>
        <p:spPr>
          <a:xfrm>
            <a:off x="494030" y="1386205"/>
            <a:ext cx="8096250" cy="4419600"/>
          </a:xfrm>
        </p:spPr>
        <p:txBody>
          <a:bodyPr vert="horz" wrap="square" lIns="91440" tIns="45720" rIns="91440" bIns="45720" anchor="t" anchorCtr="0"/>
          <a:p>
            <a:pPr marL="0" indent="0" algn="ctr">
              <a:buNone/>
            </a:pPr>
            <a:endParaRPr lang="en-US" altLang="en-US" b="1" dirty="0">
              <a:hlinkClick r:id="rId1" action="ppaction://hlinkfile"/>
            </a:endParaRPr>
          </a:p>
          <a:p>
            <a:pPr marL="0" indent="0" algn="ctr">
              <a:buNone/>
            </a:pPr>
            <a:endParaRPr lang="en-US" altLang="en-US" b="1" dirty="0">
              <a:hlinkClick r:id="rId1" action="ppaction://hlinkfile"/>
            </a:endParaRPr>
          </a:p>
          <a:p>
            <a:pPr marL="0" indent="0" algn="ctr">
              <a:buNone/>
            </a:pPr>
            <a:r>
              <a:rPr lang="en-US" altLang="en-US" b="1" dirty="0">
                <a:hlinkClick r:id="rId1" action="ppaction://hlinkfile"/>
              </a:rPr>
              <a:t>https://gist.github.com/sunmeat/ab181793d9e22277e5c5e70915a456ea</a:t>
            </a:r>
            <a:endParaRPr lang="en-US" altLang="en-US" b="1" dirty="0">
              <a:hlinkClick r:id="rId1" action="ppaction://hlinkfile"/>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Заголовок 1"/>
          <p:cNvSpPr>
            <a:spLocks noGrp="1"/>
          </p:cNvSpPr>
          <p:nvPr>
            <p:ph type="title"/>
          </p:nvPr>
        </p:nvSpPr>
        <p:spPr/>
        <p:txBody>
          <a:bodyPr vert="horz" wrap="square" lIns="91440" tIns="45720" rIns="91440" bIns="45720" anchor="ctr" anchorCtr="0"/>
          <a:p>
            <a:r>
              <a:rPr lang="uk-UA" dirty="0"/>
              <a:t>Практика</a:t>
            </a:r>
            <a:r>
              <a:rPr lang="en-US" altLang="uk-UA" dirty="0"/>
              <a:t> / </a:t>
            </a:r>
            <a:r>
              <a:rPr lang="uk-UA" altLang="uk-UA" dirty="0"/>
              <a:t>ДЗ на протоколи</a:t>
            </a:r>
            <a:endParaRPr lang="uk-UA" altLang="uk-UA" dirty="0"/>
          </a:p>
        </p:txBody>
      </p:sp>
      <p:sp>
        <p:nvSpPr>
          <p:cNvPr id="25602" name="Объект 2"/>
          <p:cNvSpPr>
            <a:spLocks noGrp="1"/>
          </p:cNvSpPr>
          <p:nvPr>
            <p:ph idx="1"/>
          </p:nvPr>
        </p:nvSpPr>
        <p:spPr>
          <a:xfrm>
            <a:off x="468313" y="1385888"/>
            <a:ext cx="8207375" cy="4419600"/>
          </a:xfrm>
        </p:spPr>
        <p:txBody>
          <a:bodyPr vert="horz" wrap="square" lIns="91440" tIns="45720" rIns="91440" bIns="45720" anchor="t" anchorCtr="0"/>
          <a:p>
            <a:pPr marL="0" indent="0" algn="ctr">
              <a:buNone/>
            </a:pPr>
            <a:endParaRPr lang="en-US" altLang="en-US" b="1" dirty="0">
              <a:solidFill>
                <a:schemeClr val="tx1"/>
              </a:solidFill>
              <a:hlinkClick r:id="rId1" action="ppaction://hlinkfile"/>
            </a:endParaRPr>
          </a:p>
          <a:p>
            <a:pPr marL="0" indent="0" algn="ctr">
              <a:buNone/>
            </a:pPr>
            <a:endParaRPr lang="en-US" altLang="en-US" b="1" dirty="0">
              <a:solidFill>
                <a:schemeClr val="tx1"/>
              </a:solidFill>
              <a:hlinkClick r:id="rId1" action="ppaction://hlinkfile"/>
            </a:endParaRPr>
          </a:p>
          <a:p>
            <a:pPr marL="0" indent="0" algn="ctr">
              <a:buNone/>
            </a:pPr>
            <a:r>
              <a:rPr lang="en-US" altLang="en-US" b="1" dirty="0">
                <a:solidFill>
                  <a:schemeClr val="tx1"/>
                </a:solidFill>
                <a:hlinkClick r:id="rId1" action="ppaction://hlinkfile"/>
              </a:rPr>
              <a:t>https://gist.github.com/sunmeat/3e0d8358c2883a926bf94c6619b61e58</a:t>
            </a:r>
            <a:endParaRPr lang="en-US" altLang="en-US" b="1" dirty="0">
              <a:solidFill>
                <a:schemeClr val="tx1"/>
              </a:solidFill>
              <a:hlinkClick r:id="rId1" action="ppaction://hlinkfile"/>
            </a:endParaRPr>
          </a:p>
        </p:txBody>
      </p:sp>
    </p:spTree>
  </p:cSld>
  <p:clrMapOvr>
    <a:masterClrMapping/>
  </p:clrMapOvr>
</p:sld>
</file>

<file path=ppt/theme/theme1.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raClrSchemeLst>
    <a:extraClrScheme>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
        <a:dk1>
          <a:srgbClr val="FFFFFF"/>
        </a:dk1>
        <a:lt1>
          <a:srgbClr val="0000FF"/>
        </a:lt1>
        <a:dk2>
          <a:srgbClr val="FFFF00"/>
        </a:dk2>
        <a:lt2>
          <a:srgbClr val="000000"/>
        </a:lt2>
        <a:accent1>
          <a:srgbClr val="FF9900"/>
        </a:accent1>
        <a:accent2>
          <a:srgbClr val="00FFFF"/>
        </a:accent2>
        <a:accent3>
          <a:srgbClr val="AAAAFF"/>
        </a:accent3>
        <a:accent4>
          <a:srgbClr val="DCDCDC"/>
        </a:accent4>
        <a:accent5>
          <a:srgbClr val="FFCAAA"/>
        </a:accent5>
        <a:accent6>
          <a:srgbClr val="00E5E5"/>
        </a:accent6>
        <a:hlink>
          <a:srgbClr val="FF0000"/>
        </a:hlink>
        <a:folHlink>
          <a:srgbClr val="969696"/>
        </a:folHlink>
      </a:clrScheme>
      <a:clrMap bg1="lt1" tx1="dk1" bg2="lt2" tx2="dk2" accent1="accent1" accent2="accent2" accent3="accent3" accent4="accent4" accent5="accent5" accent6="accent6" hlink="hlink" folHlink="folHlink"/>
    </a:extraClrScheme>
    <a:extraClrScheme>
      <a:clrScheme name="">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2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27272"/>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9"/>
        </a:accent5>
        <a:accent6>
          <a:srgbClr val="0000E5"/>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BE5"/>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9E5B7"/>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7"/>
      </a:accent6>
      <a:hlink>
        <a:srgbClr val="CCCCFF"/>
      </a:hlink>
      <a:folHlink>
        <a:srgbClr val="B2B2B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CB973167729B9844A7328B341F515C98" ma:contentTypeVersion="12" ma:contentTypeDescription="Создание документа." ma:contentTypeScope="" ma:versionID="d6ee7b10c34e512e5b0e393e1ebaa933">
  <xsd:schema xmlns:xsd="http://www.w3.org/2001/XMLSchema" xmlns:xs="http://www.w3.org/2001/XMLSchema" xmlns:p="http://schemas.microsoft.com/office/2006/metadata/properties" xmlns:ns2="d6ce6581-db8d-4dc6-8601-0a8e8076c593" xmlns:ns3="bbbe7e71-a692-48df-be9d-e5dc64190325" targetNamespace="http://schemas.microsoft.com/office/2006/metadata/properties" ma:root="true" ma:fieldsID="0b92462fc06dbb24bfa1325724e44fec" ns2:_="" ns3:_="">
    <xsd:import namespace="d6ce6581-db8d-4dc6-8601-0a8e8076c593"/>
    <xsd:import namespace="bbbe7e71-a692-48df-be9d-e5dc6419032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ce6581-db8d-4dc6-8601-0a8e8076c5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Теги изображений" ma:readOnly="false" ma:fieldId="{5cf76f15-5ced-4ddc-b409-7134ff3c332f}" ma:taxonomyMulti="true" ma:sspId="168b2bcd-3960-4df8-afb5-1b38f073375d"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bbe7e71-a692-48df-be9d-e5dc64190325"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2df2618-9916-4c02-9aa1-42dcc332f6bf}" ma:internalName="TaxCatchAll" ma:showField="CatchAllData" ma:web="bbbe7e71-a692-48df-be9d-e5dc6419032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bbbe7e71-a692-48df-be9d-e5dc64190325" xsi:nil="true"/>
    <lcf76f155ced4ddcb4097134ff3c332f xmlns="d6ce6581-db8d-4dc6-8601-0a8e8076c593">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BC568D7-2265-4F0A-8C3B-C0589FDFB62F}"/>
</file>

<file path=customXml/itemProps2.xml><?xml version="1.0" encoding="utf-8"?>
<ds:datastoreItem xmlns:ds="http://schemas.openxmlformats.org/officeDocument/2006/customXml" ds:itemID="{12493DB3-183B-4A8C-A345-FDDBA4AF3EAD}"/>
</file>

<file path=customXml/itemProps3.xml><?xml version="1.0" encoding="utf-8"?>
<ds:datastoreItem xmlns:ds="http://schemas.openxmlformats.org/officeDocument/2006/customXml" ds:itemID="{1576EA20-9821-49F8-BD88-A987369AC561}"/>
</file>

<file path=docProps/app.xml><?xml version="1.0" encoding="utf-8"?>
<Properties xmlns="http://schemas.openxmlformats.org/officeDocument/2006/extended-properties" xmlns:vt="http://schemas.openxmlformats.org/officeDocument/2006/docPropsVTypes">
  <TotalTime>0</TotalTime>
  <Words>49009</Words>
  <Application>WPS Presentation</Application>
  <PresentationFormat/>
  <Paragraphs>721</Paragraphs>
  <Slides>124</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124</vt:i4>
      </vt:variant>
    </vt:vector>
  </HeadingPairs>
  <TitlesOfParts>
    <vt:vector size="135" baseType="lpstr">
      <vt:lpstr>Arial</vt:lpstr>
      <vt:lpstr>SimSun</vt:lpstr>
      <vt:lpstr>Wingdings</vt:lpstr>
      <vt:lpstr>Times New Roman</vt:lpstr>
      <vt:lpstr>Microsoft YaHei</vt:lpstr>
      <vt:lpstr>Arial Black</vt:lpstr>
      <vt:lpstr>Arial Unicode MS</vt:lpstr>
      <vt:lpstr>Arial Unicode MS</vt:lpstr>
      <vt:lpstr>Verdana</vt:lpstr>
      <vt:lpstr/>
      <vt:lpstr/>
      <vt:lpstr>PowerPoint 演示文稿</vt:lpstr>
      <vt:lpstr>PowerPoint 演示文稿</vt:lpstr>
      <vt:lpstr>Проблема ПП</vt:lpstr>
      <vt:lpstr>ООП-підхід</vt:lpstr>
      <vt:lpstr>Опис навколишнього світу</vt:lpstr>
      <vt:lpstr>Визначення</vt:lpstr>
      <vt:lpstr>Визначення</vt:lpstr>
      <vt:lpstr>Парадигма ООП</vt:lpstr>
      <vt:lpstr>"Кити" ООП</vt:lpstr>
      <vt:lpstr>Як застосувати ООП-підхід?</vt:lpstr>
      <vt:lpstr>Застосовуємо ООП-підхід</vt:lpstr>
      <vt:lpstr>Поняття класу</vt:lpstr>
      <vt:lpstr>Об'єкт. Атрибути та методи</vt:lpstr>
      <vt:lpstr>Приклад об'єктної декомпозиції</vt:lpstr>
      <vt:lpstr>Об'єктна декомпозиція</vt:lpstr>
      <vt:lpstr>Об'єкти</vt:lpstr>
      <vt:lpstr>Декомпозиція</vt:lpstr>
      <vt:lpstr>Зв'язки</vt:lpstr>
      <vt:lpstr>Модульність</vt:lpstr>
      <vt:lpstr>Загальний вигляд класу</vt:lpstr>
      <vt:lpstr>Приклад класу</vt:lpstr>
      <vt:lpstr>Синтаксис створення об’єктів</vt:lpstr>
      <vt:lpstr>PowerPoint 演示文稿</vt:lpstr>
      <vt:lpstr>Нульовий кит: Абстрагування </vt:lpstr>
      <vt:lpstr>Абстракція даних</vt:lpstr>
      <vt:lpstr>Інкапсуляція</vt:lpstr>
      <vt:lpstr>Перший кит: Інкапсуляція</vt:lpstr>
      <vt:lpstr>Другий кит: Спадкування</vt:lpstr>
      <vt:lpstr>Третiй кит: Поліморфізм</vt:lpstr>
      <vt:lpstr>Інтерфейс та реалізація</vt:lpstr>
      <vt:lpstr>Концепція "чорна скринька"</vt:lpstr>
      <vt:lpstr>Сенс інкапсуляції</vt:lpstr>
      <vt:lpstr>Про інтерфейс і реалізацію</vt:lpstr>
      <vt:lpstr>У чому абстракція?</vt:lpstr>
      <vt:lpstr>Мета інкапсуляції</vt:lpstr>
      <vt:lpstr>Специфікатори доступу</vt:lpstr>
      <vt:lpstr>Специфікатори класів</vt:lpstr>
      <vt:lpstr>Список __all__</vt:lpstr>
      <vt:lpstr>Пакети</vt:lpstr>
      <vt:lpstr>Правила йменування пакетів</vt:lpstr>
      <vt:lpstr>Приклад структури проєкту</vt:lpstr>
      <vt:lpstr>У кожного об'єкта - свої поля</vt:lpstr>
      <vt:lpstr>На всі об'єкти - один метод</vt:lpstr>
      <vt:lpstr>Посилання self</vt:lpstr>
      <vt:lpstr>Як це працює</vt:lpstr>
      <vt:lpstr>Властивості посилання self</vt:lpstr>
      <vt:lpstr>Властивості посилання self</vt:lpstr>
      <vt:lpstr>Інкапсуляція</vt:lpstr>
      <vt:lpstr>Методи-аксесори</vt:lpstr>
      <vt:lpstr>Сеттер</vt:lpstr>
      <vt:lpstr>Геттер</vt:lpstr>
      <vt:lpstr>Приклад властивості</vt:lpstr>
      <vt:lpstr>Приклад на властивості</vt:lpstr>
      <vt:lpstr>Поняття конструктора</vt:lpstr>
      <vt:lpstr>Модифікатори конструкторів</vt:lpstr>
      <vt:lpstr>Магічні методи</vt:lpstr>
      <vt:lpstr>Деструктори</vt:lpstr>
      <vt:lpstr>Статичні поля (атрибути класу)</vt:lpstr>
      <vt:lpstr>Визначення атрибуту класу</vt:lpstr>
      <vt:lpstr>Інкапсуляція атрибуту класу</vt:lpstr>
      <vt:lpstr>Клас-дескриптор</vt:lpstr>
      <vt:lpstr>Ще про магічні методи</vt:lpstr>
      <vt:lpstr>Статичний блок / конструктор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Приклад асоціації</vt:lpstr>
      <vt:lpstr>PowerPoint 演示文稿</vt:lpstr>
      <vt:lpstr>PowerPoint 演示文稿</vt:lpstr>
      <vt:lpstr>PowerPoint 演示文稿</vt:lpstr>
      <vt:lpstr>PowerPoint 演示文稿</vt:lpstr>
      <vt:lpstr>Приклад на агрегування</vt:lpstr>
      <vt:lpstr>PowerPoint 演示文稿</vt:lpstr>
      <vt:lpstr>PowerPoint 演示文稿</vt:lpstr>
      <vt:lpstr>PowerPoint 演示文稿</vt:lpstr>
      <vt:lpstr>PowerPoint 演示文稿</vt:lpstr>
      <vt:lpstr>Приклад на композицію</vt:lpstr>
      <vt:lpstr>PowerPoint 演示文稿</vt:lpstr>
      <vt:lpstr>PowerPoint 演示文稿</vt:lpstr>
      <vt:lpstr>Другий кит: Спадкування</vt:lpstr>
      <vt:lpstr>PowerPoint 演示文稿</vt:lpstr>
      <vt:lpstr>З точки зору ООП</vt:lpstr>
      <vt:lpstr>Синтаксис спадкування </vt:lpstr>
      <vt:lpstr>PowerPoint 演示文稿</vt:lpstr>
      <vt:lpstr>Приклад коду на успадкування</vt:lpstr>
      <vt:lpstr>Практика</vt:lpstr>
      <vt:lpstr>Типи спадкування</vt:lpstr>
      <vt:lpstr>Множинне спадкування</vt:lpstr>
      <vt:lpstr>Проблема ромба та MRO</vt:lpstr>
      <vt:lpstr>Практика</vt:lpstr>
      <vt:lpstr>Термінальний (фінальний) клас</vt:lpstr>
      <vt:lpstr>Прототипна парадигма</vt:lpstr>
      <vt:lpstr>PowerPoint 演示文稿</vt:lpstr>
      <vt:lpstr>Приклад на поліморфізм</vt:lpstr>
      <vt:lpstr>Пізнє зв’язування</vt:lpstr>
      <vt:lpstr>Раннє зв’язування</vt:lpstr>
      <vt:lpstr>Динамічність мови</vt:lpstr>
      <vt:lpstr>Поліморфізм</vt:lpstr>
      <vt:lpstr>PowerPoint 演示文稿</vt:lpstr>
      <vt:lpstr>PowerPoint 演示文稿</vt:lpstr>
      <vt:lpstr>PowerPoint 演示文稿</vt:lpstr>
      <vt:lpstr>PowerPoint 演示文稿</vt:lpstr>
      <vt:lpstr>Качина типізація</vt:lpstr>
      <vt:lpstr>Практика на duck typing</vt:lpstr>
      <vt:lpstr>ABC</vt:lpstr>
      <vt:lpstr>Практика на ABC</vt:lpstr>
      <vt:lpstr>Протоколи</vt:lpstr>
      <vt:lpstr>Таблиця віртуальных методів</vt:lpstr>
      <vt:lpstr>Заборона перевизначення</vt:lpstr>
      <vt:lpstr>Приклад на абстрактні класи</vt:lpstr>
      <vt:lpstr>Інтерфейси</vt:lpstr>
      <vt:lpstr>Альтернатива інтерфейсам</vt:lpstr>
      <vt:lpstr>Поняття вкладеного класу</vt:lpstr>
      <vt:lpstr>Збірка сміття</vt:lpstr>
      <vt:lpstr>Основні відмінності</vt:lpstr>
      <vt:lpstr>Класи-оболонки</vt:lpstr>
      <vt:lpstr>Упакування-розпакування</vt:lpstr>
      <vt:lpstr>Узагальнення (generics)</vt:lpstr>
      <vt:lpstr>Шпаргалка по пайтону</vt:lpstr>
      <vt:lpstr>Практика / ДЗ на протоколи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Александр Загор�</cp:lastModifiedBy>
  <cp:revision>31</cp:revision>
  <dcterms:created xsi:type="dcterms:W3CDTF">2005-09-22T16:26:00Z</dcterms:created>
  <dcterms:modified xsi:type="dcterms:W3CDTF">2026-10-15T12:44:53Z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F22F1189AEEE438287263304A0CCCF2C_12</vt:lpwstr>
  </property>
  <property fmtid="{D5CDD505-2E9C-101B-9397-08002B2CF9AE}" pid="3" name="KSOProductBuildVer">
    <vt:lpwstr>1033-12.1.0.29162</vt:lpwstr>
  </property>
  <property fmtid="{D5CDD505-2E9C-101B-9397-08002B2CF9AE}" pid="4" name="ContentTypeId">
    <vt:lpwstr>0x010100CB973167729B9844A7328B341F515C98</vt:lpwstr>
  </property>
</Properties>
</file>